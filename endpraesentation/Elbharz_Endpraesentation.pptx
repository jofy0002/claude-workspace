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leitung" id="{68d7ce1f-c253-7e73-4d6f-545ebcce0cda}">
          <p14:sldIdLst>
            <p14:sldId id="256"/>
            <p14:sldId id="257"/>
            <p14:sldId id="258"/>
          </p14:sldIdLst>
        </p14:section>
        <p14:section name="Verlauf" id="{0c98e0e7-7ef2-7dc9-fe8b-e759d7ff7e96}">
          <p14:sldIdLst>
            <p14:sldId id="259"/>
            <p14:sldId id="260"/>
            <p14:sldId id="261"/>
          </p14:sldIdLst>
        </p14:section>
        <p14:section name="Auswertung" id="{033d5c48-3250-f338-49de-1da2e7c2a8da}">
          <p14:sldIdLst>
            <p14:sldId id="262"/>
            <p14:sldId id="263"/>
            <p14:sldId id="264"/>
          </p14:sldIdLst>
        </p14:section>
        <p14:section name="Reflexion" id="{3e99ae92-bc00-1b29-76ee-39302885212e}">
          <p14:sldIdLst>
            <p14:sldId id="265"/>
          </p14:sldIdLst>
        </p14:section>
        <p14:section name="Gründung" id="{5fd58470-59da-acbe-6d3b-e48f86911727}">
          <p14:sldIdLst>
            <p14:sldId id="266"/>
          </p14:sldIdLst>
        </p14:section>
        <p14:section name="Abschluss" id="{728d7031-0990-ab39-0c44-29f954076eab}">
          <p14:sldIdLst>
            <p14:sldId id="267"/>
          </p14:sldIdLst>
        </p14:section>
        <p14:section name="Quellen" id="{c574f6e5-6f05-fa9b-33a2-193ab2486384}">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400" b="0" i="0" u="none" strike="noStrike">
                <a:solidFill>
                  <a:srgbClr val="1B2A2F"/>
                </a:solidFill>
                <a:latin typeface="+mn-lt"/>
              </a:defRPr>
            </a:pPr>
            <a:r>
              <a:rPr sz="1400" b="0" i="0" u="none" strike="noStrike">
                <a:solidFill>
                  <a:srgbClr val="1B2A2F"/>
                </a:solidFill>
                <a:latin typeface="+mn-lt"/>
              </a:rPr>
              <a:t>Paletten je Runde (unter der Säule: unser Angebotspreis)</a:t>
            </a:r>
          </a:p>
        </c:rich>
      </c:tx>
      <c:layout/>
      <c:overlay val="0"/>
    </c:title>
    <c:autoTitleDeleted val="0"/>
    <c:plotArea>
      <c:layout/>
      <c:barChart>
        <c:barDir val="col"/>
        <c:grouping val="stacked"/>
        <c:varyColors val="0"/>
        <c:ser>
          <c:idx val="0"/>
          <c:order val="0"/>
          <c:tx>
            <c:strRef>
              <c:f>Sheet1!$B$1</c:f>
              <c:strCache>
                <c:ptCount val="1"/>
                <c:pt idx="0">
                  <c:v>Am Markt verkauft</c:v>
                </c:pt>
              </c:strCache>
            </c:strRef>
          </c:tx>
          <c:spPr>
            <a:solidFill>
              <a:srgbClr val="0F5C6B"/>
            </a:solidFill>
            <a:effectLst/>
          </c:spPr>
          <c:invertIfNegative val="0"/>
          <c:dLbls>
            <c:numFmt formatCode="[&lt;1]&quot;&quot;;General"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R1 · 3.000 €</c:v>
                  </c:pt>
                  <c:pt idx="1">
                    <c:v>R2 · 7.600 €</c:v>
                  </c:pt>
                  <c:pt idx="2">
                    <c:v>R3 · 5.900 €</c:v>
                  </c:pt>
                  <c:pt idx="3">
                    <c:v>R4 · 9.500 €</c:v>
                  </c:pt>
                  <c:pt idx="4">
                    <c:v>R5 · 9.500 €</c:v>
                  </c:pt>
                  <c:pt idx="5">
                    <c:v>R6 · 8.400 €</c:v>
                  </c:pt>
                </c:lvl>
              </c:multiLvlStrCache>
            </c:multiLvlStrRef>
          </c:cat>
          <c:val>
            <c:numRef>
              <c:f>Sheet1!$B$2:$B$7</c:f>
              <c:numCache>
                <c:formatCode>General</c:formatCode>
                <c:ptCount val="6"/>
                <c:pt idx="0">
                  <c:v>15</c:v>
                </c:pt>
                <c:pt idx="1">
                  <c:v>6.5</c:v>
                </c:pt>
                <c:pt idx="2">
                  <c:v>12.6</c:v>
                </c:pt>
                <c:pt idx="3">
                  <c:v>0.5</c:v>
                </c:pt>
                <c:pt idx="4">
                  <c:v>0.2</c:v>
                </c:pt>
                <c:pt idx="5">
                  <c:v>5.2</c:v>
                </c:pt>
              </c:numCache>
            </c:numRef>
          </c:val>
        </c:ser>
        <c:ser>
          <c:idx val="1"/>
          <c:order val="1"/>
          <c:tx>
            <c:strRef>
              <c:f>Sheet1!$C$1</c:f>
              <c:strCache>
                <c:ptCount val="1"/>
                <c:pt idx="0">
                  <c:v>Schnäppchenmarkt (1.000 €)</c:v>
                </c:pt>
              </c:strCache>
            </c:strRef>
          </c:tx>
          <c:spPr>
            <a:solidFill>
              <a:srgbClr val="D9822B"/>
            </a:solidFill>
            <a:effectLst/>
          </c:spPr>
          <c:invertIfNegative val="0"/>
          <c:dLbls>
            <c:numFmt formatCode="[&lt;1]&quot;&quot;;General"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R1 · 3.000 €</c:v>
                  </c:pt>
                  <c:pt idx="1">
                    <c:v>R2 · 7.600 €</c:v>
                  </c:pt>
                  <c:pt idx="2">
                    <c:v>R3 · 5.900 €</c:v>
                  </c:pt>
                  <c:pt idx="3">
                    <c:v>R4 · 9.500 €</c:v>
                  </c:pt>
                  <c:pt idx="4">
                    <c:v>R5 · 9.500 €</c:v>
                  </c:pt>
                  <c:pt idx="5">
                    <c:v>R6 · 8.400 €</c:v>
                  </c:pt>
                </c:lvl>
              </c:multiLvlStrCache>
            </c:multiLvlStrRef>
          </c:cat>
          <c:val>
            <c:numRef>
              <c:f>Sheet1!$C$2:$C$7</c:f>
              <c:numCache>
                <c:formatCode>General</c:formatCode>
                <c:ptCount val="6"/>
                <c:pt idx="0">
                  <c:v>0</c:v>
                </c:pt>
                <c:pt idx="1">
                  <c:v>6.5</c:v>
                </c:pt>
                <c:pt idx="2">
                  <c:v>5.6</c:v>
                </c:pt>
                <c:pt idx="3">
                  <c:v>0.5</c:v>
                </c:pt>
                <c:pt idx="4">
                  <c:v>0.8</c:v>
                </c:pt>
                <c:pt idx="5">
                  <c:v>7.8</c:v>
                </c:pt>
              </c:numCache>
            </c:numRef>
          </c:val>
        </c:ser>
        <c:dLbls>
          <c:numFmt formatCode="[&lt;1]&quot;&quot;;General"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max val="20"/>
        </c:scaling>
        <c:delete val="0"/>
        <c:axPos val="l"/>
        <c:majorGridlines>
          <c:spPr>
            <a:ln w="6350" cap="flat">
              <a:solidFill>
                <a:srgbClr val="D9D9D2"/>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F8F99"/>
                </a:solidFill>
                <a:latin typeface="+mn-lt"/>
              </a:defRPr>
            </a:pPr>
            <a:endParaRPr lang="en-US"/>
          </a:p>
        </c:txPr>
        <c:crossAx val="2094734554"/>
        <c:crosses val="autoZero"/>
        <c:crossBetween val="between"/>
        <c:majorUnit val="5"/>
      </c:valAx>
      <c:spPr>
        <a:noFill/>
        <a:ln>
          <a:noFill/>
        </a:ln>
        <a:effectLst/>
      </c:spPr>
    </c:plotArea>
    <c:legend>
      <c:legendPos val="t"/>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400" b="0" i="0" u="none" strike="noStrike">
                <a:solidFill>
                  <a:srgbClr val="1B2A2F"/>
                </a:solidFill>
                <a:latin typeface="+mn-lt"/>
              </a:defRPr>
            </a:pPr>
            <a:r>
              <a:rPr sz="1400" b="0" i="0" u="none" strike="noStrike">
                <a:solidFill>
                  <a:srgbClr val="1B2A2F"/>
                </a:solidFill>
                <a:latin typeface="+mn-lt"/>
              </a:rPr>
              <a:t>Zusatzkosten durch den Wirtschaftsdienst je Runde (€)</a:t>
            </a:r>
          </a:p>
        </c:rich>
      </c:tx>
      <c:layout/>
      <c:overlay val="0"/>
    </c:title>
    <c:autoTitleDeleted val="0"/>
    <c:plotArea>
      <c:layout/>
      <c:barChart>
        <c:barDir val="col"/>
        <c:grouping val="clustered"/>
        <c:varyColors val="0"/>
        <c:ser>
          <c:idx val="0"/>
          <c:order val="0"/>
          <c:tx>
            <c:strRef>
              <c:f>Sheet1!$B$1</c:f>
              <c:strCache>
                <c:ptCount val="1"/>
                <c:pt idx="0">
                  <c:v>Zusatzkosten (€)</c:v>
                </c:pt>
              </c:strCache>
            </c:strRef>
          </c:tx>
          <c:spPr>
            <a:solidFill>
              <a:srgbClr val="D9822B"/>
            </a:solidFill>
            <a:effectLst/>
          </c:spPr>
          <c:invertIfNegative val="0"/>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cat>
            <c:multiLvlStrRef>
              <c:f>Sheet1!$A$2:$A$7</c:f>
              <c:multiLvlStrCache>
                <c:ptCount val="6"/>
                <c:lvl>
                  <c:pt idx="0">
                    <c:v>R1</c:v>
                  </c:pt>
                  <c:pt idx="1">
                    <c:v>R2</c:v>
                  </c:pt>
                  <c:pt idx="2">
                    <c:v>R3</c:v>
                  </c:pt>
                  <c:pt idx="3">
                    <c:v>R4</c:v>
                  </c:pt>
                  <c:pt idx="4">
                    <c:v>R5</c:v>
                  </c:pt>
                  <c:pt idx="5">
                    <c:v>R6</c:v>
                  </c:pt>
                </c:lvl>
              </c:multiLvlStrCache>
            </c:multiLvlStrRef>
          </c:cat>
          <c:val>
            <c:numRef>
              <c:f>Sheet1!$B$2:$B$7</c:f>
              <c:numCache>
                <c:formatCode>General</c:formatCode>
                <c:ptCount val="6"/>
                <c:pt idx="0">
                  <c:v>0</c:v>
                </c:pt>
                <c:pt idx="1">
                  <c:v>10000</c:v>
                </c:pt>
                <c:pt idx="2">
                  <c:v>5000</c:v>
                </c:pt>
                <c:pt idx="3">
                  <c:v>2500</c:v>
                </c:pt>
                <c:pt idx="4">
                  <c:v>10000</c:v>
                </c:pt>
                <c:pt idx="5">
                  <c:v>6500</c:v>
                </c:pt>
              </c:numCache>
            </c:numRef>
          </c:val>
        </c:ser>
        <c:dLbls>
          <c:numFmt formatCode="#,##0" sourceLinked="0"/>
          <c:txPr>
            <a:bodyPr/>
            <a:lstStyle/>
            <a:p>
              <a:pPr>
                <a:defRPr b="0" i="0" strike="noStrike" sz="1200" u="none">
                  <a:solidFill>
                    <a:srgbClr val="1B2A2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max val="12000"/>
        </c:scaling>
        <c:delete val="0"/>
        <c:axPos val="l"/>
        <c:majorGridlines>
          <c:spPr>
            <a:ln w="6350" cap="flat">
              <a:solidFill>
                <a:srgbClr val="D9D9D2"/>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F8F99"/>
                </a:solidFill>
                <a:latin typeface="+mn-lt"/>
              </a:defRPr>
            </a:pPr>
            <a:endParaRPr lang="en-US"/>
          </a:p>
        </c:txPr>
        <c:crossAx val="2094734554"/>
        <c:crosses val="autoZero"/>
        <c:crossBetween val="between"/>
        <c:majorUnit val="2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400" b="0" i="0" u="none" strike="noStrike">
                <a:solidFill>
                  <a:srgbClr val="1B2A2F"/>
                </a:solidFill>
                <a:latin typeface="+mn-lt"/>
              </a:defRPr>
            </a:pPr>
            <a:r>
              <a:rPr sz="1400" b="0" i="0" u="none" strike="noStrike">
                <a:solidFill>
                  <a:srgbClr val="1B2A2F"/>
                </a:solidFill>
                <a:latin typeface="+mn-lt"/>
              </a:rPr>
              <a:t>Wirtschaftlichkeit je Runde</a:t>
            </a:r>
          </a:p>
        </c:rich>
      </c:tx>
      <c:layout/>
      <c:overlay val="0"/>
    </c:title>
    <c:autoTitleDeleted val="0"/>
    <c:plotArea>
      <c:layout/>
      <c:barChart>
        <c:barDir val="col"/>
        <c:grouping val="clustered"/>
        <c:varyColors val="0"/>
        <c:ser>
          <c:idx val="0"/>
          <c:order val="0"/>
          <c:tx>
            <c:strRef>
              <c:f>Sheet1!$B$1</c:f>
              <c:strCache>
                <c:ptCount val="1"/>
                <c:pt idx="0">
                  <c:v>Wirtschaftlichkeit</c:v>
                </c:pt>
              </c:strCache>
            </c:strRef>
          </c:tx>
          <c:spPr>
            <a:solidFill>
              <a:srgbClr val="0F5C6B"/>
            </a:solidFill>
            <a:effectLst/>
          </c:spPr>
          <c:invertIfNegative val="0"/>
          <c:dLbls>
            <c:numFmt formatCode="0.00" sourceLinked="0"/>
            <c:txPr>
              <a:bodyPr/>
              <a:lstStyle/>
              <a:p>
                <a:pPr>
                  <a:defRPr b="0" i="0" strike="noStrike" sz="1200" u="none">
                    <a:solidFill>
                      <a:srgbClr val="1B2A2F"/>
                    </a:solidFill>
                    <a:latin typeface="+mn-lt"/>
                  </a:defRPr>
                </a:pPr>
              </a:p>
            </c:txPr>
            <c:dLblPos val="outEnd"/>
            <c:showLegendKey val="0"/>
            <c:showVal val="1"/>
            <c:showCatName val="0"/>
            <c:showSerName val="0"/>
            <c:showPercent val="0"/>
            <c:showBubbleSize val="0"/>
            <c:showLeaderLines val="0"/>
          </c:dLbls>
          <c:cat>
            <c:multiLvlStrRef>
              <c:f>Sheet1!$A$2:$A$7</c:f>
              <c:multiLvlStrCache>
                <c:ptCount val="6"/>
                <c:lvl>
                  <c:pt idx="0">
                    <c:v>R1</c:v>
                  </c:pt>
                  <c:pt idx="1">
                    <c:v>R2</c:v>
                  </c:pt>
                  <c:pt idx="2">
                    <c:v>R3</c:v>
                  </c:pt>
                  <c:pt idx="3">
                    <c:v>R4</c:v>
                  </c:pt>
                  <c:pt idx="4">
                    <c:v>R5</c:v>
                  </c:pt>
                  <c:pt idx="5">
                    <c:v>R6</c:v>
                  </c:pt>
                </c:lvl>
              </c:multiLvlStrCache>
            </c:multiLvlStrRef>
          </c:cat>
          <c:val>
            <c:numRef>
              <c:f>Sheet1!$B$2:$B$7</c:f>
              <c:numCache>
                <c:formatCode>General</c:formatCode>
                <c:ptCount val="6"/>
                <c:pt idx="0">
                  <c:v>0.65</c:v>
                </c:pt>
                <c:pt idx="1">
                  <c:v>0.75</c:v>
                </c:pt>
                <c:pt idx="2">
                  <c:v>1.48</c:v>
                </c:pt>
                <c:pt idx="3">
                  <c:v>0.29</c:v>
                </c:pt>
                <c:pt idx="4">
                  <c:v>0.11</c:v>
                </c:pt>
                <c:pt idx="5">
                  <c:v>1.13</c:v>
                </c:pt>
              </c:numCache>
            </c:numRef>
          </c:val>
        </c:ser>
        <c:dLbls>
          <c:numFmt formatCode="0.00" sourceLinked="0"/>
          <c:txPr>
            <a:bodyPr/>
            <a:lstStyle/>
            <a:p>
              <a:pPr>
                <a:defRPr b="0" i="0" strike="noStrike" sz="1200" u="none">
                  <a:solidFill>
                    <a:srgbClr val="1B2A2F"/>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Grenze 1,0 (Kosten gedeckt)</c:v>
                </c:pt>
              </c:strCache>
            </c:strRef>
          </c:tx>
          <c:spPr>
            <a:solidFill>
              <a:srgbClr val="D9822B"/>
            </a:solidFill>
            <a:ln w="25400" cap="flat">
              <a:solidFill>
                <a:srgbClr val="D9822B"/>
              </a:solidFill>
              <a:prstDash val="dash"/>
              <a:round/>
            </a:ln>
            <a:effectLst/>
          </c:spPr>
          <c:invertIfNegative val="0"/>
          <c:dLbls>
            <c:numFmt formatCode="#,##0" sourceLinked="0"/>
            <c:txPr>
              <a:bodyPr/>
              <a:lstStyle/>
              <a:p>
                <a:pPr>
                  <a:defRPr b="0" i="0" strike="noStrike" sz="1200" u="none">
                    <a:solidFill>
                      <a:srgbClr val="1B2A2F"/>
                    </a:solidFill>
                    <a:latin typeface="+mn-lt"/>
                  </a:defRPr>
                </a:pPr>
              </a:p>
            </c:txPr>
            <c:showLegendKey val="0"/>
            <c:showVal val="0"/>
            <c:showCatName val="0"/>
            <c:showSerName val="0"/>
            <c:showPercent val="0"/>
            <c:showBubbleSize val="0"/>
            <c:showLeaderLines val="0"/>
          </c:dLbls>
          <c:marker>
            <c:symbol val="none"/>
            <c:size val="6"/>
            <c:spPr>
              <a:solidFill>
                <a:srgbClr val="D9822B"/>
              </a:solidFill>
              <a:ln w="9525" cap="flat">
                <a:solidFill>
                  <a:srgbClr val="D9822B"/>
                </a:solidFill>
                <a:prstDash val="solid"/>
                <a:round/>
              </a:ln>
              <a:effectLst/>
            </c:spPr>
          </c:marker>
          <c:cat>
            <c:multiLvlStrRef>
              <c:f>Sheet1!$A$2:$A$7</c:f>
              <c:multiLvlStrCache>
                <c:ptCount val="6"/>
                <c:lvl>
                  <c:pt idx="0">
                    <c:v>R1</c:v>
                  </c:pt>
                  <c:pt idx="1">
                    <c:v>R2</c:v>
                  </c:pt>
                  <c:pt idx="2">
                    <c:v>R3</c:v>
                  </c:pt>
                  <c:pt idx="3">
                    <c:v>R4</c:v>
                  </c:pt>
                  <c:pt idx="4">
                    <c:v>R5</c:v>
                  </c:pt>
                  <c:pt idx="5">
                    <c:v>R6</c:v>
                  </c:pt>
                </c:lvl>
              </c:multiLvlStrCache>
            </c:multiLvlStrRef>
          </c:cat>
          <c:val>
            <c:numRef>
              <c:f>Sheet1!$C$2:$C$7</c:f>
              <c:numCache>
                <c:formatCode>General</c:formatCode>
                <c:ptCount val="6"/>
                <c:pt idx="0">
                  <c:v>1</c:v>
                </c:pt>
                <c:pt idx="1">
                  <c:v>1</c:v>
                </c:pt>
                <c:pt idx="2">
                  <c:v>1</c:v>
                </c:pt>
                <c:pt idx="3">
                  <c:v>1</c:v>
                </c:pt>
                <c:pt idx="4">
                  <c:v>1</c:v>
                </c:pt>
                <c:pt idx="5">
                  <c:v>1</c:v>
                </c:pt>
              </c:numCache>
            </c:numRef>
          </c:val>
          <c:smooth val="0"/>
        </c:ser>
        <c:dLbls>
          <c:numFmt formatCode="#,##0" sourceLinked="0"/>
          <c:txPr>
            <a:bodyPr/>
            <a:lstStyle/>
            <a:p>
              <a:pPr>
                <a:defRPr b="0" i="0" strike="noStrike" sz="1200" u="none">
                  <a:solidFill>
                    <a:srgbClr val="1B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6350" cap="flat">
              <a:solidFill>
                <a:srgbClr val="D9D9D2"/>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F8F99"/>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400" b="0" i="0" u="none" strike="noStrike">
                <a:solidFill>
                  <a:srgbClr val="1B2A2F"/>
                </a:solidFill>
                <a:latin typeface="+mn-lt"/>
              </a:defRPr>
            </a:pPr>
            <a:r>
              <a:rPr sz="1400" b="0" i="0" u="none" strike="noStrike">
                <a:solidFill>
                  <a:srgbClr val="1B2A2F"/>
                </a:solidFill>
                <a:latin typeface="+mn-lt"/>
              </a:rPr>
              <a:t>Schlussbestand je Runde (€), Start 100.000 €</a:t>
            </a:r>
          </a:p>
        </c:rich>
      </c:tx>
      <c:layout/>
      <c:overlay val="0"/>
    </c:title>
    <c:autoTitleDeleted val="0"/>
    <c:plotArea>
      <c:layout/>
      <c:lineChart>
        <c:varyColors val="0"/>
        <c:ser>
          <c:idx val="0"/>
          <c:order val="0"/>
          <c:tx>
            <c:strRef>
              <c:f>Sheet1!$B$1</c:f>
              <c:strCache>
                <c:ptCount val="1"/>
                <c:pt idx="0">
                  <c:v>Schlussbestand</c:v>
                </c:pt>
              </c:strCache>
            </c:strRef>
          </c:tx>
          <c:spPr>
            <a:solidFill>
              <a:srgbClr val="0F5C6B"/>
            </a:solidFill>
            <a:ln w="38100" cap="flat">
              <a:solidFill>
                <a:srgbClr val="0F5C6B"/>
              </a:solidFill>
              <a:prstDash val="solid"/>
              <a:round/>
            </a:ln>
            <a:effectLst/>
          </c:spPr>
          <c:invertIfNegative val="0"/>
          <c:dLbls>
            <c:numFmt formatCode="#,##0" sourceLinked="0"/>
            <c:txPr>
              <a:bodyPr/>
              <a:lstStyle/>
              <a:p>
                <a:pPr>
                  <a:defRPr b="0" i="0" strike="noStrike" sz="1100" u="none">
                    <a:solidFill>
                      <a:srgbClr val="1B2A2F"/>
                    </a:solidFill>
                    <a:latin typeface="+mn-lt"/>
                  </a:defRPr>
                </a:pPr>
              </a:p>
            </c:txPr>
            <c:dLblPos val="t"/>
            <c:showLegendKey val="0"/>
            <c:showVal val="1"/>
            <c:showCatName val="0"/>
            <c:showSerName val="0"/>
            <c:showPercent val="0"/>
            <c:showBubbleSize val="0"/>
            <c:showLeaderLines val="0"/>
          </c:dLbls>
          <c:marker>
            <c:symbol val="circle"/>
            <c:size val="8"/>
            <c:spPr>
              <a:solidFill>
                <a:srgbClr val="0F5C6B"/>
              </a:solidFill>
              <a:ln w="9525" cap="flat">
                <a:solidFill>
                  <a:srgbClr val="0F5C6B"/>
                </a:solidFill>
                <a:prstDash val="solid"/>
                <a:round/>
              </a:ln>
              <a:effectLst/>
            </c:spPr>
          </c:marker>
          <c:cat>
            <c:multiLvlStrRef>
              <c:f>Sheet1!$A$2:$A$8</c:f>
              <c:multiLvlStrCache>
                <c:ptCount val="7"/>
                <c:lvl>
                  <c:pt idx="0">
                    <c:v>Start</c:v>
                  </c:pt>
                  <c:pt idx="1">
                    <c:v>R1</c:v>
                  </c:pt>
                  <c:pt idx="2">
                    <c:v>R2</c:v>
                  </c:pt>
                  <c:pt idx="3">
                    <c:v>R3</c:v>
                  </c:pt>
                  <c:pt idx="4">
                    <c:v>R4</c:v>
                  </c:pt>
                  <c:pt idx="5">
                    <c:v>R5</c:v>
                  </c:pt>
                  <c:pt idx="6">
                    <c:v>R6</c:v>
                  </c:pt>
                </c:lvl>
              </c:multiLvlStrCache>
            </c:multiLvlStrRef>
          </c:cat>
          <c:val>
            <c:numRef>
              <c:f>Sheet1!$B$2:$B$8</c:f>
              <c:numCache>
                <c:formatCode>General</c:formatCode>
                <c:ptCount val="7"/>
                <c:pt idx="0">
                  <c:v>100000</c:v>
                </c:pt>
                <c:pt idx="1">
                  <c:v>76000</c:v>
                </c:pt>
                <c:pt idx="2">
                  <c:v>56900</c:v>
                </c:pt>
                <c:pt idx="3">
                  <c:v>82840</c:v>
                </c:pt>
                <c:pt idx="4">
                  <c:v>70090</c:v>
                </c:pt>
                <c:pt idx="5">
                  <c:v>47790</c:v>
                </c:pt>
                <c:pt idx="6">
                  <c:v>53770</c:v>
                </c:pt>
              </c:numCache>
            </c:numRef>
          </c:val>
          <c:smooth val="0"/>
        </c:ser>
        <c:dLbls>
          <c:numFmt formatCode="#,##0" sourceLinked="0"/>
          <c:txPr>
            <a:bodyPr/>
            <a:lstStyle/>
            <a:p>
              <a:pPr>
                <a:defRPr b="0" i="0" strike="noStrike" sz="1100" u="none">
                  <a:solidFill>
                    <a:srgbClr val="1B2A2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max val="120000"/>
          <c:min val="0"/>
        </c:scaling>
        <c:delete val="0"/>
        <c:axPos val="l"/>
        <c:majorGridlines>
          <c:spPr>
            <a:ln w="6350" cap="flat">
              <a:solidFill>
                <a:srgbClr val="D9D9D2"/>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F8F99"/>
                </a:solidFill>
                <a:latin typeface="+mn-lt"/>
              </a:defRPr>
            </a:pPr>
            <a:endParaRPr lang="en-US"/>
          </a:p>
        </c:txPr>
        <c:crossAx val="2094734554"/>
        <c:crosses val="autoZero"/>
        <c:crossBetween val="between"/>
        <c:majorUnit val="200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0:20 min
SPRECHTEXT (Vorschlag – bitte in eigenen Worten anpassen):
Hallo zusammen, wir sind die Elbharz Getränke GbR aus der 11b, und das ist unsere Primatenbrause, Tamarinde-Limette. In den nächsten elf Minuten zeigen wir euch, was aus unserer Idee im Planspiel geworden ist: von der Gründung über sechs Spielrunden bis zum Verkaufswert unseres Unternehmens.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0:45 min
SPRECHTEXT (Vorschlag – bitte in eigenen Worten anpassen):
Kurz zur Erinnerung, wer wir sind. Unser Ausgangspunkt war ein Getränk, dessen Rückseite man zu Ende lesen kann. Das war unsere einzige Vorgabe, und daran haben wir bei der Gründung alles andere gemessen. Hier seht ihr die Rückseite: sechs Zutaten, mehr nicht – Wasser, Kohlensäure, Tamarinde, Limettensaft, Meersalz und Magnesium. Wir sind vier Gesellschafter aus Hamburg. Unsere Zielgruppe sind 16- bis 25-Jährige wie unsere Persona Jasper, der im Laden die Flasche umdreht und die Zutaten liest. Verkaufen wollten wir zuerst online und über Social Media, danach im regionalen Handel. Und warum Tamarinde? Die gibt es in Deutschland in Getränken kaum – herb statt süß.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0:45 min
SPRECHTEXT (Vorschlag – bitte in eigenen Worten anpassen):
Nachhaltigkeit hatten wir von Anfang an im Blick. Erstens Mehrweg: Glasflaschen im Pfandsystem statt Einweg – die leere Flasche kommt zurück, wird gespült und neu befüllt. Zweitens regional: Glas ist schwer, Mehrweg lohnt sich deshalb nur bei kurzen Wegen. Darum wollten wir in Norddeutschland herstellen und abfüllen. Drittens nur eine Sorte: Das spart Aufwand bei Produktion, Lager und Transport. Wichtig war uns dabei, nur zu versprechen, was man auf dem Etikett überprüfen kann. Ehrlich gesagt spielte das im Planspiel keine Rolle, dort entschied nur der Preis über den Absatz. Darauf kommen wir am Ende beim Bezug zur Gründung zurück.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1:00 min
SPRECHTEXT (Vorschlag – bitte in eigenen Worten anpassen):
Hier seht ihr alle sechs Runden auf einen Blick. Jede Säule zeigt, wie viele Paletten wir produziert haben, darunter steht unser Angebotspreis. Petrol ist, was wir am normalen Markt verkauft haben. Orange mussten wir für nur 1.000 Euro pro Palette am Schnäppchenmarkt loswerden, denn Brause verdirbt nach einer Runde. In Runde 1 haben wir zu 3.000 Euro alles verkauft. In Runde 2 haben wir den Preis auf 7.600 Euro erhöht, da blieb die Hälfte liegen. Mit 5.900 Euro in Runde 3 lief es am besten: 70 Prozent gingen am Markt weg. In Runde 4 und 5 haben wir nur noch eine Palette produziert und davon trotzdem nur die Hälfte bzw. ein Fünftel verkauft. In Runde 6 waren es noch einmal 13 Paletten.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1:05 min
SPRECHTEXT (Vorschlag – bitte in eigenen Worten anpassen):
Warum haben wir so entschieden? Das steht in unserem Entscheidungsprotokoll, und unten auf jeder Karte seht ihr, was die Runde für unseren Kassenstand bedeutet hat. In Runde 1 haben wir eine Economy-Maschine gekauft, weil sich Standard mit dem zusätzlichen Mitarbeiter nicht gelohnt hätte, und bewusst günstig angeboten. Weil alles weg war, dachten wir in Runde 2, die anderen sind teurer, und sind drastisch auf 7.600 Euro hoch. Außerdem haben wir eine zweite Maschine gekauft – aber noch ohne Mitarbeiter, sie stand also still. In Runde 3 kam der zweite Mitarbeiter dazu, und wir haben knapp unter den vermuteten 6.000 Euro der Konkurrenz angeboten. Das war unsere einzige Runde mit deutlichem Plus. In Runde 4 und 5 haben wir weniger Absatz erwartet und nur eine Palette produziert, aber zu 9.500 Euro. In Runde 6 wollten wir zum Schluss noch einmal Umsatz machen.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0:50 min
SPRECHTEXT (Vorschlag – bitte in eigenen Worten anpassen):
Ab Runde 2 kamen die Meldungen des Wirtschaftsdienstes dazu. Bei uns stehen sie im Kassenbuch als sonstige Kosten: insgesamt 34.000 Euro, am meisten in Runde 2 und Runde 5 mit je 10.000 Euro. Das sind rund zwölf Prozent unserer gesamten Kosten. Rein rechnerisch läge unser Verkaufswert ohne diese Kosten bei 117.770 Euro, also über dem Startkapital. Diese Kosten konnten wir nicht beeinflussen, aber wir hätten sie bei Preis und Menge einplanen können. Das soll keine Ausrede sein, zeigt aber, wie stark äußere Einflüsse wirken – und dass wir Rücklagen gebraucht hätten. [Wenn ihr den Wortlaut der Meldungen noch wisst: hier pro Runde ein Stichwort nennen.]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1:00 min
SPRECHTEXT (Vorschlag – bitte in eigenen Worten anpassen):
Für die Auswertung haben wir zwei Kennzahlen berechnet. Die wichtigste ist die Wirtschaftlichkeit: Umsatzerlöse geteilt durch die Kosten der Runde. In Runde 3 waren das 79.940 Euro Umsatz geteilt durch 54.000 Euro Kosten, also 1,48 – für jeden eingesetzten Euro kamen 1,48 Euro zurück. Über 1 heißt Gewinn, unter 1 Verlust; das schaffen nur Runde 3 und 6. Die zweite Kennzahl ist die Absatzquote: Wie viel Prozent unserer Produktion haben wir am normalen Markt verkauft? Sie zeigt, ob unser Preis zum Markt gepasst hat – von 100 Prozent in Runde 1 bis 20 Prozent in Runde 5. Zur Aussagekraft: Die Wirtschaftlichkeit rechnet Maschinenkäufe voll in die Kaufrunde. Würde man nur den Wertverlust von 10 Prozent ansetzen, wären auch Runde 1 und 2 knapp wirtschaftlich gewesen. Die vollständige Kostentabelle steht in unserem Auswertungsbogen M15.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0:55 min
SPRECHTEXT (Vorschlag – bitte in eigenen Worten anpassen):
Beide Grafiken kennt ihr aus dem Auswertungsbogen. Links die Wirtschaftlichkeit je Runde, die gestrichelte Linie markiert 1, ab dort lohnt sich eine Runde. Nur Runde 3 und 6 liegen darüber, über alle sechs Runden kommen wir auf 0,84. Runde 4 und 5 sind besonders schwach: Wir haben kaum etwas verkauft, aber Personal und Miete liefen weiter. Rechts seht ihr, wie sich unser Startkapital über die Schlussbestände entwickelt hat. Wir sind mit 100.000 Euro gestartet. Die Maschinenkäufe drücken Runde 1 und 2, nach Runde 3 hatten wir mit 82.840 Euro unseren besten Stand, nach Runde 5 mit 47.790 Euro den Tiefpunkt, und am Ende stehen 53.770 Euro in der Kasse. Was das Unternehmen insgesamt wert ist, zeigt die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0:50 min
SPRECHTEXT (Vorschlag – bitte in eigenen Worten anpassen):
Am Ende wird unser Unternehmen verkauft. Der Wert ist der Schlussbestand plus der Restwert der Maschinen. Der Schlussbestand nach Runde 6 sind 53.770 Euro. Jede Maschine verliert pro genutzter Runde zehn Prozent ihres Kaufpreises: Die erste Maschine lief sechs Runden und ist noch 12.000 Euro wert, die zweite lief vier Runden, weil sie in Runde 2 ohne Mitarbeiter stillstand, und ist noch 18.000 Euro wert. Zusammen ergibt das einen Verkaufswert von 83.770 Euro. Das sind 16.230 Euro weniger als unser Startkapital. Zum Vergleich: Allein die zwei Maschinen haben 60.000 Euro gekostet, davon stecken noch 30.000 Euro im Unternehmenswert.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1:20 min
SPRECHTEXT (Vorschlag – bitte in eigenen Worten anpassen):
Im Nachhinein bewerten wir unsere Entscheidungen so. Gut war, dass wir vorsichtig mit nur einer Maschine gestartet sind, wie es die Spielanleitung empfiehlt, und dass wir nach Runde 2 schnell reagiert haben: Mit 5.900 Euro kam unsere beste Runde. Schlecht war vor allem unser Preis ab Runde 4. Wir haben weniger Absatz erwartet und trotzdem die höchsten Preise des ganzen Spiels verlangt, 9.500 und 8.400 Euro – dabei bestimmt der Preis den Absatz. Verkauft haben wir nur 20 bis 50 Prozent. Dazu kamen je 13.000 Euro Fixkosten für eine einzige Palette. Und die zweite Maschine für 30.000 Euro haben wir nur in Runde 3 wirklich gebraucht, sonst hätte eine gereicht. In Runde 1 war der Preis dagegen eher zu niedrig, da ging alles sofort weg. Anders machen würden wir: beim Preis von Runde 3 bleiben, Maschinen nur kaufen, wenn wir sie auslasten und besetzen können, und das Personal an die Produktion anpassen. Unser Fazit: Der Preis war unser stärkster Hebel, und Fixkosten laufen weiter, auch wenn man kaum verkauft.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1:10 min
SPRECHTEXT (Vorschlag – bitte in eigenen Worten anpassen):
Zum Schluss der Blick zurück auf unsere Gründung. Vieles, was uns wichtig war, kam im Spiel nicht vor, und jedes davon hätte etwas verändert. Mehrweg hätte Kosten gebracht, für Rücknahme, Spülen und Rücktransport. Unsere Zielgruppe mit Persona Jasper hätte bedeutet, dass der Absatz nicht nur vom Preis abhängt, sondern auch davon, wen man anspricht. Mit Social Media und Onlineshop hätten wir in Runde 4 und 5 Werbung machen können, statt nur eine Palette anzubieten. Und unsere besondere Sorte Tamarinde-Limette ist ein Alleinstellungsmerkmal – damit hätten wir vielleicht einen höheren Preis bei gleichem Absatz verlangen können. Im Spiel war aber jede Brause gleich. Wir schlagen deshalb zwei einfache Erweiterungen vor: Erstens ein Marketingbudget – je 2.000 Euro gibt es eine Palette mehr Absatz. Zweitens eine Mehrweg-Option: 1.000 Euro Zusatzkosten je Runde, dafür eine Palette mehr Absatz bei umweltbewussten Kunden. Beides ist nur eine Zeile mehr im Kassenbuch.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ca. 0:10 min
SPRECHTEXT (Vorschlag – bitte in eigenen Worten anpassen):
Das war unser Weg mit der Primatenbrause, von der Idee bis zum Verkaufswert. Vielen Dank fürs Zuhören, wir freuen uns auf eure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Quellenfolie – wird nicht vorgetragen, steht für die Lehrkraft.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Logo Elbharz">    </p:cNvPr>
          <p:cNvPicPr>
            <a:picLocks noChangeAspect="1"/>
          </p:cNvPicPr>
          <p:nvPr/>
        </p:nvPicPr>
        <p:blipFill>
          <a:blip r:embed="rId1"/>
          <a:stretch>
            <a:fillRect/>
          </a:stretch>
        </p:blipFill>
        <p:spPr>
          <a:xfrm>
            <a:off x="731520" y="411480"/>
            <a:ext cx="1371600" cy="1371600"/>
          </a:xfrm>
          <a:prstGeom prst="rect">
            <a:avLst/>
          </a:prstGeom>
        </p:spPr>
      </p:pic>
      <p:sp>
        <p:nvSpPr>
          <p:cNvPr id="3" name="Text 0"/>
          <p:cNvSpPr txBox="1"/>
          <p:nvPr/>
        </p:nvSpPr>
        <p:spPr>
          <a:xfrm>
            <a:off x="822960" y="2011680"/>
            <a:ext cx="603504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PLANSPIEL BERTIS BRAUSE · ENDPRÄSENTATION</a:t>
            </a:r>
            <a:endParaRPr lang="en-US" sz="1400" dirty="0"/>
          </a:p>
        </p:txBody>
      </p:sp>
      <p:sp>
        <p:nvSpPr>
          <p:cNvPr id="4" name="Text 1"/>
          <p:cNvSpPr txBox="1"/>
          <p:nvPr/>
        </p:nvSpPr>
        <p:spPr>
          <a:xfrm>
            <a:off x="822960" y="2468880"/>
            <a:ext cx="6583680" cy="118872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Primatenbrause</a:t>
            </a:r>
            <a:endParaRPr lang="en-US" sz="6000" dirty="0"/>
          </a:p>
        </p:txBody>
      </p:sp>
      <p:sp>
        <p:nvSpPr>
          <p:cNvPr id="5" name="Text 2"/>
          <p:cNvSpPr txBox="1"/>
          <p:nvPr/>
        </p:nvSpPr>
        <p:spPr>
          <a:xfrm>
            <a:off x="822960" y="3749040"/>
            <a:ext cx="5669280" cy="914400"/>
          </a:xfrm>
          <a:prstGeom prst="rect">
            <a:avLst/>
          </a:prstGeom>
          <a:noFill/>
          <a:ln/>
        </p:spPr>
        <p:txBody>
          <a:bodyPr wrap="square" lIns="0" tIns="0" rIns="0" bIns="0" rtlCol="0" anchor="ctr"/>
          <a:lstStyle/>
          <a:p>
            <a:pPr indent="0" marL="0">
              <a:buNone/>
            </a:pPr>
            <a:r>
              <a:rPr lang="en-US" sz="2200" dirty="0">
                <a:solidFill>
                  <a:schemeClr val="bg2"/>
                </a:solidFill>
              </a:rPr>
              <a:t>Von der Idee zum Verkaufswert – unser Weg durch sechs Spielrunden</a:t>
            </a:r>
            <a:endParaRPr lang="en-US" sz="2200" dirty="0"/>
          </a:p>
        </p:txBody>
      </p:sp>
      <p:sp>
        <p:nvSpPr>
          <p:cNvPr id="6" name="Text 3"/>
          <p:cNvSpPr txBox="1"/>
          <p:nvPr/>
        </p:nvSpPr>
        <p:spPr>
          <a:xfrm>
            <a:off x="822960" y="5760720"/>
            <a:ext cx="5486400" cy="365760"/>
          </a:xfrm>
          <a:prstGeom prst="rect">
            <a:avLst/>
          </a:prstGeom>
          <a:noFill/>
          <a:ln/>
        </p:spPr>
        <p:txBody>
          <a:bodyPr wrap="square" lIns="0" tIns="0" rIns="0" bIns="0" rtlCol="0" anchor="ctr"/>
          <a:lstStyle/>
          <a:p>
            <a:pPr indent="0" marL="0">
              <a:buNone/>
            </a:pPr>
            <a:r>
              <a:rPr lang="en-US" sz="1600" dirty="0">
                <a:solidFill>
                  <a:schemeClr val="accent3"/>
                </a:solidFill>
              </a:rPr>
              <a:t>Elbharz Getränke GbR · Klasse 11b</a:t>
            </a:r>
            <a:endParaRPr lang="en-US" sz="1600" dirty="0"/>
          </a:p>
        </p:txBody>
      </p:sp>
      <p:sp>
        <p:nvSpPr>
          <p:cNvPr id="7" name="Sonne"/>
          <p:cNvSpPr/>
          <p:nvPr/>
        </p:nvSpPr>
        <p:spPr>
          <a:xfrm>
            <a:off x="8001000" y="960120"/>
            <a:ext cx="3657600" cy="3657600"/>
          </a:xfrm>
          <a:prstGeom prst="ellipse">
            <a:avLst/>
          </a:prstGeom>
          <a:solidFill>
            <a:schemeClr val="accent2"/>
          </a:solidFill>
          <a:ln/>
        </p:spPr>
      </p:sp>
      <p:pic>
        <p:nvPicPr>
          <p:cNvPr id="8" name="Flasche" descr="Flasche Primatenbrause">    </p:cNvPr>
          <p:cNvPicPr>
            <a:picLocks noChangeAspect="1"/>
          </p:cNvPicPr>
          <p:nvPr/>
        </p:nvPicPr>
        <p:blipFill>
          <a:blip r:embed="rId2"/>
          <a:stretch>
            <a:fillRect/>
          </a:stretch>
        </p:blipFill>
        <p:spPr>
          <a:xfrm>
            <a:off x="8691733" y="502920"/>
            <a:ext cx="2276134" cy="5394960"/>
          </a:xfrm>
          <a:prstGeom prst="rect">
            <a:avLst/>
          </a:prstGeom>
        </p:spPr>
      </p:pic>
      <p:sp>
        <p:nvSpPr>
          <p:cNvPr id="9" name="Zutatenkreis"/>
          <p:cNvSpPr/>
          <p:nvPr/>
        </p:nvSpPr>
        <p:spPr>
          <a:xfrm>
            <a:off x="6720840" y="4160520"/>
            <a:ext cx="1920240" cy="1920240"/>
          </a:xfrm>
          <a:prstGeom prst="ellipse">
            <a:avLst/>
          </a:prstGeom>
          <a:solidFill>
            <a:schemeClr val="accent3"/>
          </a:solidFill>
          <a:ln/>
        </p:spPr>
      </p:sp>
      <p:pic>
        <p:nvPicPr>
          <p:cNvPr id="10" name="Tamarinde" descr="Tamarinde">    </p:cNvPr>
          <p:cNvPicPr>
            <a:picLocks noChangeAspect="1"/>
          </p:cNvPicPr>
          <p:nvPr/>
        </p:nvPicPr>
        <p:blipFill>
          <a:blip r:embed="rId3"/>
          <a:stretch>
            <a:fillRect/>
          </a:stretch>
        </p:blipFill>
        <p:spPr>
          <a:xfrm>
            <a:off x="6995160" y="4526280"/>
            <a:ext cx="1417320" cy="1417320"/>
          </a:xfrm>
          <a:prstGeom prst="rect">
            <a:avLst/>
          </a:prstGeom>
        </p:spPr>
      </p:pic>
      <p:pic>
        <p:nvPicPr>
          <p:cNvPr id="11" name="Limette" descr="Limette">    </p:cNvPr>
          <p:cNvPicPr>
            <a:picLocks noChangeAspect="1"/>
          </p:cNvPicPr>
          <p:nvPr/>
        </p:nvPicPr>
        <p:blipFill>
          <a:blip r:embed="rId4"/>
          <a:stretch>
            <a:fillRect/>
          </a:stretch>
        </p:blipFill>
        <p:spPr>
          <a:xfrm>
            <a:off x="6446520" y="4069080"/>
            <a:ext cx="1371600" cy="685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Wer wir sind – in 30 Sekunden</a:t>
            </a:r>
            <a:endParaRPr lang="en-US" sz="3600" dirty="0"/>
          </a:p>
        </p:txBody>
      </p:sp>
      <p:sp>
        <p:nvSpPr>
          <p:cNvPr id="3" name="Kapitelpunkt Einleitung"/>
          <p:cNvSpPr/>
          <p:nvPr/>
        </p:nvSpPr>
        <p:spPr>
          <a:xfrm>
            <a:off x="640080" y="6437376"/>
            <a:ext cx="109728" cy="109728"/>
          </a:xfrm>
          <a:prstGeom prst="ellipse">
            <a:avLst/>
          </a:prstGeom>
          <a:solidFill>
            <a:schemeClr val="accent2"/>
          </a:solidFill>
          <a:ln/>
        </p:spPr>
      </p:sp>
      <p:sp>
        <p:nvSpPr>
          <p:cNvPr id="4" name="Text 2"/>
          <p:cNvSpPr txBox="1"/>
          <p:nvPr/>
        </p:nvSpPr>
        <p:spPr>
          <a:xfrm>
            <a:off x="822960" y="6355080"/>
            <a:ext cx="1188720" cy="274320"/>
          </a:xfrm>
          <a:prstGeom prst="rect">
            <a:avLst/>
          </a:prstGeom>
          <a:noFill/>
          <a:ln/>
        </p:spPr>
        <p:txBody>
          <a:bodyPr wrap="square" lIns="0" tIns="0" rIns="0" bIns="0" rtlCol="0" anchor="ctr"/>
          <a:lstStyle/>
          <a:p>
            <a:pPr indent="0" marL="0">
              <a:buNone/>
            </a:pPr>
            <a:r>
              <a:rPr lang="en-US" sz="1100" b="1" dirty="0">
                <a:solidFill>
                  <a:schemeClr val="accent2"/>
                </a:solidFill>
              </a:rPr>
              <a:t>Einleitung</a:t>
            </a:r>
            <a:endParaRPr lang="en-US" sz="1100" dirty="0"/>
          </a:p>
        </p:txBody>
      </p:sp>
      <p:sp>
        <p:nvSpPr>
          <p:cNvPr id="5" name="Kapitelpunkt Verlauf"/>
          <p:cNvSpPr/>
          <p:nvPr/>
        </p:nvSpPr>
        <p:spPr>
          <a:xfrm>
            <a:off x="2057400" y="6437376"/>
            <a:ext cx="109728" cy="109728"/>
          </a:xfrm>
          <a:prstGeom prst="ellipse">
            <a:avLst/>
          </a:prstGeom>
          <a:solidFill>
            <a:schemeClr val="accent5"/>
          </a:solidFill>
          <a:ln/>
        </p:spPr>
      </p:sp>
      <p:sp>
        <p:nvSpPr>
          <p:cNvPr id="6" name="Text 4"/>
          <p:cNvSpPr txBox="1"/>
          <p:nvPr/>
        </p:nvSpPr>
        <p:spPr>
          <a:xfrm>
            <a:off x="224028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Verlauf</a:t>
            </a:r>
            <a:endParaRPr lang="en-US" sz="1100" dirty="0"/>
          </a:p>
        </p:txBody>
      </p:sp>
      <p:sp>
        <p:nvSpPr>
          <p:cNvPr id="7" name="Kapitelpunkt Auswertung"/>
          <p:cNvSpPr/>
          <p:nvPr/>
        </p:nvSpPr>
        <p:spPr>
          <a:xfrm>
            <a:off x="3474720" y="6437376"/>
            <a:ext cx="109728" cy="109728"/>
          </a:xfrm>
          <a:prstGeom prst="ellipse">
            <a:avLst/>
          </a:prstGeom>
          <a:solidFill>
            <a:schemeClr val="accent5"/>
          </a:solidFill>
          <a:ln/>
        </p:spPr>
      </p:sp>
      <p:sp>
        <p:nvSpPr>
          <p:cNvPr id="8" name="Text 6"/>
          <p:cNvSpPr txBox="1"/>
          <p:nvPr/>
        </p:nvSpPr>
        <p:spPr>
          <a:xfrm>
            <a:off x="365760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Auswertung</a:t>
            </a:r>
            <a:endParaRPr lang="en-US" sz="1100" dirty="0"/>
          </a:p>
        </p:txBody>
      </p:sp>
      <p:sp>
        <p:nvSpPr>
          <p:cNvPr id="9" name="Kapitelpunkt Reflexion"/>
          <p:cNvSpPr/>
          <p:nvPr/>
        </p:nvSpPr>
        <p:spPr>
          <a:xfrm>
            <a:off x="4892040" y="6437376"/>
            <a:ext cx="109728" cy="109728"/>
          </a:xfrm>
          <a:prstGeom prst="ellipse">
            <a:avLst/>
          </a:prstGeom>
          <a:solidFill>
            <a:schemeClr val="accent5"/>
          </a:solidFill>
          <a:ln/>
        </p:spPr>
      </p:sp>
      <p:sp>
        <p:nvSpPr>
          <p:cNvPr id="10" name="Text 8"/>
          <p:cNvSpPr txBox="1"/>
          <p:nvPr/>
        </p:nvSpPr>
        <p:spPr>
          <a:xfrm>
            <a:off x="507492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Reflexion</a:t>
            </a:r>
            <a:endParaRPr lang="en-US" sz="1100" dirty="0"/>
          </a:p>
        </p:txBody>
      </p:sp>
      <p:sp>
        <p:nvSpPr>
          <p:cNvPr id="11" name="Kapitelpunkt Gründung"/>
          <p:cNvSpPr/>
          <p:nvPr/>
        </p:nvSpPr>
        <p:spPr>
          <a:xfrm>
            <a:off x="6309360" y="6437376"/>
            <a:ext cx="109728" cy="109728"/>
          </a:xfrm>
          <a:prstGeom prst="ellipse">
            <a:avLst/>
          </a:prstGeom>
          <a:solidFill>
            <a:schemeClr val="accent5"/>
          </a:solidFill>
          <a:ln/>
        </p:spPr>
      </p:sp>
      <p:sp>
        <p:nvSpPr>
          <p:cNvPr id="12" name="Text 10"/>
          <p:cNvSpPr txBox="1"/>
          <p:nvPr/>
        </p:nvSpPr>
        <p:spPr>
          <a:xfrm>
            <a:off x="649224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Gründung</a:t>
            </a:r>
            <a:endParaRPr lang="en-US" sz="1100" dirty="0"/>
          </a:p>
        </p:txBody>
      </p:sp>
      <p:sp>
        <p:nvSpPr>
          <p:cNvPr id="14" name="Leitgedanke"/>
          <p:cNvSpPr/>
          <p:nvPr/>
        </p:nvSpPr>
        <p:spPr>
          <a:xfrm>
            <a:off x="640080" y="1463040"/>
            <a:ext cx="3749040" cy="4480560"/>
          </a:xfrm>
          <a:prstGeom prst="roundRect">
            <a:avLst>
              <a:gd name="adj" fmla="val 2927"/>
            </a:avLst>
          </a:prstGeom>
          <a:solidFill>
            <a:schemeClr val="accent1"/>
          </a:solidFill>
          <a:ln/>
        </p:spPr>
      </p:sp>
      <p:sp>
        <p:nvSpPr>
          <p:cNvPr id="15" name="Text 12"/>
          <p:cNvSpPr txBox="1"/>
          <p:nvPr/>
        </p:nvSpPr>
        <p:spPr>
          <a:xfrm>
            <a:off x="960120" y="1737360"/>
            <a:ext cx="3108960" cy="3931920"/>
          </a:xfrm>
          <a:prstGeom prst="rect">
            <a:avLst/>
          </a:prstGeom>
          <a:noFill/>
          <a:ln/>
        </p:spPr>
        <p:txBody>
          <a:bodyPr wrap="square" lIns="0" tIns="0" rIns="0" bIns="0" rtlCol="0" anchor="ctr"/>
          <a:lstStyle/>
          <a:p>
            <a:pPr indent="0" marL="0">
              <a:spcAft>
                <a:spcPts val="1400"/>
              </a:spcAft>
              <a:buNone/>
            </a:pPr>
            <a:r>
              <a:rPr lang="en-US" sz="3000" b="1" dirty="0">
                <a:solidFill>
                  <a:schemeClr val="bg1"/>
                </a:solidFill>
                <a:latin typeface="Cambria" pitchFamily="34" charset="0"/>
                <a:ea typeface="Cambria" pitchFamily="34" charset="-122"/>
                <a:cs typeface="Cambria" pitchFamily="34" charset="-120"/>
              </a:rPr>
              <a:t>Ein Getränk, dessen Rückseite man zu Ende lesen kann.</a:t>
            </a:r>
            <a:endParaRPr lang="en-US" sz="3000" dirty="0"/>
          </a:p>
          <a:p>
            <a:pPr indent="0" marL="0">
              <a:buNone/>
            </a:pPr>
            <a:r>
              <a:rPr lang="en-US" sz="1600" dirty="0">
                <a:solidFill>
                  <a:schemeClr val="bg2"/>
                </a:solidFill>
              </a:rPr>
              <a:t>Unsere einzige Vorgabe – daran haben wir bei der Gründung alles andere gemessen.</a:t>
            </a:r>
            <a:endParaRPr lang="en-US" sz="3000" dirty="0"/>
          </a:p>
        </p:txBody>
      </p:sp>
      <p:sp>
        <p:nvSpPr>
          <p:cNvPr id="16" name="Etikett Rückseite"/>
          <p:cNvSpPr/>
          <p:nvPr/>
        </p:nvSpPr>
        <p:spPr>
          <a:xfrm>
            <a:off x="4663440" y="1463040"/>
            <a:ext cx="3108960" cy="4480560"/>
          </a:xfrm>
          <a:prstGeom prst="roundRect">
            <a:avLst>
              <a:gd name="adj" fmla="val 2353"/>
            </a:avLst>
          </a:prstGeom>
          <a:solidFill>
            <a:schemeClr val="bg1"/>
          </a:solidFill>
          <a:ln w="25400">
            <a:solidFill>
              <a:schemeClr val="accent1"/>
            </a:solidFill>
            <a:prstDash val="solid"/>
          </a:ln>
          <a:effectLst>
            <a:outerShdw sx="100000" sy="100000" kx="0" ky="0" algn="bl" rotWithShape="0" blurRad="101600" dist="38100" dir="5400000">
              <a:srgbClr val="1B2A2F">
                <a:alpha val="18000"/>
              </a:srgbClr>
            </a:outerShdw>
          </a:effectLst>
        </p:spPr>
      </p:sp>
      <p:sp>
        <p:nvSpPr>
          <p:cNvPr id="17" name="Text 14"/>
          <p:cNvSpPr txBox="1"/>
          <p:nvPr/>
        </p:nvSpPr>
        <p:spPr>
          <a:xfrm>
            <a:off x="4937760" y="1691640"/>
            <a:ext cx="256032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RÜCKSEITE</a:t>
            </a:r>
            <a:endParaRPr lang="en-US" sz="1200" dirty="0"/>
          </a:p>
        </p:txBody>
      </p:sp>
      <p:sp>
        <p:nvSpPr>
          <p:cNvPr id="18" name="Text 15"/>
          <p:cNvSpPr txBox="1"/>
          <p:nvPr/>
        </p:nvSpPr>
        <p:spPr>
          <a:xfrm>
            <a:off x="4937760" y="1965960"/>
            <a:ext cx="256032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Zutaten</a:t>
            </a:r>
            <a:endParaRPr lang="en-US" sz="2200" dirty="0"/>
          </a:p>
        </p:txBody>
      </p:sp>
      <p:sp>
        <p:nvSpPr>
          <p:cNvPr id="19" name="Punkt Wasser"/>
          <p:cNvSpPr/>
          <p:nvPr/>
        </p:nvSpPr>
        <p:spPr>
          <a:xfrm>
            <a:off x="4956048" y="2660904"/>
            <a:ext cx="128016" cy="128016"/>
          </a:xfrm>
          <a:prstGeom prst="ellipse">
            <a:avLst/>
          </a:prstGeom>
          <a:solidFill>
            <a:schemeClr val="accent3"/>
          </a:solidFill>
          <a:ln/>
        </p:spPr>
      </p:sp>
      <p:sp>
        <p:nvSpPr>
          <p:cNvPr id="20" name="Text 17"/>
          <p:cNvSpPr txBox="1"/>
          <p:nvPr/>
        </p:nvSpPr>
        <p:spPr>
          <a:xfrm>
            <a:off x="5212080" y="2560320"/>
            <a:ext cx="2286000" cy="329184"/>
          </a:xfrm>
          <a:prstGeom prst="rect">
            <a:avLst/>
          </a:prstGeom>
          <a:noFill/>
          <a:ln/>
        </p:spPr>
        <p:txBody>
          <a:bodyPr wrap="square" lIns="0" tIns="0" rIns="0" bIns="0" rtlCol="0" anchor="ctr"/>
          <a:lstStyle/>
          <a:p>
            <a:pPr indent="0" marL="0">
              <a:buNone/>
            </a:pPr>
            <a:r>
              <a:rPr lang="en-US" sz="1600" dirty="0">
                <a:solidFill>
                  <a:schemeClr val="tx1"/>
                </a:solidFill>
              </a:rPr>
              <a:t>Wasser</a:t>
            </a:r>
            <a:endParaRPr lang="en-US" sz="1600" dirty="0"/>
          </a:p>
        </p:txBody>
      </p:sp>
      <p:sp>
        <p:nvSpPr>
          <p:cNvPr id="21" name="Punkt Kohlensäure"/>
          <p:cNvSpPr/>
          <p:nvPr/>
        </p:nvSpPr>
        <p:spPr>
          <a:xfrm>
            <a:off x="4956048" y="3044952"/>
            <a:ext cx="128016" cy="128016"/>
          </a:xfrm>
          <a:prstGeom prst="ellipse">
            <a:avLst/>
          </a:prstGeom>
          <a:solidFill>
            <a:schemeClr val="accent3"/>
          </a:solidFill>
          <a:ln/>
        </p:spPr>
      </p:sp>
      <p:sp>
        <p:nvSpPr>
          <p:cNvPr id="22" name="Text 19"/>
          <p:cNvSpPr txBox="1"/>
          <p:nvPr/>
        </p:nvSpPr>
        <p:spPr>
          <a:xfrm>
            <a:off x="5212080" y="2944368"/>
            <a:ext cx="2286000" cy="329184"/>
          </a:xfrm>
          <a:prstGeom prst="rect">
            <a:avLst/>
          </a:prstGeom>
          <a:noFill/>
          <a:ln/>
        </p:spPr>
        <p:txBody>
          <a:bodyPr wrap="square" lIns="0" tIns="0" rIns="0" bIns="0" rtlCol="0" anchor="ctr"/>
          <a:lstStyle/>
          <a:p>
            <a:pPr indent="0" marL="0">
              <a:buNone/>
            </a:pPr>
            <a:r>
              <a:rPr lang="en-US" sz="1600" dirty="0">
                <a:solidFill>
                  <a:schemeClr val="tx1"/>
                </a:solidFill>
              </a:rPr>
              <a:t>Kohlensäure</a:t>
            </a:r>
            <a:endParaRPr lang="en-US" sz="1600" dirty="0"/>
          </a:p>
        </p:txBody>
      </p:sp>
      <p:sp>
        <p:nvSpPr>
          <p:cNvPr id="23" name="Punkt Tamarinde"/>
          <p:cNvSpPr/>
          <p:nvPr/>
        </p:nvSpPr>
        <p:spPr>
          <a:xfrm>
            <a:off x="4956048" y="3429000"/>
            <a:ext cx="128016" cy="128016"/>
          </a:xfrm>
          <a:prstGeom prst="ellipse">
            <a:avLst/>
          </a:prstGeom>
          <a:solidFill>
            <a:schemeClr val="accent3"/>
          </a:solidFill>
          <a:ln/>
        </p:spPr>
      </p:sp>
      <p:sp>
        <p:nvSpPr>
          <p:cNvPr id="24" name="Text 21"/>
          <p:cNvSpPr txBox="1"/>
          <p:nvPr/>
        </p:nvSpPr>
        <p:spPr>
          <a:xfrm>
            <a:off x="5212080" y="3328416"/>
            <a:ext cx="2286000" cy="329184"/>
          </a:xfrm>
          <a:prstGeom prst="rect">
            <a:avLst/>
          </a:prstGeom>
          <a:noFill/>
          <a:ln/>
        </p:spPr>
        <p:txBody>
          <a:bodyPr wrap="square" lIns="0" tIns="0" rIns="0" bIns="0" rtlCol="0" anchor="ctr"/>
          <a:lstStyle/>
          <a:p>
            <a:pPr indent="0" marL="0">
              <a:buNone/>
            </a:pPr>
            <a:r>
              <a:rPr lang="en-US" sz="1600" dirty="0">
                <a:solidFill>
                  <a:schemeClr val="tx1"/>
                </a:solidFill>
              </a:rPr>
              <a:t>Tamarinde</a:t>
            </a:r>
            <a:endParaRPr lang="en-US" sz="1600" dirty="0"/>
          </a:p>
        </p:txBody>
      </p:sp>
      <p:sp>
        <p:nvSpPr>
          <p:cNvPr id="25" name="Punkt Limettensaft"/>
          <p:cNvSpPr/>
          <p:nvPr/>
        </p:nvSpPr>
        <p:spPr>
          <a:xfrm>
            <a:off x="4956048" y="3813048"/>
            <a:ext cx="128016" cy="128016"/>
          </a:xfrm>
          <a:prstGeom prst="ellipse">
            <a:avLst/>
          </a:prstGeom>
          <a:solidFill>
            <a:schemeClr val="accent3"/>
          </a:solidFill>
          <a:ln/>
        </p:spPr>
      </p:sp>
      <p:sp>
        <p:nvSpPr>
          <p:cNvPr id="26" name="Text 23"/>
          <p:cNvSpPr txBox="1"/>
          <p:nvPr/>
        </p:nvSpPr>
        <p:spPr>
          <a:xfrm>
            <a:off x="5212080" y="3712464"/>
            <a:ext cx="2286000" cy="329184"/>
          </a:xfrm>
          <a:prstGeom prst="rect">
            <a:avLst/>
          </a:prstGeom>
          <a:noFill/>
          <a:ln/>
        </p:spPr>
        <p:txBody>
          <a:bodyPr wrap="square" lIns="0" tIns="0" rIns="0" bIns="0" rtlCol="0" anchor="ctr"/>
          <a:lstStyle/>
          <a:p>
            <a:pPr indent="0" marL="0">
              <a:buNone/>
            </a:pPr>
            <a:r>
              <a:rPr lang="en-US" sz="1600" dirty="0">
                <a:solidFill>
                  <a:schemeClr val="tx1"/>
                </a:solidFill>
              </a:rPr>
              <a:t>Limettensaft</a:t>
            </a:r>
            <a:endParaRPr lang="en-US" sz="1600" dirty="0"/>
          </a:p>
        </p:txBody>
      </p:sp>
      <p:sp>
        <p:nvSpPr>
          <p:cNvPr id="27" name="Punkt Meersalz"/>
          <p:cNvSpPr/>
          <p:nvPr/>
        </p:nvSpPr>
        <p:spPr>
          <a:xfrm>
            <a:off x="4956048" y="4197096"/>
            <a:ext cx="128016" cy="128016"/>
          </a:xfrm>
          <a:prstGeom prst="ellipse">
            <a:avLst/>
          </a:prstGeom>
          <a:solidFill>
            <a:schemeClr val="accent3"/>
          </a:solidFill>
          <a:ln/>
        </p:spPr>
      </p:sp>
      <p:sp>
        <p:nvSpPr>
          <p:cNvPr id="28" name="Text 25"/>
          <p:cNvSpPr txBox="1"/>
          <p:nvPr/>
        </p:nvSpPr>
        <p:spPr>
          <a:xfrm>
            <a:off x="5212080" y="4096512"/>
            <a:ext cx="2286000" cy="329184"/>
          </a:xfrm>
          <a:prstGeom prst="rect">
            <a:avLst/>
          </a:prstGeom>
          <a:noFill/>
          <a:ln/>
        </p:spPr>
        <p:txBody>
          <a:bodyPr wrap="square" lIns="0" tIns="0" rIns="0" bIns="0" rtlCol="0" anchor="ctr"/>
          <a:lstStyle/>
          <a:p>
            <a:pPr indent="0" marL="0">
              <a:buNone/>
            </a:pPr>
            <a:r>
              <a:rPr lang="en-US" sz="1600" dirty="0">
                <a:solidFill>
                  <a:schemeClr val="tx1"/>
                </a:solidFill>
              </a:rPr>
              <a:t>Meersalz</a:t>
            </a:r>
            <a:endParaRPr lang="en-US" sz="1600" dirty="0"/>
          </a:p>
        </p:txBody>
      </p:sp>
      <p:sp>
        <p:nvSpPr>
          <p:cNvPr id="29" name="Punkt Magnesium"/>
          <p:cNvSpPr/>
          <p:nvPr/>
        </p:nvSpPr>
        <p:spPr>
          <a:xfrm>
            <a:off x="4956048" y="4581144"/>
            <a:ext cx="128016" cy="128016"/>
          </a:xfrm>
          <a:prstGeom prst="ellipse">
            <a:avLst/>
          </a:prstGeom>
          <a:solidFill>
            <a:schemeClr val="accent3"/>
          </a:solidFill>
          <a:ln/>
        </p:spPr>
      </p:sp>
      <p:sp>
        <p:nvSpPr>
          <p:cNvPr id="30" name="Text 27"/>
          <p:cNvSpPr txBox="1"/>
          <p:nvPr/>
        </p:nvSpPr>
        <p:spPr>
          <a:xfrm>
            <a:off x="5212080" y="4480560"/>
            <a:ext cx="2286000" cy="329184"/>
          </a:xfrm>
          <a:prstGeom prst="rect">
            <a:avLst/>
          </a:prstGeom>
          <a:noFill/>
          <a:ln/>
        </p:spPr>
        <p:txBody>
          <a:bodyPr wrap="square" lIns="0" tIns="0" rIns="0" bIns="0" rtlCol="0" anchor="ctr"/>
          <a:lstStyle/>
          <a:p>
            <a:pPr indent="0" marL="0">
              <a:buNone/>
            </a:pPr>
            <a:r>
              <a:rPr lang="en-US" sz="1600" dirty="0">
                <a:solidFill>
                  <a:schemeClr val="tx1"/>
                </a:solidFill>
              </a:rPr>
              <a:t>Magnesium</a:t>
            </a:r>
            <a:endParaRPr lang="en-US" sz="1600" dirty="0"/>
          </a:p>
        </p:txBody>
      </p:sp>
      <p:sp>
        <p:nvSpPr>
          <p:cNvPr id="31" name="Text 28"/>
          <p:cNvSpPr txBox="1"/>
          <p:nvPr/>
        </p:nvSpPr>
        <p:spPr>
          <a:xfrm>
            <a:off x="4937760" y="5074920"/>
            <a:ext cx="2560320" cy="457200"/>
          </a:xfrm>
          <a:prstGeom prst="rect">
            <a:avLst/>
          </a:prstGeom>
          <a:noFill/>
          <a:ln/>
        </p:spPr>
        <p:txBody>
          <a:bodyPr wrap="square" lIns="0" tIns="0" rIns="0" bIns="0" rtlCol="0" anchor="ctr"/>
          <a:lstStyle/>
          <a:p>
            <a:pPr indent="0" marL="0">
              <a:buNone/>
            </a:pPr>
            <a:r>
              <a:rPr lang="en-US" sz="1600" b="1" i="1" dirty="0">
                <a:solidFill>
                  <a:schemeClr val="accent2"/>
                </a:solidFill>
              </a:rPr>
              <a:t>6 Zutaten. Mehr nicht.</a:t>
            </a:r>
            <a:endParaRPr lang="en-US" sz="1600" dirty="0"/>
          </a:p>
        </p:txBody>
      </p:sp>
      <p:sp>
        <p:nvSpPr>
          <p:cNvPr id="32" name="Karte Unternehmen"/>
          <p:cNvSpPr/>
          <p:nvPr/>
        </p:nvSpPr>
        <p:spPr>
          <a:xfrm>
            <a:off x="8046720" y="1463040"/>
            <a:ext cx="3474720" cy="1371600"/>
          </a:xfrm>
          <a:prstGeom prst="roundRect">
            <a:avLst>
              <a:gd name="adj" fmla="val 8000"/>
            </a:avLst>
          </a:prstGeom>
          <a:solidFill>
            <a:schemeClr val="bg2"/>
          </a:solidFill>
          <a:ln/>
        </p:spPr>
      </p:sp>
      <p:sp>
        <p:nvSpPr>
          <p:cNvPr id="33" name="Icon-Kreis FaBuilding"/>
          <p:cNvSpPr/>
          <p:nvPr/>
        </p:nvSpPr>
        <p:spPr>
          <a:xfrm>
            <a:off x="8275320" y="1828800"/>
            <a:ext cx="640080" cy="640080"/>
          </a:xfrm>
          <a:prstGeom prst="ellipse">
            <a:avLst/>
          </a:prstGeom>
          <a:solidFill>
            <a:schemeClr val="accent1"/>
          </a:solidFill>
          <a:ln/>
        </p:spPr>
      </p:sp>
      <p:pic>
        <p:nvPicPr>
          <p:cNvPr id="34" name="Icon FaBuilding" descr="Symbol Building">    </p:cNvPr>
          <p:cNvPicPr>
            <a:picLocks noChangeAspect="1"/>
          </p:cNvPicPr>
          <p:nvPr/>
        </p:nvPicPr>
        <p:blipFill>
          <a:blip r:embed="rId1"/>
          <a:stretch>
            <a:fillRect/>
          </a:stretch>
        </p:blipFill>
        <p:spPr>
          <a:xfrm>
            <a:off x="8448142" y="2001622"/>
            <a:ext cx="294437" cy="294437"/>
          </a:xfrm>
          <a:prstGeom prst="rect">
            <a:avLst/>
          </a:prstGeom>
        </p:spPr>
      </p:pic>
      <p:sp>
        <p:nvSpPr>
          <p:cNvPr id="35" name="Text 31"/>
          <p:cNvSpPr txBox="1"/>
          <p:nvPr/>
        </p:nvSpPr>
        <p:spPr>
          <a:xfrm>
            <a:off x="9098280" y="1463040"/>
            <a:ext cx="2286000" cy="1371600"/>
          </a:xfrm>
          <a:prstGeom prst="rect">
            <a:avLst/>
          </a:prstGeom>
          <a:noFill/>
          <a:ln/>
        </p:spPr>
        <p:txBody>
          <a:bodyPr wrap="square" lIns="0" tIns="0" rIns="0" bIns="0" rtlCol="0" anchor="ctr"/>
          <a:lstStyle/>
          <a:p>
            <a:pPr indent="0" marL="0">
              <a:buNone/>
            </a:pPr>
            <a:r>
              <a:rPr lang="en-US" sz="1800" b="1" dirty="0">
                <a:solidFill>
                  <a:schemeClr val="tx2"/>
                </a:solidFill>
              </a:rPr>
              <a:t>Unternehmen</a:t>
            </a:r>
            <a:endParaRPr lang="en-US" sz="1800" dirty="0"/>
          </a:p>
          <a:p>
            <a:pPr indent="0" marL="0">
              <a:buNone/>
            </a:pPr>
            <a:r>
              <a:rPr lang="en-US" sz="1400" dirty="0">
                <a:solidFill>
                  <a:schemeClr val="tx1"/>
                </a:solidFill>
              </a:rPr>
              <a:t>Elbharz Getränke GbR, Hamburg – 4 Gesellschafter</a:t>
            </a:r>
            <a:endParaRPr lang="en-US" sz="1800" dirty="0"/>
          </a:p>
        </p:txBody>
      </p:sp>
      <p:sp>
        <p:nvSpPr>
          <p:cNvPr id="36" name="Karte Zielgruppe"/>
          <p:cNvSpPr/>
          <p:nvPr/>
        </p:nvSpPr>
        <p:spPr>
          <a:xfrm>
            <a:off x="8046720" y="3017520"/>
            <a:ext cx="3474720" cy="1371600"/>
          </a:xfrm>
          <a:prstGeom prst="roundRect">
            <a:avLst>
              <a:gd name="adj" fmla="val 8000"/>
            </a:avLst>
          </a:prstGeom>
          <a:solidFill>
            <a:schemeClr val="bg2"/>
          </a:solidFill>
          <a:ln/>
        </p:spPr>
      </p:sp>
      <p:sp>
        <p:nvSpPr>
          <p:cNvPr id="37" name="Icon-Kreis FaUserAlt"/>
          <p:cNvSpPr/>
          <p:nvPr/>
        </p:nvSpPr>
        <p:spPr>
          <a:xfrm>
            <a:off x="8275320" y="3383280"/>
            <a:ext cx="640080" cy="640080"/>
          </a:xfrm>
          <a:prstGeom prst="ellipse">
            <a:avLst/>
          </a:prstGeom>
          <a:solidFill>
            <a:schemeClr val="accent2"/>
          </a:solidFill>
          <a:ln/>
        </p:spPr>
      </p:sp>
      <p:pic>
        <p:nvPicPr>
          <p:cNvPr id="38" name="Icon FaUserAlt" descr="Symbol UserAlt">    </p:cNvPr>
          <p:cNvPicPr>
            <a:picLocks noChangeAspect="1"/>
          </p:cNvPicPr>
          <p:nvPr/>
        </p:nvPicPr>
        <p:blipFill>
          <a:blip r:embed="rId2"/>
          <a:stretch>
            <a:fillRect/>
          </a:stretch>
        </p:blipFill>
        <p:spPr>
          <a:xfrm>
            <a:off x="8448142" y="3556102"/>
            <a:ext cx="294437" cy="294437"/>
          </a:xfrm>
          <a:prstGeom prst="rect">
            <a:avLst/>
          </a:prstGeom>
        </p:spPr>
      </p:pic>
      <p:sp>
        <p:nvSpPr>
          <p:cNvPr id="39" name="Text 34"/>
          <p:cNvSpPr txBox="1"/>
          <p:nvPr/>
        </p:nvSpPr>
        <p:spPr>
          <a:xfrm>
            <a:off x="9098280" y="3017520"/>
            <a:ext cx="2286000" cy="1371600"/>
          </a:xfrm>
          <a:prstGeom prst="rect">
            <a:avLst/>
          </a:prstGeom>
          <a:noFill/>
          <a:ln/>
        </p:spPr>
        <p:txBody>
          <a:bodyPr wrap="square" lIns="0" tIns="0" rIns="0" bIns="0" rtlCol="0" anchor="ctr"/>
          <a:lstStyle/>
          <a:p>
            <a:pPr indent="0" marL="0">
              <a:buNone/>
            </a:pPr>
            <a:r>
              <a:rPr lang="en-US" sz="1800" b="1" dirty="0">
                <a:solidFill>
                  <a:schemeClr val="tx2"/>
                </a:solidFill>
              </a:rPr>
              <a:t>Zielgruppe</a:t>
            </a:r>
            <a:endParaRPr lang="en-US" sz="1800" dirty="0"/>
          </a:p>
          <a:p>
            <a:pPr indent="0" marL="0">
              <a:buNone/>
            </a:pPr>
            <a:r>
              <a:rPr lang="en-US" sz="1400" dirty="0">
                <a:solidFill>
                  <a:schemeClr val="tx1"/>
                </a:solidFill>
              </a:rPr>
              <a:t>16–25 Jahre, Persona Jasper (19): liest Zutatenlisten</a:t>
            </a:r>
            <a:endParaRPr lang="en-US" sz="1800" dirty="0"/>
          </a:p>
        </p:txBody>
      </p:sp>
      <p:sp>
        <p:nvSpPr>
          <p:cNvPr id="40" name="Karte Vertrieb"/>
          <p:cNvSpPr/>
          <p:nvPr/>
        </p:nvSpPr>
        <p:spPr>
          <a:xfrm>
            <a:off x="8046720" y="4572000"/>
            <a:ext cx="3474720" cy="1371600"/>
          </a:xfrm>
          <a:prstGeom prst="roundRect">
            <a:avLst>
              <a:gd name="adj" fmla="val 8000"/>
            </a:avLst>
          </a:prstGeom>
          <a:solidFill>
            <a:schemeClr val="bg2"/>
          </a:solidFill>
          <a:ln/>
        </p:spPr>
      </p:sp>
      <p:sp>
        <p:nvSpPr>
          <p:cNvPr id="41" name="Icon-Kreis FaStore"/>
          <p:cNvSpPr/>
          <p:nvPr/>
        </p:nvSpPr>
        <p:spPr>
          <a:xfrm>
            <a:off x="8275320" y="4937760"/>
            <a:ext cx="640080" cy="640080"/>
          </a:xfrm>
          <a:prstGeom prst="ellipse">
            <a:avLst/>
          </a:prstGeom>
          <a:solidFill>
            <a:schemeClr val="accent3"/>
          </a:solidFill>
          <a:ln/>
        </p:spPr>
      </p:sp>
      <p:pic>
        <p:nvPicPr>
          <p:cNvPr id="42" name="Icon FaStore" descr="Symbol Store">    </p:cNvPr>
          <p:cNvPicPr>
            <a:picLocks noChangeAspect="1"/>
          </p:cNvPicPr>
          <p:nvPr/>
        </p:nvPicPr>
        <p:blipFill>
          <a:blip r:embed="rId3"/>
          <a:stretch>
            <a:fillRect/>
          </a:stretch>
        </p:blipFill>
        <p:spPr>
          <a:xfrm>
            <a:off x="8448142" y="5110582"/>
            <a:ext cx="294437" cy="294437"/>
          </a:xfrm>
          <a:prstGeom prst="rect">
            <a:avLst/>
          </a:prstGeom>
        </p:spPr>
      </p:pic>
      <p:sp>
        <p:nvSpPr>
          <p:cNvPr id="43" name="Text 37"/>
          <p:cNvSpPr txBox="1"/>
          <p:nvPr/>
        </p:nvSpPr>
        <p:spPr>
          <a:xfrm>
            <a:off x="9098280" y="4572000"/>
            <a:ext cx="2286000" cy="1371600"/>
          </a:xfrm>
          <a:prstGeom prst="rect">
            <a:avLst/>
          </a:prstGeom>
          <a:noFill/>
          <a:ln/>
        </p:spPr>
        <p:txBody>
          <a:bodyPr wrap="square" lIns="0" tIns="0" rIns="0" bIns="0" rtlCol="0" anchor="ctr"/>
          <a:lstStyle/>
          <a:p>
            <a:pPr indent="0" marL="0">
              <a:buNone/>
            </a:pPr>
            <a:r>
              <a:rPr lang="en-US" sz="1800" b="1" dirty="0">
                <a:solidFill>
                  <a:schemeClr val="tx2"/>
                </a:solidFill>
              </a:rPr>
              <a:t>Vertrieb</a:t>
            </a:r>
            <a:endParaRPr lang="en-US" sz="1800" dirty="0"/>
          </a:p>
          <a:p>
            <a:pPr indent="0" marL="0">
              <a:buNone/>
            </a:pPr>
            <a:r>
              <a:rPr lang="en-US" sz="1400" dirty="0">
                <a:solidFill>
                  <a:schemeClr val="tx1"/>
                </a:solidFill>
              </a:rPr>
              <a:t>Online &amp; Social Media, dann regionaler Handel</a:t>
            </a:r>
            <a:endParaRPr lang="en-US" sz="18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Nachhaltigkeit war Teil der Idee</a:t>
            </a:r>
            <a:endParaRPr lang="en-US" sz="3600" dirty="0"/>
          </a:p>
        </p:txBody>
      </p:sp>
      <p:sp>
        <p:nvSpPr>
          <p:cNvPr id="3" name="Kapitelpunkt Einleitung"/>
          <p:cNvSpPr/>
          <p:nvPr/>
        </p:nvSpPr>
        <p:spPr>
          <a:xfrm>
            <a:off x="640080" y="6437376"/>
            <a:ext cx="109728" cy="109728"/>
          </a:xfrm>
          <a:prstGeom prst="ellipse">
            <a:avLst/>
          </a:prstGeom>
          <a:solidFill>
            <a:schemeClr val="accent2"/>
          </a:solidFill>
          <a:ln/>
        </p:spPr>
      </p:sp>
      <p:sp>
        <p:nvSpPr>
          <p:cNvPr id="4" name="Text 2"/>
          <p:cNvSpPr txBox="1"/>
          <p:nvPr/>
        </p:nvSpPr>
        <p:spPr>
          <a:xfrm>
            <a:off x="822960" y="6355080"/>
            <a:ext cx="1188720" cy="274320"/>
          </a:xfrm>
          <a:prstGeom prst="rect">
            <a:avLst/>
          </a:prstGeom>
          <a:noFill/>
          <a:ln/>
        </p:spPr>
        <p:txBody>
          <a:bodyPr wrap="square" lIns="0" tIns="0" rIns="0" bIns="0" rtlCol="0" anchor="ctr"/>
          <a:lstStyle/>
          <a:p>
            <a:pPr indent="0" marL="0">
              <a:buNone/>
            </a:pPr>
            <a:r>
              <a:rPr lang="en-US" sz="1100" b="1" dirty="0">
                <a:solidFill>
                  <a:schemeClr val="accent2"/>
                </a:solidFill>
              </a:rPr>
              <a:t>Einleitung</a:t>
            </a:r>
            <a:endParaRPr lang="en-US" sz="1100" dirty="0"/>
          </a:p>
        </p:txBody>
      </p:sp>
      <p:sp>
        <p:nvSpPr>
          <p:cNvPr id="5" name="Kapitelpunkt Verlauf"/>
          <p:cNvSpPr/>
          <p:nvPr/>
        </p:nvSpPr>
        <p:spPr>
          <a:xfrm>
            <a:off x="2057400" y="6437376"/>
            <a:ext cx="109728" cy="109728"/>
          </a:xfrm>
          <a:prstGeom prst="ellipse">
            <a:avLst/>
          </a:prstGeom>
          <a:solidFill>
            <a:schemeClr val="accent5"/>
          </a:solidFill>
          <a:ln/>
        </p:spPr>
      </p:sp>
      <p:sp>
        <p:nvSpPr>
          <p:cNvPr id="6" name="Text 4"/>
          <p:cNvSpPr txBox="1"/>
          <p:nvPr/>
        </p:nvSpPr>
        <p:spPr>
          <a:xfrm>
            <a:off x="224028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Verlauf</a:t>
            </a:r>
            <a:endParaRPr lang="en-US" sz="1100" dirty="0"/>
          </a:p>
        </p:txBody>
      </p:sp>
      <p:sp>
        <p:nvSpPr>
          <p:cNvPr id="7" name="Kapitelpunkt Auswertung"/>
          <p:cNvSpPr/>
          <p:nvPr/>
        </p:nvSpPr>
        <p:spPr>
          <a:xfrm>
            <a:off x="3474720" y="6437376"/>
            <a:ext cx="109728" cy="109728"/>
          </a:xfrm>
          <a:prstGeom prst="ellipse">
            <a:avLst/>
          </a:prstGeom>
          <a:solidFill>
            <a:schemeClr val="accent5"/>
          </a:solidFill>
          <a:ln/>
        </p:spPr>
      </p:sp>
      <p:sp>
        <p:nvSpPr>
          <p:cNvPr id="8" name="Text 6"/>
          <p:cNvSpPr txBox="1"/>
          <p:nvPr/>
        </p:nvSpPr>
        <p:spPr>
          <a:xfrm>
            <a:off x="365760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Auswertung</a:t>
            </a:r>
            <a:endParaRPr lang="en-US" sz="1100" dirty="0"/>
          </a:p>
        </p:txBody>
      </p:sp>
      <p:sp>
        <p:nvSpPr>
          <p:cNvPr id="9" name="Kapitelpunkt Reflexion"/>
          <p:cNvSpPr/>
          <p:nvPr/>
        </p:nvSpPr>
        <p:spPr>
          <a:xfrm>
            <a:off x="4892040" y="6437376"/>
            <a:ext cx="109728" cy="109728"/>
          </a:xfrm>
          <a:prstGeom prst="ellipse">
            <a:avLst/>
          </a:prstGeom>
          <a:solidFill>
            <a:schemeClr val="accent5"/>
          </a:solidFill>
          <a:ln/>
        </p:spPr>
      </p:sp>
      <p:sp>
        <p:nvSpPr>
          <p:cNvPr id="10" name="Text 8"/>
          <p:cNvSpPr txBox="1"/>
          <p:nvPr/>
        </p:nvSpPr>
        <p:spPr>
          <a:xfrm>
            <a:off x="507492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Reflexion</a:t>
            </a:r>
            <a:endParaRPr lang="en-US" sz="1100" dirty="0"/>
          </a:p>
        </p:txBody>
      </p:sp>
      <p:sp>
        <p:nvSpPr>
          <p:cNvPr id="11" name="Kapitelpunkt Gründung"/>
          <p:cNvSpPr/>
          <p:nvPr/>
        </p:nvSpPr>
        <p:spPr>
          <a:xfrm>
            <a:off x="6309360" y="6437376"/>
            <a:ext cx="109728" cy="109728"/>
          </a:xfrm>
          <a:prstGeom prst="ellipse">
            <a:avLst/>
          </a:prstGeom>
          <a:solidFill>
            <a:schemeClr val="accent5"/>
          </a:solidFill>
          <a:ln/>
        </p:spPr>
      </p:sp>
      <p:sp>
        <p:nvSpPr>
          <p:cNvPr id="12" name="Text 10"/>
          <p:cNvSpPr txBox="1"/>
          <p:nvPr/>
        </p:nvSpPr>
        <p:spPr>
          <a:xfrm>
            <a:off x="649224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Gründung</a:t>
            </a:r>
            <a:endParaRPr lang="en-US" sz="1100" dirty="0"/>
          </a:p>
        </p:txBody>
      </p:sp>
      <p:sp>
        <p:nvSpPr>
          <p:cNvPr id="14" name="Karte Mehrweg"/>
          <p:cNvSpPr/>
          <p:nvPr/>
        </p:nvSpPr>
        <p:spPr>
          <a:xfrm>
            <a:off x="640080" y="1463040"/>
            <a:ext cx="3520440" cy="3429000"/>
          </a:xfrm>
          <a:prstGeom prst="roundRect">
            <a:avLst>
              <a:gd name="adj" fmla="val 3200"/>
            </a:avLst>
          </a:prstGeom>
          <a:solidFill>
            <a:schemeClr val="bg2"/>
          </a:solidFill>
          <a:ln/>
        </p:spPr>
      </p:sp>
      <p:pic>
        <p:nvPicPr>
          <p:cNvPr id="15" name="Leere Flasche" descr="Leere Mehrwegflasche (Umriss)">    </p:cNvPr>
          <p:cNvPicPr>
            <a:picLocks noChangeAspect="1"/>
          </p:cNvPicPr>
          <p:nvPr/>
        </p:nvPicPr>
        <p:blipFill>
          <a:blip r:embed="rId1"/>
          <a:stretch>
            <a:fillRect/>
          </a:stretch>
        </p:blipFill>
        <p:spPr>
          <a:xfrm>
            <a:off x="2014514" y="1691640"/>
            <a:ext cx="771571" cy="1828800"/>
          </a:xfrm>
          <a:prstGeom prst="rect">
            <a:avLst/>
          </a:prstGeom>
        </p:spPr>
      </p:pic>
      <p:sp>
        <p:nvSpPr>
          <p:cNvPr id="16" name="Text 12"/>
          <p:cNvSpPr txBox="1"/>
          <p:nvPr/>
        </p:nvSpPr>
        <p:spPr>
          <a:xfrm>
            <a:off x="868680" y="3657600"/>
            <a:ext cx="3063240" cy="109728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Mehrweg-Glas</a:t>
            </a:r>
            <a:endParaRPr lang="en-US" sz="2000" dirty="0"/>
          </a:p>
          <a:p>
            <a:pPr indent="0" marL="0">
              <a:buNone/>
            </a:pPr>
            <a:r>
              <a:rPr lang="en-US" sz="1500" dirty="0">
                <a:solidFill>
                  <a:schemeClr val="tx1"/>
                </a:solidFill>
              </a:rPr>
              <a:t>Leere Flasche zurück, spülen, neu befüllen – Pfand statt Einweg</a:t>
            </a:r>
            <a:endParaRPr lang="en-US" sz="2000" dirty="0"/>
          </a:p>
        </p:txBody>
      </p:sp>
      <p:sp>
        <p:nvSpPr>
          <p:cNvPr id="17" name="Karte Regional"/>
          <p:cNvSpPr/>
          <p:nvPr/>
        </p:nvSpPr>
        <p:spPr>
          <a:xfrm>
            <a:off x="4320540" y="1463040"/>
            <a:ext cx="3520440" cy="3429000"/>
          </a:xfrm>
          <a:prstGeom prst="roundRect">
            <a:avLst>
              <a:gd name="adj" fmla="val 3200"/>
            </a:avLst>
          </a:prstGeom>
          <a:solidFill>
            <a:schemeClr val="bg2"/>
          </a:solidFill>
          <a:ln/>
        </p:spPr>
      </p:sp>
      <p:sp>
        <p:nvSpPr>
          <p:cNvPr id="18" name="Bildplatz Karte"/>
          <p:cNvSpPr/>
          <p:nvPr/>
        </p:nvSpPr>
        <p:spPr>
          <a:xfrm>
            <a:off x="4549140" y="1691640"/>
            <a:ext cx="3063240" cy="1828800"/>
          </a:xfrm>
          <a:prstGeom prst="roundRect">
            <a:avLst>
              <a:gd name="adj" fmla="val 6000"/>
            </a:avLst>
          </a:prstGeom>
          <a:solidFill>
            <a:schemeClr val="bg1"/>
          </a:solidFill>
          <a:ln w="15875">
            <a:solidFill>
              <a:schemeClr val="accent5"/>
            </a:solidFill>
            <a:prstDash val="dash"/>
          </a:ln>
        </p:spPr>
      </p:sp>
      <p:sp>
        <p:nvSpPr>
          <p:cNvPr id="19" name="Text 15"/>
          <p:cNvSpPr txBox="1"/>
          <p:nvPr/>
        </p:nvSpPr>
        <p:spPr>
          <a:xfrm>
            <a:off x="4686300" y="1691640"/>
            <a:ext cx="2788920" cy="1828800"/>
          </a:xfrm>
          <a:prstGeom prst="rect">
            <a:avLst/>
          </a:prstGeom>
          <a:noFill/>
          <a:ln/>
        </p:spPr>
        <p:txBody>
          <a:bodyPr wrap="square" lIns="0" tIns="0" rIns="0" bIns="0" rtlCol="0" anchor="ctr"/>
          <a:lstStyle/>
          <a:p>
            <a:pPr algn="ctr" indent="0" marL="0">
              <a:buNone/>
            </a:pPr>
            <a:r>
              <a:rPr lang="en-US" sz="1200" dirty="0">
                <a:solidFill>
                  <a:schemeClr val="accent4"/>
                </a:solidFill>
              </a:rPr>
              <a:t>BILD FOLGT: Karte Norddeutschland, Elbe rot markiert</a:t>
            </a:r>
            <a:endParaRPr lang="en-US" sz="1200" dirty="0"/>
          </a:p>
        </p:txBody>
      </p:sp>
      <p:sp>
        <p:nvSpPr>
          <p:cNvPr id="20" name="Text 16"/>
          <p:cNvSpPr txBox="1"/>
          <p:nvPr/>
        </p:nvSpPr>
        <p:spPr>
          <a:xfrm>
            <a:off x="4549140" y="3657600"/>
            <a:ext cx="3063240" cy="109728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Regional</a:t>
            </a:r>
            <a:endParaRPr lang="en-US" sz="2000" dirty="0"/>
          </a:p>
          <a:p>
            <a:pPr indent="0" marL="0">
              <a:buNone/>
            </a:pPr>
            <a:r>
              <a:rPr lang="en-US" sz="1500" dirty="0">
                <a:solidFill>
                  <a:schemeClr val="tx1"/>
                </a:solidFill>
              </a:rPr>
              <a:t>Hier hergestellt, hier abgefüllt – kurze Wege, damit Mehrweg sich lohnt</a:t>
            </a:r>
            <a:endParaRPr lang="en-US" sz="2000" dirty="0"/>
          </a:p>
        </p:txBody>
      </p:sp>
      <p:sp>
        <p:nvSpPr>
          <p:cNvPr id="21" name="Karte Eine Sorte"/>
          <p:cNvSpPr/>
          <p:nvPr/>
        </p:nvSpPr>
        <p:spPr>
          <a:xfrm>
            <a:off x="8001000" y="1463040"/>
            <a:ext cx="3520440" cy="3429000"/>
          </a:xfrm>
          <a:prstGeom prst="roundRect">
            <a:avLst>
              <a:gd name="adj" fmla="val 3200"/>
            </a:avLst>
          </a:prstGeom>
          <a:solidFill>
            <a:schemeClr val="bg2"/>
          </a:solidFill>
          <a:ln/>
        </p:spPr>
      </p:sp>
      <p:sp>
        <p:nvSpPr>
          <p:cNvPr id="22" name="Icon-Kreis FaIndustry"/>
          <p:cNvSpPr/>
          <p:nvPr/>
        </p:nvSpPr>
        <p:spPr>
          <a:xfrm>
            <a:off x="8321040" y="1783080"/>
            <a:ext cx="731520" cy="731520"/>
          </a:xfrm>
          <a:prstGeom prst="ellipse">
            <a:avLst/>
          </a:prstGeom>
          <a:solidFill>
            <a:schemeClr val="accent3"/>
          </a:solidFill>
          <a:ln/>
        </p:spPr>
      </p:sp>
      <p:pic>
        <p:nvPicPr>
          <p:cNvPr id="23" name="Icon FaIndustry" descr="Symbol Industry">    </p:cNvPr>
          <p:cNvPicPr>
            <a:picLocks noChangeAspect="1"/>
          </p:cNvPicPr>
          <p:nvPr/>
        </p:nvPicPr>
        <p:blipFill>
          <a:blip r:embed="rId2"/>
          <a:stretch>
            <a:fillRect/>
          </a:stretch>
        </p:blipFill>
        <p:spPr>
          <a:xfrm>
            <a:off x="8518550" y="1980590"/>
            <a:ext cx="336499" cy="336499"/>
          </a:xfrm>
          <a:prstGeom prst="rect">
            <a:avLst/>
          </a:prstGeom>
        </p:spPr>
      </p:pic>
      <p:sp>
        <p:nvSpPr>
          <p:cNvPr id="24" name="Text 19"/>
          <p:cNvSpPr txBox="1"/>
          <p:nvPr/>
        </p:nvSpPr>
        <p:spPr>
          <a:xfrm>
            <a:off x="8138160" y="2606040"/>
            <a:ext cx="1097280" cy="320040"/>
          </a:xfrm>
          <a:prstGeom prst="rect">
            <a:avLst/>
          </a:prstGeom>
          <a:noFill/>
          <a:ln/>
        </p:spPr>
        <p:txBody>
          <a:bodyPr wrap="square" lIns="0" tIns="0" rIns="0" bIns="0" rtlCol="0" anchor="ctr"/>
          <a:lstStyle/>
          <a:p>
            <a:pPr algn="ctr" indent="0" marL="0">
              <a:buNone/>
            </a:pPr>
            <a:r>
              <a:rPr lang="en-US" sz="1300" dirty="0">
                <a:solidFill>
                  <a:schemeClr val="tx1"/>
                </a:solidFill>
              </a:rPr>
              <a:t>Produktion</a:t>
            </a:r>
            <a:endParaRPr lang="en-US" sz="1300" dirty="0"/>
          </a:p>
        </p:txBody>
      </p:sp>
      <p:sp>
        <p:nvSpPr>
          <p:cNvPr id="25" name="Text 20"/>
          <p:cNvSpPr txBox="1"/>
          <p:nvPr/>
        </p:nvSpPr>
        <p:spPr>
          <a:xfrm>
            <a:off x="9052560" y="1874520"/>
            <a:ext cx="320040" cy="548640"/>
          </a:xfrm>
          <a:prstGeom prst="rect">
            <a:avLst/>
          </a:prstGeom>
          <a:noFill/>
          <a:ln/>
        </p:spPr>
        <p:txBody>
          <a:bodyPr wrap="square" lIns="0" tIns="0" rIns="0" bIns="0" rtlCol="0" anchor="ctr"/>
          <a:lstStyle/>
          <a:p>
            <a:pPr algn="ctr" indent="0" marL="0">
              <a:buNone/>
            </a:pPr>
            <a:r>
              <a:rPr lang="en-US" sz="2800" b="1" dirty="0">
                <a:solidFill>
                  <a:schemeClr val="accent3"/>
                </a:solidFill>
              </a:rPr>
              <a:t>›</a:t>
            </a:r>
            <a:endParaRPr lang="en-US" sz="2800" dirty="0"/>
          </a:p>
        </p:txBody>
      </p:sp>
      <p:sp>
        <p:nvSpPr>
          <p:cNvPr id="26" name="Icon-Kreis FaWarehouse"/>
          <p:cNvSpPr/>
          <p:nvPr/>
        </p:nvSpPr>
        <p:spPr>
          <a:xfrm>
            <a:off x="9372600" y="1783080"/>
            <a:ext cx="731520" cy="731520"/>
          </a:xfrm>
          <a:prstGeom prst="ellipse">
            <a:avLst/>
          </a:prstGeom>
          <a:solidFill>
            <a:schemeClr val="accent3"/>
          </a:solidFill>
          <a:ln/>
        </p:spPr>
      </p:sp>
      <p:pic>
        <p:nvPicPr>
          <p:cNvPr id="27" name="Icon FaWarehouse" descr="Symbol Warehouse">    </p:cNvPr>
          <p:cNvPicPr>
            <a:picLocks noChangeAspect="1"/>
          </p:cNvPicPr>
          <p:nvPr/>
        </p:nvPicPr>
        <p:blipFill>
          <a:blip r:embed="rId3"/>
          <a:stretch>
            <a:fillRect/>
          </a:stretch>
        </p:blipFill>
        <p:spPr>
          <a:xfrm>
            <a:off x="9570110" y="1980590"/>
            <a:ext cx="336499" cy="336499"/>
          </a:xfrm>
          <a:prstGeom prst="rect">
            <a:avLst/>
          </a:prstGeom>
        </p:spPr>
      </p:pic>
      <p:sp>
        <p:nvSpPr>
          <p:cNvPr id="28" name="Text 22"/>
          <p:cNvSpPr txBox="1"/>
          <p:nvPr/>
        </p:nvSpPr>
        <p:spPr>
          <a:xfrm>
            <a:off x="9189720" y="2606040"/>
            <a:ext cx="1097280" cy="320040"/>
          </a:xfrm>
          <a:prstGeom prst="rect">
            <a:avLst/>
          </a:prstGeom>
          <a:noFill/>
          <a:ln/>
        </p:spPr>
        <p:txBody>
          <a:bodyPr wrap="square" lIns="0" tIns="0" rIns="0" bIns="0" rtlCol="0" anchor="ctr"/>
          <a:lstStyle/>
          <a:p>
            <a:pPr algn="ctr" indent="0" marL="0">
              <a:buNone/>
            </a:pPr>
            <a:r>
              <a:rPr lang="en-US" sz="1300" dirty="0">
                <a:solidFill>
                  <a:schemeClr val="tx1"/>
                </a:solidFill>
              </a:rPr>
              <a:t>Lager</a:t>
            </a:r>
            <a:endParaRPr lang="en-US" sz="1300" dirty="0"/>
          </a:p>
        </p:txBody>
      </p:sp>
      <p:sp>
        <p:nvSpPr>
          <p:cNvPr id="29" name="Text 23"/>
          <p:cNvSpPr txBox="1"/>
          <p:nvPr/>
        </p:nvSpPr>
        <p:spPr>
          <a:xfrm>
            <a:off x="10104120" y="1874520"/>
            <a:ext cx="320040" cy="548640"/>
          </a:xfrm>
          <a:prstGeom prst="rect">
            <a:avLst/>
          </a:prstGeom>
          <a:noFill/>
          <a:ln/>
        </p:spPr>
        <p:txBody>
          <a:bodyPr wrap="square" lIns="0" tIns="0" rIns="0" bIns="0" rtlCol="0" anchor="ctr"/>
          <a:lstStyle/>
          <a:p>
            <a:pPr algn="ctr" indent="0" marL="0">
              <a:buNone/>
            </a:pPr>
            <a:r>
              <a:rPr lang="en-US" sz="2800" b="1" dirty="0">
                <a:solidFill>
                  <a:schemeClr val="accent3"/>
                </a:solidFill>
              </a:rPr>
              <a:t>›</a:t>
            </a:r>
            <a:endParaRPr lang="en-US" sz="2800" dirty="0"/>
          </a:p>
        </p:txBody>
      </p:sp>
      <p:sp>
        <p:nvSpPr>
          <p:cNvPr id="30" name="Icon-Kreis FaTruck"/>
          <p:cNvSpPr/>
          <p:nvPr/>
        </p:nvSpPr>
        <p:spPr>
          <a:xfrm>
            <a:off x="10424160" y="1783080"/>
            <a:ext cx="731520" cy="731520"/>
          </a:xfrm>
          <a:prstGeom prst="ellipse">
            <a:avLst/>
          </a:prstGeom>
          <a:solidFill>
            <a:schemeClr val="accent3"/>
          </a:solidFill>
          <a:ln/>
        </p:spPr>
      </p:sp>
      <p:pic>
        <p:nvPicPr>
          <p:cNvPr id="31" name="Icon FaTruck" descr="Symbol Truck">    </p:cNvPr>
          <p:cNvPicPr>
            <a:picLocks noChangeAspect="1"/>
          </p:cNvPicPr>
          <p:nvPr/>
        </p:nvPicPr>
        <p:blipFill>
          <a:blip r:embed="rId4"/>
          <a:stretch>
            <a:fillRect/>
          </a:stretch>
        </p:blipFill>
        <p:spPr>
          <a:xfrm>
            <a:off x="10621670" y="1980590"/>
            <a:ext cx="336499" cy="336499"/>
          </a:xfrm>
          <a:prstGeom prst="rect">
            <a:avLst/>
          </a:prstGeom>
        </p:spPr>
      </p:pic>
      <p:sp>
        <p:nvSpPr>
          <p:cNvPr id="32" name="Text 25"/>
          <p:cNvSpPr txBox="1"/>
          <p:nvPr/>
        </p:nvSpPr>
        <p:spPr>
          <a:xfrm>
            <a:off x="10241280" y="2606040"/>
            <a:ext cx="1097280" cy="320040"/>
          </a:xfrm>
          <a:prstGeom prst="rect">
            <a:avLst/>
          </a:prstGeom>
          <a:noFill/>
          <a:ln/>
        </p:spPr>
        <p:txBody>
          <a:bodyPr wrap="square" lIns="0" tIns="0" rIns="0" bIns="0" rtlCol="0" anchor="ctr"/>
          <a:lstStyle/>
          <a:p>
            <a:pPr algn="ctr" indent="0" marL="0">
              <a:buNone/>
            </a:pPr>
            <a:r>
              <a:rPr lang="en-US" sz="1300" dirty="0">
                <a:solidFill>
                  <a:schemeClr val="tx1"/>
                </a:solidFill>
              </a:rPr>
              <a:t>Transport</a:t>
            </a:r>
            <a:endParaRPr lang="en-US" sz="1300" dirty="0"/>
          </a:p>
        </p:txBody>
      </p:sp>
      <p:sp>
        <p:nvSpPr>
          <p:cNvPr id="33" name="Text 26"/>
          <p:cNvSpPr txBox="1"/>
          <p:nvPr/>
        </p:nvSpPr>
        <p:spPr>
          <a:xfrm>
            <a:off x="8229600" y="3657600"/>
            <a:ext cx="3063240" cy="109728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Eine Sorte</a:t>
            </a:r>
            <a:endParaRPr lang="en-US" sz="2000" dirty="0"/>
          </a:p>
          <a:p>
            <a:pPr indent="0" marL="0">
              <a:buNone/>
            </a:pPr>
            <a:r>
              <a:rPr lang="en-US" sz="1500" dirty="0">
                <a:solidFill>
                  <a:schemeClr val="tx1"/>
                </a:solidFill>
              </a:rPr>
              <a:t>Weniger Aufwand in jedem dieser drei Schritte</a:t>
            </a:r>
            <a:endParaRPr lang="en-US" sz="2000" dirty="0"/>
          </a:p>
        </p:txBody>
      </p:sp>
      <p:sp>
        <p:nvSpPr>
          <p:cNvPr id="34" name="Hinweis Spiel"/>
          <p:cNvSpPr/>
          <p:nvPr/>
        </p:nvSpPr>
        <p:spPr>
          <a:xfrm>
            <a:off x="640080" y="5120640"/>
            <a:ext cx="10881360" cy="960120"/>
          </a:xfrm>
          <a:prstGeom prst="roundRect">
            <a:avLst>
              <a:gd name="adj" fmla="val 11429"/>
            </a:avLst>
          </a:prstGeom>
          <a:solidFill>
            <a:schemeClr val="accent1"/>
          </a:solidFill>
          <a:ln/>
        </p:spPr>
      </p:sp>
      <p:sp>
        <p:nvSpPr>
          <p:cNvPr id="35" name="Text 28"/>
          <p:cNvSpPr txBox="1"/>
          <p:nvPr/>
        </p:nvSpPr>
        <p:spPr>
          <a:xfrm>
            <a:off x="914400" y="5120640"/>
            <a:ext cx="10424160" cy="960120"/>
          </a:xfrm>
          <a:prstGeom prst="rect">
            <a:avLst/>
          </a:prstGeom>
          <a:noFill/>
          <a:ln/>
        </p:spPr>
        <p:txBody>
          <a:bodyPr wrap="square" lIns="0" tIns="0" rIns="0" bIns="0" rtlCol="0" anchor="ctr"/>
          <a:lstStyle/>
          <a:p>
            <a:pPr indent="0" marL="0">
              <a:buNone/>
            </a:pPr>
            <a:r>
              <a:rPr lang="en-US" sz="1700" b="1" dirty="0">
                <a:solidFill>
                  <a:schemeClr val="accent2"/>
                </a:solidFill>
              </a:rPr>
              <a:t>Und im Planspiel? </a:t>
            </a:r>
            <a:pPr indent="0" marL="0">
              <a:buNone/>
            </a:pPr>
            <a:r>
              <a:rPr lang="en-US" sz="1700" dirty="0">
                <a:solidFill>
                  <a:schemeClr val="bg1"/>
                </a:solidFill>
              </a:rPr>
              <a:t>Dort entschied nur der Preis über den Absatz – Nachhaltigkeit kam nicht vor. Mehr dazu am Ende.</a:t>
            </a:r>
            <a:endParaRPr lang="en-US" sz="17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Produziert, angeboten, verkauft</a:t>
            </a:r>
            <a:endParaRPr lang="en-US" sz="3600" dirty="0"/>
          </a:p>
        </p:txBody>
      </p:sp>
      <p:sp>
        <p:nvSpPr>
          <p:cNvPr id="3" name="Kapitelpunkt Einleitung"/>
          <p:cNvSpPr/>
          <p:nvPr/>
        </p:nvSpPr>
        <p:spPr>
          <a:xfrm>
            <a:off x="640080" y="6437376"/>
            <a:ext cx="109728" cy="109728"/>
          </a:xfrm>
          <a:prstGeom prst="ellipse">
            <a:avLst/>
          </a:prstGeom>
          <a:solidFill>
            <a:schemeClr val="accent5"/>
          </a:solidFill>
          <a:ln/>
        </p:spPr>
      </p:sp>
      <p:sp>
        <p:nvSpPr>
          <p:cNvPr id="4" name="Text 2"/>
          <p:cNvSpPr txBox="1"/>
          <p:nvPr/>
        </p:nvSpPr>
        <p:spPr>
          <a:xfrm>
            <a:off x="82296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Einleitung</a:t>
            </a:r>
            <a:endParaRPr lang="en-US" sz="1100" dirty="0"/>
          </a:p>
        </p:txBody>
      </p:sp>
      <p:sp>
        <p:nvSpPr>
          <p:cNvPr id="5" name="Kapitelpunkt Verlauf"/>
          <p:cNvSpPr/>
          <p:nvPr/>
        </p:nvSpPr>
        <p:spPr>
          <a:xfrm>
            <a:off x="2057400" y="6437376"/>
            <a:ext cx="109728" cy="109728"/>
          </a:xfrm>
          <a:prstGeom prst="ellipse">
            <a:avLst/>
          </a:prstGeom>
          <a:solidFill>
            <a:schemeClr val="accent2"/>
          </a:solidFill>
          <a:ln/>
        </p:spPr>
      </p:sp>
      <p:sp>
        <p:nvSpPr>
          <p:cNvPr id="6" name="Text 4"/>
          <p:cNvSpPr txBox="1"/>
          <p:nvPr/>
        </p:nvSpPr>
        <p:spPr>
          <a:xfrm>
            <a:off x="2240280" y="6355080"/>
            <a:ext cx="1188720" cy="274320"/>
          </a:xfrm>
          <a:prstGeom prst="rect">
            <a:avLst/>
          </a:prstGeom>
          <a:noFill/>
          <a:ln/>
        </p:spPr>
        <p:txBody>
          <a:bodyPr wrap="square" lIns="0" tIns="0" rIns="0" bIns="0" rtlCol="0" anchor="ctr"/>
          <a:lstStyle/>
          <a:p>
            <a:pPr indent="0" marL="0">
              <a:buNone/>
            </a:pPr>
            <a:r>
              <a:rPr lang="en-US" sz="1100" b="1" dirty="0">
                <a:solidFill>
                  <a:schemeClr val="accent2"/>
                </a:solidFill>
              </a:rPr>
              <a:t>Verlauf</a:t>
            </a:r>
            <a:endParaRPr lang="en-US" sz="1100" dirty="0"/>
          </a:p>
        </p:txBody>
      </p:sp>
      <p:sp>
        <p:nvSpPr>
          <p:cNvPr id="7" name="Kapitelpunkt Auswertung"/>
          <p:cNvSpPr/>
          <p:nvPr/>
        </p:nvSpPr>
        <p:spPr>
          <a:xfrm>
            <a:off x="3474720" y="6437376"/>
            <a:ext cx="109728" cy="109728"/>
          </a:xfrm>
          <a:prstGeom prst="ellipse">
            <a:avLst/>
          </a:prstGeom>
          <a:solidFill>
            <a:schemeClr val="accent5"/>
          </a:solidFill>
          <a:ln/>
        </p:spPr>
      </p:sp>
      <p:sp>
        <p:nvSpPr>
          <p:cNvPr id="8" name="Text 6"/>
          <p:cNvSpPr txBox="1"/>
          <p:nvPr/>
        </p:nvSpPr>
        <p:spPr>
          <a:xfrm>
            <a:off x="365760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Auswertung</a:t>
            </a:r>
            <a:endParaRPr lang="en-US" sz="1100" dirty="0"/>
          </a:p>
        </p:txBody>
      </p:sp>
      <p:sp>
        <p:nvSpPr>
          <p:cNvPr id="9" name="Kapitelpunkt Reflexion"/>
          <p:cNvSpPr/>
          <p:nvPr/>
        </p:nvSpPr>
        <p:spPr>
          <a:xfrm>
            <a:off x="4892040" y="6437376"/>
            <a:ext cx="109728" cy="109728"/>
          </a:xfrm>
          <a:prstGeom prst="ellipse">
            <a:avLst/>
          </a:prstGeom>
          <a:solidFill>
            <a:schemeClr val="accent5"/>
          </a:solidFill>
          <a:ln/>
        </p:spPr>
      </p:sp>
      <p:sp>
        <p:nvSpPr>
          <p:cNvPr id="10" name="Text 8"/>
          <p:cNvSpPr txBox="1"/>
          <p:nvPr/>
        </p:nvSpPr>
        <p:spPr>
          <a:xfrm>
            <a:off x="507492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Reflexion</a:t>
            </a:r>
            <a:endParaRPr lang="en-US" sz="1100" dirty="0"/>
          </a:p>
        </p:txBody>
      </p:sp>
      <p:sp>
        <p:nvSpPr>
          <p:cNvPr id="11" name="Kapitelpunkt Gründung"/>
          <p:cNvSpPr/>
          <p:nvPr/>
        </p:nvSpPr>
        <p:spPr>
          <a:xfrm>
            <a:off x="6309360" y="6437376"/>
            <a:ext cx="109728" cy="109728"/>
          </a:xfrm>
          <a:prstGeom prst="ellipse">
            <a:avLst/>
          </a:prstGeom>
          <a:solidFill>
            <a:schemeClr val="accent5"/>
          </a:solidFill>
          <a:ln/>
        </p:spPr>
      </p:sp>
      <p:sp>
        <p:nvSpPr>
          <p:cNvPr id="12" name="Text 10"/>
          <p:cNvSpPr txBox="1"/>
          <p:nvPr/>
        </p:nvSpPr>
        <p:spPr>
          <a:xfrm>
            <a:off x="649224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Gründung</a:t>
            </a:r>
            <a:endParaRPr lang="en-US" sz="1100" dirty="0"/>
          </a:p>
        </p:txBody>
      </p:sp>
      <p:graphicFrame>
        <p:nvGraphicFramePr>
          <p:cNvPr id="14" name="Chart 0" descr=""/>
          <p:cNvGraphicFramePr/>
          <p:nvPr/>
        </p:nvGraphicFramePr>
        <p:xfrm>
          <a:off x="640080" y="1371600"/>
          <a:ext cx="7223760" cy="4434840"/>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txBox="1"/>
          <p:nvPr/>
        </p:nvSpPr>
        <p:spPr>
          <a:xfrm>
            <a:off x="640080" y="5852160"/>
            <a:ext cx="7223760" cy="320040"/>
          </a:xfrm>
          <a:prstGeom prst="rect">
            <a:avLst/>
          </a:prstGeom>
          <a:noFill/>
          <a:ln/>
        </p:spPr>
        <p:txBody>
          <a:bodyPr wrap="square" lIns="0" tIns="0" rIns="0" bIns="0" rtlCol="0" anchor="ctr"/>
          <a:lstStyle/>
          <a:p>
            <a:pPr indent="0" marL="0">
              <a:buNone/>
            </a:pPr>
            <a:r>
              <a:rPr lang="en-US" sz="1200" i="1" dirty="0">
                <a:solidFill>
                  <a:schemeClr val="accent4"/>
                </a:solidFill>
              </a:rPr>
              <a:t>R4: 0,5 am Markt + 0,5 Schnäppchen · R5: 0,2 + 0,8 · R3 laut Arbeitsblatt 12,6 + 5,6 Paletten</a:t>
            </a:r>
            <a:endParaRPr lang="en-US" sz="1200" dirty="0"/>
          </a:p>
        </p:txBody>
      </p:sp>
      <p:sp>
        <p:nvSpPr>
          <p:cNvPr id="16" name="Fakt 100 %"/>
          <p:cNvSpPr/>
          <p:nvPr/>
        </p:nvSpPr>
        <p:spPr>
          <a:xfrm>
            <a:off x="8138160" y="1463040"/>
            <a:ext cx="3383280" cy="1417320"/>
          </a:xfrm>
          <a:prstGeom prst="roundRect">
            <a:avLst>
              <a:gd name="adj" fmla="val 7742"/>
            </a:avLst>
          </a:prstGeom>
          <a:solidFill>
            <a:schemeClr val="bg2"/>
          </a:solidFill>
          <a:ln/>
        </p:spPr>
      </p:sp>
      <p:sp>
        <p:nvSpPr>
          <p:cNvPr id="17" name="Text 13"/>
          <p:cNvSpPr txBox="1"/>
          <p:nvPr/>
        </p:nvSpPr>
        <p:spPr>
          <a:xfrm>
            <a:off x="8366760" y="1572768"/>
            <a:ext cx="30175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100 %</a:t>
            </a:r>
            <a:endParaRPr lang="en-US" sz="2800" dirty="0"/>
          </a:p>
        </p:txBody>
      </p:sp>
      <p:sp>
        <p:nvSpPr>
          <p:cNvPr id="18" name="Text 14"/>
          <p:cNvSpPr txBox="1"/>
          <p:nvPr/>
        </p:nvSpPr>
        <p:spPr>
          <a:xfrm>
            <a:off x="8366760" y="2148840"/>
            <a:ext cx="3017520" cy="640080"/>
          </a:xfrm>
          <a:prstGeom prst="rect">
            <a:avLst/>
          </a:prstGeom>
          <a:noFill/>
          <a:ln/>
        </p:spPr>
        <p:txBody>
          <a:bodyPr wrap="square" lIns="0" tIns="0" rIns="0" bIns="0" rtlCol="0" anchor="ctr"/>
          <a:lstStyle/>
          <a:p>
            <a:pPr indent="0" marL="0">
              <a:buNone/>
            </a:pPr>
            <a:r>
              <a:rPr lang="en-US" sz="1500" dirty="0">
                <a:solidFill>
                  <a:schemeClr val="tx1"/>
                </a:solidFill>
              </a:rPr>
              <a:t>verkauft in R1 – zu 3.000 € ging alles weg</a:t>
            </a:r>
            <a:endParaRPr lang="en-US" sz="1500" dirty="0"/>
          </a:p>
        </p:txBody>
      </p:sp>
      <p:sp>
        <p:nvSpPr>
          <p:cNvPr id="19" name="Fakt 70 %"/>
          <p:cNvSpPr/>
          <p:nvPr/>
        </p:nvSpPr>
        <p:spPr>
          <a:xfrm>
            <a:off x="8138160" y="3063240"/>
            <a:ext cx="3383280" cy="1417320"/>
          </a:xfrm>
          <a:prstGeom prst="roundRect">
            <a:avLst>
              <a:gd name="adj" fmla="val 7742"/>
            </a:avLst>
          </a:prstGeom>
          <a:solidFill>
            <a:schemeClr val="bg2"/>
          </a:solidFill>
          <a:ln/>
        </p:spPr>
      </p:sp>
      <p:sp>
        <p:nvSpPr>
          <p:cNvPr id="20" name="Text 16"/>
          <p:cNvSpPr txBox="1"/>
          <p:nvPr/>
        </p:nvSpPr>
        <p:spPr>
          <a:xfrm>
            <a:off x="8366760" y="3172968"/>
            <a:ext cx="3017520" cy="54864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70 %</a:t>
            </a:r>
            <a:endParaRPr lang="en-US" sz="2800" dirty="0"/>
          </a:p>
        </p:txBody>
      </p:sp>
      <p:sp>
        <p:nvSpPr>
          <p:cNvPr id="21" name="Text 17"/>
          <p:cNvSpPr txBox="1"/>
          <p:nvPr/>
        </p:nvSpPr>
        <p:spPr>
          <a:xfrm>
            <a:off x="8366760" y="3749040"/>
            <a:ext cx="3017520" cy="640080"/>
          </a:xfrm>
          <a:prstGeom prst="rect">
            <a:avLst/>
          </a:prstGeom>
          <a:noFill/>
          <a:ln/>
        </p:spPr>
        <p:txBody>
          <a:bodyPr wrap="square" lIns="0" tIns="0" rIns="0" bIns="0" rtlCol="0" anchor="ctr"/>
          <a:lstStyle/>
          <a:p>
            <a:pPr indent="0" marL="0">
              <a:buNone/>
            </a:pPr>
            <a:r>
              <a:rPr lang="en-US" sz="1500" dirty="0">
                <a:solidFill>
                  <a:schemeClr val="tx1"/>
                </a:solidFill>
              </a:rPr>
              <a:t>verkauft in R3 bei 5.900 € – unsere beste Runde</a:t>
            </a:r>
            <a:endParaRPr lang="en-US" sz="1500" dirty="0"/>
          </a:p>
        </p:txBody>
      </p:sp>
      <p:sp>
        <p:nvSpPr>
          <p:cNvPr id="22" name="Fakt 1 Palette"/>
          <p:cNvSpPr/>
          <p:nvPr/>
        </p:nvSpPr>
        <p:spPr>
          <a:xfrm>
            <a:off x="8138160" y="4663440"/>
            <a:ext cx="3383280" cy="1417320"/>
          </a:xfrm>
          <a:prstGeom prst="roundRect">
            <a:avLst>
              <a:gd name="adj" fmla="val 7742"/>
            </a:avLst>
          </a:prstGeom>
          <a:solidFill>
            <a:schemeClr val="bg2"/>
          </a:solidFill>
          <a:ln/>
        </p:spPr>
      </p:sp>
      <p:sp>
        <p:nvSpPr>
          <p:cNvPr id="23" name="Text 19"/>
          <p:cNvSpPr txBox="1"/>
          <p:nvPr/>
        </p:nvSpPr>
        <p:spPr>
          <a:xfrm>
            <a:off x="8366760" y="4773168"/>
            <a:ext cx="301752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 Palette</a:t>
            </a:r>
            <a:endParaRPr lang="en-US" sz="2800" dirty="0"/>
          </a:p>
        </p:txBody>
      </p:sp>
      <p:sp>
        <p:nvSpPr>
          <p:cNvPr id="24" name="Text 20"/>
          <p:cNvSpPr txBox="1"/>
          <p:nvPr/>
        </p:nvSpPr>
        <p:spPr>
          <a:xfrm>
            <a:off x="8366760" y="5349240"/>
            <a:ext cx="3017520" cy="640080"/>
          </a:xfrm>
          <a:prstGeom prst="rect">
            <a:avLst/>
          </a:prstGeom>
          <a:noFill/>
          <a:ln/>
        </p:spPr>
        <p:txBody>
          <a:bodyPr wrap="square" lIns="0" tIns="0" rIns="0" bIns="0" rtlCol="0" anchor="ctr"/>
          <a:lstStyle/>
          <a:p>
            <a:pPr indent="0" marL="0">
              <a:buNone/>
            </a:pPr>
            <a:r>
              <a:rPr lang="en-US" sz="1500" dirty="0">
                <a:solidFill>
                  <a:schemeClr val="tx1"/>
                </a:solidFill>
              </a:rPr>
              <a:t>in R4 und R5 – wir erwarteten kaum Absatz</a:t>
            </a:r>
            <a:endParaRPr lang="en-US" sz="15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Warum wir so entschieden haben</a:t>
            </a:r>
            <a:endParaRPr lang="en-US" sz="3600" dirty="0"/>
          </a:p>
        </p:txBody>
      </p:sp>
      <p:sp>
        <p:nvSpPr>
          <p:cNvPr id="3" name="Kapitelpunkt Einleitung"/>
          <p:cNvSpPr/>
          <p:nvPr/>
        </p:nvSpPr>
        <p:spPr>
          <a:xfrm>
            <a:off x="640080" y="6437376"/>
            <a:ext cx="109728" cy="109728"/>
          </a:xfrm>
          <a:prstGeom prst="ellipse">
            <a:avLst/>
          </a:prstGeom>
          <a:solidFill>
            <a:schemeClr val="accent5"/>
          </a:solidFill>
          <a:ln/>
        </p:spPr>
      </p:sp>
      <p:sp>
        <p:nvSpPr>
          <p:cNvPr id="4" name="Text 2"/>
          <p:cNvSpPr txBox="1"/>
          <p:nvPr/>
        </p:nvSpPr>
        <p:spPr>
          <a:xfrm>
            <a:off x="82296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Einleitung</a:t>
            </a:r>
            <a:endParaRPr lang="en-US" sz="1100" dirty="0"/>
          </a:p>
        </p:txBody>
      </p:sp>
      <p:sp>
        <p:nvSpPr>
          <p:cNvPr id="5" name="Kapitelpunkt Verlauf"/>
          <p:cNvSpPr/>
          <p:nvPr/>
        </p:nvSpPr>
        <p:spPr>
          <a:xfrm>
            <a:off x="2057400" y="6437376"/>
            <a:ext cx="109728" cy="109728"/>
          </a:xfrm>
          <a:prstGeom prst="ellipse">
            <a:avLst/>
          </a:prstGeom>
          <a:solidFill>
            <a:schemeClr val="accent2"/>
          </a:solidFill>
          <a:ln/>
        </p:spPr>
      </p:sp>
      <p:sp>
        <p:nvSpPr>
          <p:cNvPr id="6" name="Text 4"/>
          <p:cNvSpPr txBox="1"/>
          <p:nvPr/>
        </p:nvSpPr>
        <p:spPr>
          <a:xfrm>
            <a:off x="2240280" y="6355080"/>
            <a:ext cx="1188720" cy="274320"/>
          </a:xfrm>
          <a:prstGeom prst="rect">
            <a:avLst/>
          </a:prstGeom>
          <a:noFill/>
          <a:ln/>
        </p:spPr>
        <p:txBody>
          <a:bodyPr wrap="square" lIns="0" tIns="0" rIns="0" bIns="0" rtlCol="0" anchor="ctr"/>
          <a:lstStyle/>
          <a:p>
            <a:pPr indent="0" marL="0">
              <a:buNone/>
            </a:pPr>
            <a:r>
              <a:rPr lang="en-US" sz="1100" b="1" dirty="0">
                <a:solidFill>
                  <a:schemeClr val="accent2"/>
                </a:solidFill>
              </a:rPr>
              <a:t>Verlauf</a:t>
            </a:r>
            <a:endParaRPr lang="en-US" sz="1100" dirty="0"/>
          </a:p>
        </p:txBody>
      </p:sp>
      <p:sp>
        <p:nvSpPr>
          <p:cNvPr id="7" name="Kapitelpunkt Auswertung"/>
          <p:cNvSpPr/>
          <p:nvPr/>
        </p:nvSpPr>
        <p:spPr>
          <a:xfrm>
            <a:off x="3474720" y="6437376"/>
            <a:ext cx="109728" cy="109728"/>
          </a:xfrm>
          <a:prstGeom prst="ellipse">
            <a:avLst/>
          </a:prstGeom>
          <a:solidFill>
            <a:schemeClr val="accent5"/>
          </a:solidFill>
          <a:ln/>
        </p:spPr>
      </p:sp>
      <p:sp>
        <p:nvSpPr>
          <p:cNvPr id="8" name="Text 6"/>
          <p:cNvSpPr txBox="1"/>
          <p:nvPr/>
        </p:nvSpPr>
        <p:spPr>
          <a:xfrm>
            <a:off x="365760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Auswertung</a:t>
            </a:r>
            <a:endParaRPr lang="en-US" sz="1100" dirty="0"/>
          </a:p>
        </p:txBody>
      </p:sp>
      <p:sp>
        <p:nvSpPr>
          <p:cNvPr id="9" name="Kapitelpunkt Reflexion"/>
          <p:cNvSpPr/>
          <p:nvPr/>
        </p:nvSpPr>
        <p:spPr>
          <a:xfrm>
            <a:off x="4892040" y="6437376"/>
            <a:ext cx="109728" cy="109728"/>
          </a:xfrm>
          <a:prstGeom prst="ellipse">
            <a:avLst/>
          </a:prstGeom>
          <a:solidFill>
            <a:schemeClr val="accent5"/>
          </a:solidFill>
          <a:ln/>
        </p:spPr>
      </p:sp>
      <p:sp>
        <p:nvSpPr>
          <p:cNvPr id="10" name="Text 8"/>
          <p:cNvSpPr txBox="1"/>
          <p:nvPr/>
        </p:nvSpPr>
        <p:spPr>
          <a:xfrm>
            <a:off x="507492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Reflexion</a:t>
            </a:r>
            <a:endParaRPr lang="en-US" sz="1100" dirty="0"/>
          </a:p>
        </p:txBody>
      </p:sp>
      <p:sp>
        <p:nvSpPr>
          <p:cNvPr id="11" name="Kapitelpunkt Gründung"/>
          <p:cNvSpPr/>
          <p:nvPr/>
        </p:nvSpPr>
        <p:spPr>
          <a:xfrm>
            <a:off x="6309360" y="6437376"/>
            <a:ext cx="109728" cy="109728"/>
          </a:xfrm>
          <a:prstGeom prst="ellipse">
            <a:avLst/>
          </a:prstGeom>
          <a:solidFill>
            <a:schemeClr val="accent5"/>
          </a:solidFill>
          <a:ln/>
        </p:spPr>
      </p:sp>
      <p:sp>
        <p:nvSpPr>
          <p:cNvPr id="12" name="Text 10"/>
          <p:cNvSpPr txBox="1"/>
          <p:nvPr/>
        </p:nvSpPr>
        <p:spPr>
          <a:xfrm>
            <a:off x="649224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Gründung</a:t>
            </a:r>
            <a:endParaRPr lang="en-US" sz="1100" dirty="0"/>
          </a:p>
        </p:txBody>
      </p:sp>
      <p:sp>
        <p:nvSpPr>
          <p:cNvPr id="14" name="Runde 1"/>
          <p:cNvSpPr/>
          <p:nvPr/>
        </p:nvSpPr>
        <p:spPr>
          <a:xfrm>
            <a:off x="640080" y="1371600"/>
            <a:ext cx="3520440" cy="2286000"/>
          </a:xfrm>
          <a:prstGeom prst="roundRect">
            <a:avLst>
              <a:gd name="adj" fmla="val 4800"/>
            </a:avLst>
          </a:prstGeom>
          <a:solidFill>
            <a:schemeClr val="bg2"/>
          </a:solidFill>
          <a:ln/>
        </p:spPr>
      </p:sp>
      <p:sp>
        <p:nvSpPr>
          <p:cNvPr id="15" name="Nr R1"/>
          <p:cNvSpPr/>
          <p:nvPr/>
        </p:nvSpPr>
        <p:spPr>
          <a:xfrm>
            <a:off x="868680" y="1572768"/>
            <a:ext cx="502920" cy="502920"/>
          </a:xfrm>
          <a:prstGeom prst="ellipse">
            <a:avLst/>
          </a:prstGeom>
          <a:solidFill>
            <a:schemeClr val="accent1"/>
          </a:solidFill>
          <a:ln/>
        </p:spPr>
      </p:sp>
      <p:sp>
        <p:nvSpPr>
          <p:cNvPr id="16" name="Text 13"/>
          <p:cNvSpPr txBox="1"/>
          <p:nvPr/>
        </p:nvSpPr>
        <p:spPr>
          <a:xfrm>
            <a:off x="868680" y="15727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7" name="Text 14"/>
          <p:cNvSpPr txBox="1"/>
          <p:nvPr/>
        </p:nvSpPr>
        <p:spPr>
          <a:xfrm>
            <a:off x="1508760" y="1572768"/>
            <a:ext cx="1280160" cy="502920"/>
          </a:xfrm>
          <a:prstGeom prst="rect">
            <a:avLst/>
          </a:prstGeom>
          <a:noFill/>
          <a:ln/>
        </p:spPr>
        <p:txBody>
          <a:bodyPr wrap="square" lIns="0" tIns="0" rIns="0" bIns="0" rtlCol="0" anchor="ctr"/>
          <a:lstStyle/>
          <a:p>
            <a:pPr indent="0" marL="0">
              <a:buNone/>
            </a:pPr>
            <a:r>
              <a:rPr lang="en-US" sz="1300" dirty="0">
                <a:solidFill>
                  <a:schemeClr val="accent4"/>
                </a:solidFill>
              </a:rPr>
              <a:t>Jan./Feb.</a:t>
            </a:r>
            <a:endParaRPr lang="en-US" sz="1300" dirty="0"/>
          </a:p>
        </p:txBody>
      </p:sp>
      <p:sp>
        <p:nvSpPr>
          <p:cNvPr id="18" name="Text 15"/>
          <p:cNvSpPr txBox="1"/>
          <p:nvPr/>
        </p:nvSpPr>
        <p:spPr>
          <a:xfrm>
            <a:off x="2468880" y="1536192"/>
            <a:ext cx="1463040" cy="566928"/>
          </a:xfrm>
          <a:prstGeom prst="rect">
            <a:avLst/>
          </a:prstGeom>
          <a:noFill/>
          <a:ln/>
        </p:spPr>
        <p:txBody>
          <a:bodyPr wrap="square" lIns="0" tIns="0" rIns="0" bIns="0" rtlCol="0" anchor="ctr"/>
          <a:lstStyle/>
          <a:p>
            <a:pPr algn="r" indent="0" marL="0">
              <a:buNone/>
            </a:pPr>
            <a:r>
              <a:rPr lang="en-US" sz="2200" b="1" dirty="0">
                <a:solidFill>
                  <a:schemeClr val="tx2"/>
                </a:solidFill>
                <a:latin typeface="Cambria" pitchFamily="34" charset="0"/>
                <a:ea typeface="Cambria" pitchFamily="34" charset="-122"/>
                <a:cs typeface="Cambria" pitchFamily="34" charset="-120"/>
              </a:rPr>
              <a:t>3.000 €</a:t>
            </a:r>
            <a:endParaRPr lang="en-US" sz="2200" dirty="0"/>
          </a:p>
        </p:txBody>
      </p:sp>
      <p:sp>
        <p:nvSpPr>
          <p:cNvPr id="19" name="Text 16"/>
          <p:cNvSpPr txBox="1"/>
          <p:nvPr/>
        </p:nvSpPr>
        <p:spPr>
          <a:xfrm>
            <a:off x="868680" y="2176272"/>
            <a:ext cx="3063240" cy="822960"/>
          </a:xfrm>
          <a:prstGeom prst="rect">
            <a:avLst/>
          </a:prstGeom>
          <a:noFill/>
          <a:ln/>
        </p:spPr>
        <p:txBody>
          <a:bodyPr wrap="square" lIns="0" tIns="0" rIns="0" bIns="0" rtlCol="0" anchor="t"/>
          <a:lstStyle/>
          <a:p>
            <a:pPr indent="0" marL="0">
              <a:buNone/>
            </a:pPr>
            <a:r>
              <a:rPr lang="en-US" sz="1500" dirty="0">
                <a:solidFill>
                  <a:schemeClr val="tx1"/>
                </a:solidFill>
              </a:rPr>
              <a:t>Economy statt Standard. Günstig starten und alles verkaufen.</a:t>
            </a:r>
            <a:endParaRPr lang="en-US" sz="1500" dirty="0"/>
          </a:p>
        </p:txBody>
      </p:sp>
      <p:sp>
        <p:nvSpPr>
          <p:cNvPr id="20" name="Ergebnis R1"/>
          <p:cNvSpPr/>
          <p:nvPr/>
        </p:nvSpPr>
        <p:spPr>
          <a:xfrm>
            <a:off x="868680" y="3063240"/>
            <a:ext cx="3063240" cy="411480"/>
          </a:xfrm>
          <a:prstGeom prst="roundRect">
            <a:avLst>
              <a:gd name="adj" fmla="val 13333"/>
            </a:avLst>
          </a:prstGeom>
          <a:solidFill>
            <a:schemeClr val="bg1"/>
          </a:solidFill>
          <a:ln/>
        </p:spPr>
      </p:sp>
      <p:sp>
        <p:nvSpPr>
          <p:cNvPr id="21" name="Text 18"/>
          <p:cNvSpPr txBox="1"/>
          <p:nvPr/>
        </p:nvSpPr>
        <p:spPr>
          <a:xfrm>
            <a:off x="960120" y="3063240"/>
            <a:ext cx="2880360" cy="411480"/>
          </a:xfrm>
          <a:prstGeom prst="rect">
            <a:avLst/>
          </a:prstGeom>
          <a:noFill/>
          <a:ln/>
        </p:spPr>
        <p:txBody>
          <a:bodyPr wrap="square" lIns="0" tIns="0" rIns="0" bIns="0" rtlCol="0" anchor="ctr"/>
          <a:lstStyle/>
          <a:p>
            <a:pPr indent="0" marL="0">
              <a:buNone/>
            </a:pPr>
            <a:r>
              <a:rPr lang="en-US" sz="1400" b="1" dirty="0">
                <a:solidFill>
                  <a:schemeClr val="tx2"/>
                </a:solidFill>
              </a:rPr>
              <a:t>Ergebnis −24.000 € → Kasse 76.000 €</a:t>
            </a:r>
            <a:endParaRPr lang="en-US" sz="1400" dirty="0"/>
          </a:p>
        </p:txBody>
      </p:sp>
      <p:sp>
        <p:nvSpPr>
          <p:cNvPr id="22" name="Runde 2"/>
          <p:cNvSpPr/>
          <p:nvPr/>
        </p:nvSpPr>
        <p:spPr>
          <a:xfrm>
            <a:off x="4320540" y="1371600"/>
            <a:ext cx="3520440" cy="2286000"/>
          </a:xfrm>
          <a:prstGeom prst="roundRect">
            <a:avLst>
              <a:gd name="adj" fmla="val 4800"/>
            </a:avLst>
          </a:prstGeom>
          <a:solidFill>
            <a:schemeClr val="bg2"/>
          </a:solidFill>
          <a:ln/>
        </p:spPr>
      </p:sp>
      <p:sp>
        <p:nvSpPr>
          <p:cNvPr id="23" name="Nr R2"/>
          <p:cNvSpPr/>
          <p:nvPr/>
        </p:nvSpPr>
        <p:spPr>
          <a:xfrm>
            <a:off x="4549140" y="1572768"/>
            <a:ext cx="502920" cy="502920"/>
          </a:xfrm>
          <a:prstGeom prst="ellipse">
            <a:avLst/>
          </a:prstGeom>
          <a:solidFill>
            <a:schemeClr val="accent1"/>
          </a:solidFill>
          <a:ln/>
        </p:spPr>
      </p:sp>
      <p:sp>
        <p:nvSpPr>
          <p:cNvPr id="24" name="Text 21"/>
          <p:cNvSpPr txBox="1"/>
          <p:nvPr/>
        </p:nvSpPr>
        <p:spPr>
          <a:xfrm>
            <a:off x="4549140" y="15727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5" name="Text 22"/>
          <p:cNvSpPr txBox="1"/>
          <p:nvPr/>
        </p:nvSpPr>
        <p:spPr>
          <a:xfrm>
            <a:off x="5189220" y="1572768"/>
            <a:ext cx="1280160" cy="502920"/>
          </a:xfrm>
          <a:prstGeom prst="rect">
            <a:avLst/>
          </a:prstGeom>
          <a:noFill/>
          <a:ln/>
        </p:spPr>
        <p:txBody>
          <a:bodyPr wrap="square" lIns="0" tIns="0" rIns="0" bIns="0" rtlCol="0" anchor="ctr"/>
          <a:lstStyle/>
          <a:p>
            <a:pPr indent="0" marL="0">
              <a:buNone/>
            </a:pPr>
            <a:r>
              <a:rPr lang="en-US" sz="1300" dirty="0">
                <a:solidFill>
                  <a:schemeClr val="accent4"/>
                </a:solidFill>
              </a:rPr>
              <a:t>März/Apr.</a:t>
            </a:r>
            <a:endParaRPr lang="en-US" sz="1300" dirty="0"/>
          </a:p>
        </p:txBody>
      </p:sp>
      <p:sp>
        <p:nvSpPr>
          <p:cNvPr id="26" name="Text 23"/>
          <p:cNvSpPr txBox="1"/>
          <p:nvPr/>
        </p:nvSpPr>
        <p:spPr>
          <a:xfrm>
            <a:off x="6149340" y="1536192"/>
            <a:ext cx="1463040" cy="566928"/>
          </a:xfrm>
          <a:prstGeom prst="rect">
            <a:avLst/>
          </a:prstGeom>
          <a:noFill/>
          <a:ln/>
        </p:spPr>
        <p:txBody>
          <a:bodyPr wrap="square" lIns="0" tIns="0" rIns="0" bIns="0" rtlCol="0" anchor="ctr"/>
          <a:lstStyle/>
          <a:p>
            <a:pPr algn="r" indent="0" marL="0">
              <a:buNone/>
            </a:pPr>
            <a:r>
              <a:rPr lang="en-US" sz="2200" b="1" dirty="0">
                <a:solidFill>
                  <a:schemeClr val="tx2"/>
                </a:solidFill>
                <a:latin typeface="Cambria" pitchFamily="34" charset="0"/>
                <a:ea typeface="Cambria" pitchFamily="34" charset="-122"/>
                <a:cs typeface="Cambria" pitchFamily="34" charset="-120"/>
              </a:rPr>
              <a:t>7.600 €</a:t>
            </a:r>
            <a:endParaRPr lang="en-US" sz="2200" dirty="0"/>
          </a:p>
        </p:txBody>
      </p:sp>
      <p:sp>
        <p:nvSpPr>
          <p:cNvPr id="27" name="Text 24"/>
          <p:cNvSpPr txBox="1"/>
          <p:nvPr/>
        </p:nvSpPr>
        <p:spPr>
          <a:xfrm>
            <a:off x="4549140" y="2176272"/>
            <a:ext cx="3063240" cy="822960"/>
          </a:xfrm>
          <a:prstGeom prst="rect">
            <a:avLst/>
          </a:prstGeom>
          <a:noFill/>
          <a:ln/>
        </p:spPr>
        <p:txBody>
          <a:bodyPr wrap="square" lIns="0" tIns="0" rIns="0" bIns="0" rtlCol="0" anchor="t"/>
          <a:lstStyle/>
          <a:p>
            <a:pPr indent="0" marL="0">
              <a:buNone/>
            </a:pPr>
            <a:r>
              <a:rPr lang="en-US" sz="1500" dirty="0">
                <a:solidFill>
                  <a:schemeClr val="tx1"/>
                </a:solidFill>
              </a:rPr>
              <a:t>Alles war weg → Preis drastisch erhöht. 2. Maschine gekauft, noch ohne Personal.</a:t>
            </a:r>
            <a:endParaRPr lang="en-US" sz="1500" dirty="0"/>
          </a:p>
        </p:txBody>
      </p:sp>
      <p:sp>
        <p:nvSpPr>
          <p:cNvPr id="28" name="Ergebnis R2"/>
          <p:cNvSpPr/>
          <p:nvPr/>
        </p:nvSpPr>
        <p:spPr>
          <a:xfrm>
            <a:off x="4549140" y="3063240"/>
            <a:ext cx="3063240" cy="411480"/>
          </a:xfrm>
          <a:prstGeom prst="roundRect">
            <a:avLst>
              <a:gd name="adj" fmla="val 13333"/>
            </a:avLst>
          </a:prstGeom>
          <a:solidFill>
            <a:schemeClr val="bg1"/>
          </a:solidFill>
          <a:ln/>
        </p:spPr>
      </p:sp>
      <p:sp>
        <p:nvSpPr>
          <p:cNvPr id="29" name="Text 26"/>
          <p:cNvSpPr txBox="1"/>
          <p:nvPr/>
        </p:nvSpPr>
        <p:spPr>
          <a:xfrm>
            <a:off x="4640580" y="3063240"/>
            <a:ext cx="2880360" cy="411480"/>
          </a:xfrm>
          <a:prstGeom prst="rect">
            <a:avLst/>
          </a:prstGeom>
          <a:noFill/>
          <a:ln/>
        </p:spPr>
        <p:txBody>
          <a:bodyPr wrap="square" lIns="0" tIns="0" rIns="0" bIns="0" rtlCol="0" anchor="ctr"/>
          <a:lstStyle/>
          <a:p>
            <a:pPr indent="0" marL="0">
              <a:buNone/>
            </a:pPr>
            <a:r>
              <a:rPr lang="en-US" sz="1400" b="1" dirty="0">
                <a:solidFill>
                  <a:schemeClr val="tx2"/>
                </a:solidFill>
              </a:rPr>
              <a:t>Ergebnis −19.100 € → Kasse 56.900 €</a:t>
            </a:r>
            <a:endParaRPr lang="en-US" sz="1400" dirty="0"/>
          </a:p>
        </p:txBody>
      </p:sp>
      <p:sp>
        <p:nvSpPr>
          <p:cNvPr id="30" name="Runde 3"/>
          <p:cNvSpPr/>
          <p:nvPr/>
        </p:nvSpPr>
        <p:spPr>
          <a:xfrm>
            <a:off x="8001000" y="1371600"/>
            <a:ext cx="3520440" cy="2286000"/>
          </a:xfrm>
          <a:prstGeom prst="roundRect">
            <a:avLst>
              <a:gd name="adj" fmla="val 4800"/>
            </a:avLst>
          </a:prstGeom>
          <a:solidFill>
            <a:schemeClr val="bg2"/>
          </a:solidFill>
          <a:ln/>
        </p:spPr>
      </p:sp>
      <p:sp>
        <p:nvSpPr>
          <p:cNvPr id="31" name="Nr R3"/>
          <p:cNvSpPr/>
          <p:nvPr/>
        </p:nvSpPr>
        <p:spPr>
          <a:xfrm>
            <a:off x="8229600" y="1572768"/>
            <a:ext cx="502920" cy="502920"/>
          </a:xfrm>
          <a:prstGeom prst="ellipse">
            <a:avLst/>
          </a:prstGeom>
          <a:solidFill>
            <a:schemeClr val="accent3"/>
          </a:solidFill>
          <a:ln/>
        </p:spPr>
      </p:sp>
      <p:sp>
        <p:nvSpPr>
          <p:cNvPr id="32" name="Text 29"/>
          <p:cNvSpPr txBox="1"/>
          <p:nvPr/>
        </p:nvSpPr>
        <p:spPr>
          <a:xfrm>
            <a:off x="8229600" y="15727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3" name="Text 30"/>
          <p:cNvSpPr txBox="1"/>
          <p:nvPr/>
        </p:nvSpPr>
        <p:spPr>
          <a:xfrm>
            <a:off x="8869680" y="1572768"/>
            <a:ext cx="1280160" cy="502920"/>
          </a:xfrm>
          <a:prstGeom prst="rect">
            <a:avLst/>
          </a:prstGeom>
          <a:noFill/>
          <a:ln/>
        </p:spPr>
        <p:txBody>
          <a:bodyPr wrap="square" lIns="0" tIns="0" rIns="0" bIns="0" rtlCol="0" anchor="ctr"/>
          <a:lstStyle/>
          <a:p>
            <a:pPr indent="0" marL="0">
              <a:buNone/>
            </a:pPr>
            <a:r>
              <a:rPr lang="en-US" sz="1300" dirty="0">
                <a:solidFill>
                  <a:schemeClr val="accent4"/>
                </a:solidFill>
              </a:rPr>
              <a:t>Mai/Juni</a:t>
            </a:r>
            <a:endParaRPr lang="en-US" sz="1300" dirty="0"/>
          </a:p>
        </p:txBody>
      </p:sp>
      <p:sp>
        <p:nvSpPr>
          <p:cNvPr id="34" name="Text 31"/>
          <p:cNvSpPr txBox="1"/>
          <p:nvPr/>
        </p:nvSpPr>
        <p:spPr>
          <a:xfrm>
            <a:off x="9829800" y="1536192"/>
            <a:ext cx="1463040" cy="566928"/>
          </a:xfrm>
          <a:prstGeom prst="rect">
            <a:avLst/>
          </a:prstGeom>
          <a:noFill/>
          <a:ln/>
        </p:spPr>
        <p:txBody>
          <a:bodyPr wrap="square" lIns="0" tIns="0" rIns="0" bIns="0" rtlCol="0" anchor="ctr"/>
          <a:lstStyle/>
          <a:p>
            <a:pPr algn="r" indent="0" marL="0">
              <a:buNone/>
            </a:pPr>
            <a:r>
              <a:rPr lang="en-US" sz="2200" b="1" dirty="0">
                <a:solidFill>
                  <a:schemeClr val="tx2"/>
                </a:solidFill>
                <a:latin typeface="Cambria" pitchFamily="34" charset="0"/>
                <a:ea typeface="Cambria" pitchFamily="34" charset="-122"/>
                <a:cs typeface="Cambria" pitchFamily="34" charset="-120"/>
              </a:rPr>
              <a:t>5.900 €</a:t>
            </a:r>
            <a:endParaRPr lang="en-US" sz="2200" dirty="0"/>
          </a:p>
        </p:txBody>
      </p:sp>
      <p:sp>
        <p:nvSpPr>
          <p:cNvPr id="35" name="Text 32"/>
          <p:cNvSpPr txBox="1"/>
          <p:nvPr/>
        </p:nvSpPr>
        <p:spPr>
          <a:xfrm>
            <a:off x="8229600" y="2176272"/>
            <a:ext cx="3063240" cy="822960"/>
          </a:xfrm>
          <a:prstGeom prst="rect">
            <a:avLst/>
          </a:prstGeom>
          <a:noFill/>
          <a:ln/>
        </p:spPr>
        <p:txBody>
          <a:bodyPr wrap="square" lIns="0" tIns="0" rIns="0" bIns="0" rtlCol="0" anchor="t"/>
          <a:lstStyle/>
          <a:p>
            <a:pPr indent="0" marL="0">
              <a:buNone/>
            </a:pPr>
            <a:r>
              <a:rPr lang="en-US" sz="1500" dirty="0">
                <a:solidFill>
                  <a:schemeClr val="tx1"/>
                </a:solidFill>
              </a:rPr>
              <a:t>Knapp unter den vermuteten 6.000 € der Konkurrenz. 2. Mitarbeiter → Maschine 2 läuft.</a:t>
            </a:r>
            <a:endParaRPr lang="en-US" sz="1500" dirty="0"/>
          </a:p>
        </p:txBody>
      </p:sp>
      <p:sp>
        <p:nvSpPr>
          <p:cNvPr id="36" name="Ergebnis R3"/>
          <p:cNvSpPr/>
          <p:nvPr/>
        </p:nvSpPr>
        <p:spPr>
          <a:xfrm>
            <a:off x="8229600" y="3063240"/>
            <a:ext cx="3063240" cy="411480"/>
          </a:xfrm>
          <a:prstGeom prst="roundRect">
            <a:avLst>
              <a:gd name="adj" fmla="val 13333"/>
            </a:avLst>
          </a:prstGeom>
          <a:solidFill>
            <a:srgbClr val="E3EFCF"/>
          </a:solidFill>
          <a:ln/>
        </p:spPr>
      </p:sp>
      <p:sp>
        <p:nvSpPr>
          <p:cNvPr id="37" name="Text 34"/>
          <p:cNvSpPr txBox="1"/>
          <p:nvPr/>
        </p:nvSpPr>
        <p:spPr>
          <a:xfrm>
            <a:off x="8321040" y="3063240"/>
            <a:ext cx="2880360" cy="411480"/>
          </a:xfrm>
          <a:prstGeom prst="rect">
            <a:avLst/>
          </a:prstGeom>
          <a:noFill/>
          <a:ln/>
        </p:spPr>
        <p:txBody>
          <a:bodyPr wrap="square" lIns="0" tIns="0" rIns="0" bIns="0" rtlCol="0" anchor="ctr"/>
          <a:lstStyle/>
          <a:p>
            <a:pPr indent="0" marL="0">
              <a:buNone/>
            </a:pPr>
            <a:r>
              <a:rPr lang="en-US" sz="1400" b="1" dirty="0">
                <a:solidFill>
                  <a:srgbClr val="3D6610"/>
                </a:solidFill>
              </a:rPr>
              <a:t>Ergebnis +25.940 € → Kasse 82.840 €</a:t>
            </a:r>
            <a:endParaRPr lang="en-US" sz="1400" dirty="0"/>
          </a:p>
        </p:txBody>
      </p:sp>
      <p:sp>
        <p:nvSpPr>
          <p:cNvPr id="38" name="Runde 4"/>
          <p:cNvSpPr/>
          <p:nvPr/>
        </p:nvSpPr>
        <p:spPr>
          <a:xfrm>
            <a:off x="640080" y="3794760"/>
            <a:ext cx="3520440" cy="2286000"/>
          </a:xfrm>
          <a:prstGeom prst="roundRect">
            <a:avLst>
              <a:gd name="adj" fmla="val 4800"/>
            </a:avLst>
          </a:prstGeom>
          <a:solidFill>
            <a:schemeClr val="bg2"/>
          </a:solidFill>
          <a:ln/>
        </p:spPr>
      </p:sp>
      <p:sp>
        <p:nvSpPr>
          <p:cNvPr id="39" name="Nr R4"/>
          <p:cNvSpPr/>
          <p:nvPr/>
        </p:nvSpPr>
        <p:spPr>
          <a:xfrm>
            <a:off x="868680" y="3995928"/>
            <a:ext cx="502920" cy="502920"/>
          </a:xfrm>
          <a:prstGeom prst="ellipse">
            <a:avLst/>
          </a:prstGeom>
          <a:solidFill>
            <a:schemeClr val="accent1"/>
          </a:solidFill>
          <a:ln/>
        </p:spPr>
      </p:sp>
      <p:sp>
        <p:nvSpPr>
          <p:cNvPr id="40" name="Text 37"/>
          <p:cNvSpPr txBox="1"/>
          <p:nvPr/>
        </p:nvSpPr>
        <p:spPr>
          <a:xfrm>
            <a:off x="868680" y="399592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41" name="Text 38"/>
          <p:cNvSpPr txBox="1"/>
          <p:nvPr/>
        </p:nvSpPr>
        <p:spPr>
          <a:xfrm>
            <a:off x="1508760" y="3995928"/>
            <a:ext cx="1280160" cy="502920"/>
          </a:xfrm>
          <a:prstGeom prst="rect">
            <a:avLst/>
          </a:prstGeom>
          <a:noFill/>
          <a:ln/>
        </p:spPr>
        <p:txBody>
          <a:bodyPr wrap="square" lIns="0" tIns="0" rIns="0" bIns="0" rtlCol="0" anchor="ctr"/>
          <a:lstStyle/>
          <a:p>
            <a:pPr indent="0" marL="0">
              <a:buNone/>
            </a:pPr>
            <a:r>
              <a:rPr lang="en-US" sz="1300" dirty="0">
                <a:solidFill>
                  <a:schemeClr val="accent4"/>
                </a:solidFill>
              </a:rPr>
              <a:t>Juli/Aug.</a:t>
            </a:r>
            <a:endParaRPr lang="en-US" sz="1300" dirty="0"/>
          </a:p>
        </p:txBody>
      </p:sp>
      <p:sp>
        <p:nvSpPr>
          <p:cNvPr id="42" name="Text 39"/>
          <p:cNvSpPr txBox="1"/>
          <p:nvPr/>
        </p:nvSpPr>
        <p:spPr>
          <a:xfrm>
            <a:off x="2468880" y="3959352"/>
            <a:ext cx="1463040" cy="566928"/>
          </a:xfrm>
          <a:prstGeom prst="rect">
            <a:avLst/>
          </a:prstGeom>
          <a:noFill/>
          <a:ln/>
        </p:spPr>
        <p:txBody>
          <a:bodyPr wrap="square" lIns="0" tIns="0" rIns="0" bIns="0" rtlCol="0" anchor="ctr"/>
          <a:lstStyle/>
          <a:p>
            <a:pPr algn="r" indent="0" marL="0">
              <a:buNone/>
            </a:pPr>
            <a:r>
              <a:rPr lang="en-US" sz="2200" b="1" dirty="0">
                <a:solidFill>
                  <a:schemeClr val="tx2"/>
                </a:solidFill>
                <a:latin typeface="Cambria" pitchFamily="34" charset="0"/>
                <a:ea typeface="Cambria" pitchFamily="34" charset="-122"/>
                <a:cs typeface="Cambria" pitchFamily="34" charset="-120"/>
              </a:rPr>
              <a:t>9.500 €</a:t>
            </a:r>
            <a:endParaRPr lang="en-US" sz="2200" dirty="0"/>
          </a:p>
        </p:txBody>
      </p:sp>
      <p:sp>
        <p:nvSpPr>
          <p:cNvPr id="43" name="Text 40"/>
          <p:cNvSpPr txBox="1"/>
          <p:nvPr/>
        </p:nvSpPr>
        <p:spPr>
          <a:xfrm>
            <a:off x="868680" y="4599432"/>
            <a:ext cx="3063240" cy="822960"/>
          </a:xfrm>
          <a:prstGeom prst="rect">
            <a:avLst/>
          </a:prstGeom>
          <a:noFill/>
          <a:ln/>
        </p:spPr>
        <p:txBody>
          <a:bodyPr wrap="square" lIns="0" tIns="0" rIns="0" bIns="0" rtlCol="0" anchor="t"/>
          <a:lstStyle/>
          <a:p>
            <a:pPr indent="0" marL="0">
              <a:buNone/>
            </a:pPr>
            <a:r>
              <a:rPr lang="en-US" sz="1500" dirty="0">
                <a:solidFill>
                  <a:schemeClr val="tx1"/>
                </a:solidFill>
              </a:rPr>
              <a:t>Weniger Absatz erwartet („Beliebtheit nicht dauerhaft“) → nur 1 Palette.</a:t>
            </a:r>
            <a:endParaRPr lang="en-US" sz="1500" dirty="0"/>
          </a:p>
        </p:txBody>
      </p:sp>
      <p:sp>
        <p:nvSpPr>
          <p:cNvPr id="44" name="Ergebnis R4"/>
          <p:cNvSpPr/>
          <p:nvPr/>
        </p:nvSpPr>
        <p:spPr>
          <a:xfrm>
            <a:off x="868680" y="5486400"/>
            <a:ext cx="3063240" cy="411480"/>
          </a:xfrm>
          <a:prstGeom prst="roundRect">
            <a:avLst>
              <a:gd name="adj" fmla="val 13333"/>
            </a:avLst>
          </a:prstGeom>
          <a:solidFill>
            <a:schemeClr val="bg1"/>
          </a:solidFill>
          <a:ln/>
        </p:spPr>
      </p:sp>
      <p:sp>
        <p:nvSpPr>
          <p:cNvPr id="45" name="Text 42"/>
          <p:cNvSpPr txBox="1"/>
          <p:nvPr/>
        </p:nvSpPr>
        <p:spPr>
          <a:xfrm>
            <a:off x="960120" y="5486400"/>
            <a:ext cx="2880360" cy="411480"/>
          </a:xfrm>
          <a:prstGeom prst="rect">
            <a:avLst/>
          </a:prstGeom>
          <a:noFill/>
          <a:ln/>
        </p:spPr>
        <p:txBody>
          <a:bodyPr wrap="square" lIns="0" tIns="0" rIns="0" bIns="0" rtlCol="0" anchor="ctr"/>
          <a:lstStyle/>
          <a:p>
            <a:pPr indent="0" marL="0">
              <a:buNone/>
            </a:pPr>
            <a:r>
              <a:rPr lang="en-US" sz="1400" b="1" dirty="0">
                <a:solidFill>
                  <a:schemeClr val="tx2"/>
                </a:solidFill>
              </a:rPr>
              <a:t>Ergebnis −12.750 € → Kasse 70.090 €</a:t>
            </a:r>
            <a:endParaRPr lang="en-US" sz="1400" dirty="0"/>
          </a:p>
        </p:txBody>
      </p:sp>
      <p:sp>
        <p:nvSpPr>
          <p:cNvPr id="46" name="Runde 5"/>
          <p:cNvSpPr/>
          <p:nvPr/>
        </p:nvSpPr>
        <p:spPr>
          <a:xfrm>
            <a:off x="4320540" y="3794760"/>
            <a:ext cx="3520440" cy="2286000"/>
          </a:xfrm>
          <a:prstGeom prst="roundRect">
            <a:avLst>
              <a:gd name="adj" fmla="val 4800"/>
            </a:avLst>
          </a:prstGeom>
          <a:solidFill>
            <a:schemeClr val="bg2"/>
          </a:solidFill>
          <a:ln/>
        </p:spPr>
      </p:sp>
      <p:sp>
        <p:nvSpPr>
          <p:cNvPr id="47" name="Nr R5"/>
          <p:cNvSpPr/>
          <p:nvPr/>
        </p:nvSpPr>
        <p:spPr>
          <a:xfrm>
            <a:off x="4549140" y="3995928"/>
            <a:ext cx="502920" cy="502920"/>
          </a:xfrm>
          <a:prstGeom prst="ellipse">
            <a:avLst/>
          </a:prstGeom>
          <a:solidFill>
            <a:schemeClr val="accent1"/>
          </a:solidFill>
          <a:ln/>
        </p:spPr>
      </p:sp>
      <p:sp>
        <p:nvSpPr>
          <p:cNvPr id="48" name="Text 45"/>
          <p:cNvSpPr txBox="1"/>
          <p:nvPr/>
        </p:nvSpPr>
        <p:spPr>
          <a:xfrm>
            <a:off x="4549140" y="399592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49" name="Text 46"/>
          <p:cNvSpPr txBox="1"/>
          <p:nvPr/>
        </p:nvSpPr>
        <p:spPr>
          <a:xfrm>
            <a:off x="5189220" y="3995928"/>
            <a:ext cx="1280160" cy="502920"/>
          </a:xfrm>
          <a:prstGeom prst="rect">
            <a:avLst/>
          </a:prstGeom>
          <a:noFill/>
          <a:ln/>
        </p:spPr>
        <p:txBody>
          <a:bodyPr wrap="square" lIns="0" tIns="0" rIns="0" bIns="0" rtlCol="0" anchor="ctr"/>
          <a:lstStyle/>
          <a:p>
            <a:pPr indent="0" marL="0">
              <a:buNone/>
            </a:pPr>
            <a:r>
              <a:rPr lang="en-US" sz="1300" dirty="0">
                <a:solidFill>
                  <a:schemeClr val="accent4"/>
                </a:solidFill>
              </a:rPr>
              <a:t>Sep./Okt.</a:t>
            </a:r>
            <a:endParaRPr lang="en-US" sz="1300" dirty="0"/>
          </a:p>
        </p:txBody>
      </p:sp>
      <p:sp>
        <p:nvSpPr>
          <p:cNvPr id="50" name="Text 47"/>
          <p:cNvSpPr txBox="1"/>
          <p:nvPr/>
        </p:nvSpPr>
        <p:spPr>
          <a:xfrm>
            <a:off x="6149340" y="3959352"/>
            <a:ext cx="1463040" cy="566928"/>
          </a:xfrm>
          <a:prstGeom prst="rect">
            <a:avLst/>
          </a:prstGeom>
          <a:noFill/>
          <a:ln/>
        </p:spPr>
        <p:txBody>
          <a:bodyPr wrap="square" lIns="0" tIns="0" rIns="0" bIns="0" rtlCol="0" anchor="ctr"/>
          <a:lstStyle/>
          <a:p>
            <a:pPr algn="r" indent="0" marL="0">
              <a:buNone/>
            </a:pPr>
            <a:r>
              <a:rPr lang="en-US" sz="2200" b="1" dirty="0">
                <a:solidFill>
                  <a:schemeClr val="tx2"/>
                </a:solidFill>
                <a:latin typeface="Cambria" pitchFamily="34" charset="0"/>
                <a:ea typeface="Cambria" pitchFamily="34" charset="-122"/>
                <a:cs typeface="Cambria" pitchFamily="34" charset="-120"/>
              </a:rPr>
              <a:t>9.500 €</a:t>
            </a:r>
            <a:endParaRPr lang="en-US" sz="2200" dirty="0"/>
          </a:p>
        </p:txBody>
      </p:sp>
      <p:sp>
        <p:nvSpPr>
          <p:cNvPr id="51" name="Text 48"/>
          <p:cNvSpPr txBox="1"/>
          <p:nvPr/>
        </p:nvSpPr>
        <p:spPr>
          <a:xfrm>
            <a:off x="4549140" y="4599432"/>
            <a:ext cx="3063240" cy="822960"/>
          </a:xfrm>
          <a:prstGeom prst="rect">
            <a:avLst/>
          </a:prstGeom>
          <a:noFill/>
          <a:ln/>
        </p:spPr>
        <p:txBody>
          <a:bodyPr wrap="square" lIns="0" tIns="0" rIns="0" bIns="0" rtlCol="0" anchor="t"/>
          <a:lstStyle/>
          <a:p>
            <a:pPr indent="0" marL="0">
              <a:buNone/>
            </a:pPr>
            <a:r>
              <a:rPr lang="en-US" sz="1500" dirty="0">
                <a:solidFill>
                  <a:schemeClr val="tx1"/>
                </a:solidFill>
              </a:rPr>
              <a:t>Marktanalyse sagte weniger Absatz voraus → wieder nur 1 Palette.</a:t>
            </a:r>
            <a:endParaRPr lang="en-US" sz="1500" dirty="0"/>
          </a:p>
        </p:txBody>
      </p:sp>
      <p:sp>
        <p:nvSpPr>
          <p:cNvPr id="52" name="Ergebnis R5"/>
          <p:cNvSpPr/>
          <p:nvPr/>
        </p:nvSpPr>
        <p:spPr>
          <a:xfrm>
            <a:off x="4549140" y="5486400"/>
            <a:ext cx="3063240" cy="411480"/>
          </a:xfrm>
          <a:prstGeom prst="roundRect">
            <a:avLst>
              <a:gd name="adj" fmla="val 13333"/>
            </a:avLst>
          </a:prstGeom>
          <a:solidFill>
            <a:schemeClr val="bg1"/>
          </a:solidFill>
          <a:ln/>
        </p:spPr>
      </p:sp>
      <p:sp>
        <p:nvSpPr>
          <p:cNvPr id="53" name="Text 50"/>
          <p:cNvSpPr txBox="1"/>
          <p:nvPr/>
        </p:nvSpPr>
        <p:spPr>
          <a:xfrm>
            <a:off x="4640580" y="5486400"/>
            <a:ext cx="2880360" cy="411480"/>
          </a:xfrm>
          <a:prstGeom prst="rect">
            <a:avLst/>
          </a:prstGeom>
          <a:noFill/>
          <a:ln/>
        </p:spPr>
        <p:txBody>
          <a:bodyPr wrap="square" lIns="0" tIns="0" rIns="0" bIns="0" rtlCol="0" anchor="ctr"/>
          <a:lstStyle/>
          <a:p>
            <a:pPr indent="0" marL="0">
              <a:buNone/>
            </a:pPr>
            <a:r>
              <a:rPr lang="en-US" sz="1400" b="1" dirty="0">
                <a:solidFill>
                  <a:schemeClr val="tx2"/>
                </a:solidFill>
              </a:rPr>
              <a:t>Ergebnis −22.300 € → Kasse 47.790 €</a:t>
            </a:r>
            <a:endParaRPr lang="en-US" sz="1400" dirty="0"/>
          </a:p>
        </p:txBody>
      </p:sp>
      <p:sp>
        <p:nvSpPr>
          <p:cNvPr id="54" name="Runde 6"/>
          <p:cNvSpPr/>
          <p:nvPr/>
        </p:nvSpPr>
        <p:spPr>
          <a:xfrm>
            <a:off x="8001000" y="3794760"/>
            <a:ext cx="3520440" cy="2286000"/>
          </a:xfrm>
          <a:prstGeom prst="roundRect">
            <a:avLst>
              <a:gd name="adj" fmla="val 4800"/>
            </a:avLst>
          </a:prstGeom>
          <a:solidFill>
            <a:schemeClr val="bg2"/>
          </a:solidFill>
          <a:ln/>
        </p:spPr>
      </p:sp>
      <p:sp>
        <p:nvSpPr>
          <p:cNvPr id="55" name="Nr R6"/>
          <p:cNvSpPr/>
          <p:nvPr/>
        </p:nvSpPr>
        <p:spPr>
          <a:xfrm>
            <a:off x="8229600" y="3995928"/>
            <a:ext cx="502920" cy="502920"/>
          </a:xfrm>
          <a:prstGeom prst="ellipse">
            <a:avLst/>
          </a:prstGeom>
          <a:solidFill>
            <a:schemeClr val="accent3"/>
          </a:solidFill>
          <a:ln/>
        </p:spPr>
      </p:sp>
      <p:sp>
        <p:nvSpPr>
          <p:cNvPr id="56" name="Text 53"/>
          <p:cNvSpPr txBox="1"/>
          <p:nvPr/>
        </p:nvSpPr>
        <p:spPr>
          <a:xfrm>
            <a:off x="8229600" y="399592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57" name="Text 54"/>
          <p:cNvSpPr txBox="1"/>
          <p:nvPr/>
        </p:nvSpPr>
        <p:spPr>
          <a:xfrm>
            <a:off x="8869680" y="3995928"/>
            <a:ext cx="1280160" cy="502920"/>
          </a:xfrm>
          <a:prstGeom prst="rect">
            <a:avLst/>
          </a:prstGeom>
          <a:noFill/>
          <a:ln/>
        </p:spPr>
        <p:txBody>
          <a:bodyPr wrap="square" lIns="0" tIns="0" rIns="0" bIns="0" rtlCol="0" anchor="ctr"/>
          <a:lstStyle/>
          <a:p>
            <a:pPr indent="0" marL="0">
              <a:buNone/>
            </a:pPr>
            <a:r>
              <a:rPr lang="en-US" sz="1300" dirty="0">
                <a:solidFill>
                  <a:schemeClr val="accent4"/>
                </a:solidFill>
              </a:rPr>
              <a:t>Nov./Dez.</a:t>
            </a:r>
            <a:endParaRPr lang="en-US" sz="1300" dirty="0"/>
          </a:p>
        </p:txBody>
      </p:sp>
      <p:sp>
        <p:nvSpPr>
          <p:cNvPr id="58" name="Text 55"/>
          <p:cNvSpPr txBox="1"/>
          <p:nvPr/>
        </p:nvSpPr>
        <p:spPr>
          <a:xfrm>
            <a:off x="9829800" y="3959352"/>
            <a:ext cx="1463040" cy="566928"/>
          </a:xfrm>
          <a:prstGeom prst="rect">
            <a:avLst/>
          </a:prstGeom>
          <a:noFill/>
          <a:ln/>
        </p:spPr>
        <p:txBody>
          <a:bodyPr wrap="square" lIns="0" tIns="0" rIns="0" bIns="0" rtlCol="0" anchor="ctr"/>
          <a:lstStyle/>
          <a:p>
            <a:pPr algn="r" indent="0" marL="0">
              <a:buNone/>
            </a:pPr>
            <a:r>
              <a:rPr lang="en-US" sz="2200" b="1" dirty="0">
                <a:solidFill>
                  <a:schemeClr val="tx2"/>
                </a:solidFill>
                <a:latin typeface="Cambria" pitchFamily="34" charset="0"/>
                <a:ea typeface="Cambria" pitchFamily="34" charset="-122"/>
                <a:cs typeface="Cambria" pitchFamily="34" charset="-120"/>
              </a:rPr>
              <a:t>8.400 €</a:t>
            </a:r>
            <a:endParaRPr lang="en-US" sz="2200" dirty="0"/>
          </a:p>
        </p:txBody>
      </p:sp>
      <p:sp>
        <p:nvSpPr>
          <p:cNvPr id="59" name="Text 56"/>
          <p:cNvSpPr txBox="1"/>
          <p:nvPr/>
        </p:nvSpPr>
        <p:spPr>
          <a:xfrm>
            <a:off x="8229600" y="4599432"/>
            <a:ext cx="3063240" cy="822960"/>
          </a:xfrm>
          <a:prstGeom prst="rect">
            <a:avLst/>
          </a:prstGeom>
          <a:noFill/>
          <a:ln/>
        </p:spPr>
        <p:txBody>
          <a:bodyPr wrap="square" lIns="0" tIns="0" rIns="0" bIns="0" rtlCol="0" anchor="t"/>
          <a:lstStyle/>
          <a:p>
            <a:pPr indent="0" marL="0">
              <a:buNone/>
            </a:pPr>
            <a:r>
              <a:rPr lang="en-US" sz="1500" dirty="0">
                <a:solidFill>
                  <a:schemeClr val="tx1"/>
                </a:solidFill>
              </a:rPr>
              <a:t>Letzte Runde: noch einmal 13 Paletten, um Umsatz zu machen.</a:t>
            </a:r>
            <a:endParaRPr lang="en-US" sz="1500" dirty="0"/>
          </a:p>
        </p:txBody>
      </p:sp>
      <p:sp>
        <p:nvSpPr>
          <p:cNvPr id="60" name="Ergebnis R6"/>
          <p:cNvSpPr/>
          <p:nvPr/>
        </p:nvSpPr>
        <p:spPr>
          <a:xfrm>
            <a:off x="8229600" y="5486400"/>
            <a:ext cx="3063240" cy="411480"/>
          </a:xfrm>
          <a:prstGeom prst="roundRect">
            <a:avLst>
              <a:gd name="adj" fmla="val 13333"/>
            </a:avLst>
          </a:prstGeom>
          <a:solidFill>
            <a:srgbClr val="E3EFCF"/>
          </a:solidFill>
          <a:ln/>
        </p:spPr>
      </p:sp>
      <p:sp>
        <p:nvSpPr>
          <p:cNvPr id="61" name="Text 58"/>
          <p:cNvSpPr txBox="1"/>
          <p:nvPr/>
        </p:nvSpPr>
        <p:spPr>
          <a:xfrm>
            <a:off x="8321040" y="5486400"/>
            <a:ext cx="2880360" cy="411480"/>
          </a:xfrm>
          <a:prstGeom prst="rect">
            <a:avLst/>
          </a:prstGeom>
          <a:noFill/>
          <a:ln/>
        </p:spPr>
        <p:txBody>
          <a:bodyPr wrap="square" lIns="0" tIns="0" rIns="0" bIns="0" rtlCol="0" anchor="ctr"/>
          <a:lstStyle/>
          <a:p>
            <a:pPr indent="0" marL="0">
              <a:buNone/>
            </a:pPr>
            <a:r>
              <a:rPr lang="en-US" sz="1400" b="1" dirty="0">
                <a:solidFill>
                  <a:srgbClr val="3D6610"/>
                </a:solidFill>
              </a:rPr>
              <a:t>Ergebnis +5.980 € → Kasse 53.770 €</a:t>
            </a:r>
            <a:endParaRPr lang="en-US" sz="1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Wirtschaftsdienst: Kosten von außen</a:t>
            </a:r>
            <a:endParaRPr lang="en-US" sz="3600" dirty="0"/>
          </a:p>
        </p:txBody>
      </p:sp>
      <p:sp>
        <p:nvSpPr>
          <p:cNvPr id="3" name="Kapitelpunkt Einleitung"/>
          <p:cNvSpPr/>
          <p:nvPr/>
        </p:nvSpPr>
        <p:spPr>
          <a:xfrm>
            <a:off x="640080" y="6437376"/>
            <a:ext cx="109728" cy="109728"/>
          </a:xfrm>
          <a:prstGeom prst="ellipse">
            <a:avLst/>
          </a:prstGeom>
          <a:solidFill>
            <a:schemeClr val="accent5"/>
          </a:solidFill>
          <a:ln/>
        </p:spPr>
      </p:sp>
      <p:sp>
        <p:nvSpPr>
          <p:cNvPr id="4" name="Text 2"/>
          <p:cNvSpPr txBox="1"/>
          <p:nvPr/>
        </p:nvSpPr>
        <p:spPr>
          <a:xfrm>
            <a:off x="82296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Einleitung</a:t>
            </a:r>
            <a:endParaRPr lang="en-US" sz="1100" dirty="0"/>
          </a:p>
        </p:txBody>
      </p:sp>
      <p:sp>
        <p:nvSpPr>
          <p:cNvPr id="5" name="Kapitelpunkt Verlauf"/>
          <p:cNvSpPr/>
          <p:nvPr/>
        </p:nvSpPr>
        <p:spPr>
          <a:xfrm>
            <a:off x="2057400" y="6437376"/>
            <a:ext cx="109728" cy="109728"/>
          </a:xfrm>
          <a:prstGeom prst="ellipse">
            <a:avLst/>
          </a:prstGeom>
          <a:solidFill>
            <a:schemeClr val="accent2"/>
          </a:solidFill>
          <a:ln/>
        </p:spPr>
      </p:sp>
      <p:sp>
        <p:nvSpPr>
          <p:cNvPr id="6" name="Text 4"/>
          <p:cNvSpPr txBox="1"/>
          <p:nvPr/>
        </p:nvSpPr>
        <p:spPr>
          <a:xfrm>
            <a:off x="2240280" y="6355080"/>
            <a:ext cx="1188720" cy="274320"/>
          </a:xfrm>
          <a:prstGeom prst="rect">
            <a:avLst/>
          </a:prstGeom>
          <a:noFill/>
          <a:ln/>
        </p:spPr>
        <p:txBody>
          <a:bodyPr wrap="square" lIns="0" tIns="0" rIns="0" bIns="0" rtlCol="0" anchor="ctr"/>
          <a:lstStyle/>
          <a:p>
            <a:pPr indent="0" marL="0">
              <a:buNone/>
            </a:pPr>
            <a:r>
              <a:rPr lang="en-US" sz="1100" b="1" dirty="0">
                <a:solidFill>
                  <a:schemeClr val="accent2"/>
                </a:solidFill>
              </a:rPr>
              <a:t>Verlauf</a:t>
            </a:r>
            <a:endParaRPr lang="en-US" sz="1100" dirty="0"/>
          </a:p>
        </p:txBody>
      </p:sp>
      <p:sp>
        <p:nvSpPr>
          <p:cNvPr id="7" name="Kapitelpunkt Auswertung"/>
          <p:cNvSpPr/>
          <p:nvPr/>
        </p:nvSpPr>
        <p:spPr>
          <a:xfrm>
            <a:off x="3474720" y="6437376"/>
            <a:ext cx="109728" cy="109728"/>
          </a:xfrm>
          <a:prstGeom prst="ellipse">
            <a:avLst/>
          </a:prstGeom>
          <a:solidFill>
            <a:schemeClr val="accent5"/>
          </a:solidFill>
          <a:ln/>
        </p:spPr>
      </p:sp>
      <p:sp>
        <p:nvSpPr>
          <p:cNvPr id="8" name="Text 6"/>
          <p:cNvSpPr txBox="1"/>
          <p:nvPr/>
        </p:nvSpPr>
        <p:spPr>
          <a:xfrm>
            <a:off x="365760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Auswertung</a:t>
            </a:r>
            <a:endParaRPr lang="en-US" sz="1100" dirty="0"/>
          </a:p>
        </p:txBody>
      </p:sp>
      <p:sp>
        <p:nvSpPr>
          <p:cNvPr id="9" name="Kapitelpunkt Reflexion"/>
          <p:cNvSpPr/>
          <p:nvPr/>
        </p:nvSpPr>
        <p:spPr>
          <a:xfrm>
            <a:off x="4892040" y="6437376"/>
            <a:ext cx="109728" cy="109728"/>
          </a:xfrm>
          <a:prstGeom prst="ellipse">
            <a:avLst/>
          </a:prstGeom>
          <a:solidFill>
            <a:schemeClr val="accent5"/>
          </a:solidFill>
          <a:ln/>
        </p:spPr>
      </p:sp>
      <p:sp>
        <p:nvSpPr>
          <p:cNvPr id="10" name="Text 8"/>
          <p:cNvSpPr txBox="1"/>
          <p:nvPr/>
        </p:nvSpPr>
        <p:spPr>
          <a:xfrm>
            <a:off x="507492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Reflexion</a:t>
            </a:r>
            <a:endParaRPr lang="en-US" sz="1100" dirty="0"/>
          </a:p>
        </p:txBody>
      </p:sp>
      <p:sp>
        <p:nvSpPr>
          <p:cNvPr id="11" name="Kapitelpunkt Gründung"/>
          <p:cNvSpPr/>
          <p:nvPr/>
        </p:nvSpPr>
        <p:spPr>
          <a:xfrm>
            <a:off x="6309360" y="6437376"/>
            <a:ext cx="109728" cy="109728"/>
          </a:xfrm>
          <a:prstGeom prst="ellipse">
            <a:avLst/>
          </a:prstGeom>
          <a:solidFill>
            <a:schemeClr val="accent5"/>
          </a:solidFill>
          <a:ln/>
        </p:spPr>
      </p:sp>
      <p:sp>
        <p:nvSpPr>
          <p:cNvPr id="12" name="Text 10"/>
          <p:cNvSpPr txBox="1"/>
          <p:nvPr/>
        </p:nvSpPr>
        <p:spPr>
          <a:xfrm>
            <a:off x="649224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Gründung</a:t>
            </a:r>
            <a:endParaRPr lang="en-US" sz="1100" dirty="0"/>
          </a:p>
        </p:txBody>
      </p:sp>
      <p:sp>
        <p:nvSpPr>
          <p:cNvPr id="14" name="Kennzahl Zusatzkosten"/>
          <p:cNvSpPr/>
          <p:nvPr/>
        </p:nvSpPr>
        <p:spPr>
          <a:xfrm>
            <a:off x="640080" y="1463040"/>
            <a:ext cx="3291840" cy="2148840"/>
          </a:xfrm>
          <a:prstGeom prst="roundRect">
            <a:avLst>
              <a:gd name="adj" fmla="val 5106"/>
            </a:avLst>
          </a:prstGeom>
          <a:solidFill>
            <a:schemeClr val="accent1"/>
          </a:solidFill>
          <a:ln/>
        </p:spPr>
      </p:sp>
      <p:sp>
        <p:nvSpPr>
          <p:cNvPr id="15" name="Icon-Kreis FaNewspaper"/>
          <p:cNvSpPr/>
          <p:nvPr/>
        </p:nvSpPr>
        <p:spPr>
          <a:xfrm>
            <a:off x="868680" y="1691640"/>
            <a:ext cx="594360" cy="594360"/>
          </a:xfrm>
          <a:prstGeom prst="ellipse">
            <a:avLst/>
          </a:prstGeom>
          <a:solidFill>
            <a:schemeClr val="accent2"/>
          </a:solidFill>
          <a:ln/>
        </p:spPr>
      </p:sp>
      <p:pic>
        <p:nvPicPr>
          <p:cNvPr id="16" name="Icon FaNewspaper" descr="Symbol Newspaper">    </p:cNvPr>
          <p:cNvPicPr>
            <a:picLocks noChangeAspect="1"/>
          </p:cNvPicPr>
          <p:nvPr/>
        </p:nvPicPr>
        <p:blipFill>
          <a:blip r:embed="rId1"/>
          <a:stretch>
            <a:fillRect/>
          </a:stretch>
        </p:blipFill>
        <p:spPr>
          <a:xfrm>
            <a:off x="1029157" y="1852117"/>
            <a:ext cx="273406" cy="273406"/>
          </a:xfrm>
          <a:prstGeom prst="rect">
            <a:avLst/>
          </a:prstGeom>
        </p:spPr>
      </p:pic>
      <p:sp>
        <p:nvSpPr>
          <p:cNvPr id="17" name="Text 13"/>
          <p:cNvSpPr txBox="1"/>
          <p:nvPr/>
        </p:nvSpPr>
        <p:spPr>
          <a:xfrm>
            <a:off x="868680" y="2331720"/>
            <a:ext cx="2926080" cy="73152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34.000 €</a:t>
            </a:r>
            <a:endParaRPr lang="en-US" sz="4000" dirty="0"/>
          </a:p>
        </p:txBody>
      </p:sp>
      <p:sp>
        <p:nvSpPr>
          <p:cNvPr id="18" name="Text 14"/>
          <p:cNvSpPr txBox="1"/>
          <p:nvPr/>
        </p:nvSpPr>
        <p:spPr>
          <a:xfrm>
            <a:off x="868680" y="3017520"/>
            <a:ext cx="2926080" cy="411480"/>
          </a:xfrm>
          <a:prstGeom prst="rect">
            <a:avLst/>
          </a:prstGeom>
          <a:noFill/>
          <a:ln/>
        </p:spPr>
        <p:txBody>
          <a:bodyPr wrap="square" lIns="0" tIns="0" rIns="0" bIns="0" rtlCol="0" anchor="ctr"/>
          <a:lstStyle/>
          <a:p>
            <a:pPr indent="0" marL="0">
              <a:buNone/>
            </a:pPr>
            <a:r>
              <a:rPr lang="en-US" sz="1500" dirty="0">
                <a:solidFill>
                  <a:schemeClr val="bg2"/>
                </a:solidFill>
              </a:rPr>
              <a:t>Zusatzkosten in den Runden 2–6</a:t>
            </a:r>
            <a:endParaRPr lang="en-US" sz="1500" dirty="0"/>
          </a:p>
        </p:txBody>
      </p:sp>
      <p:sp>
        <p:nvSpPr>
          <p:cNvPr id="19" name="Einordnung Zusatzkosten"/>
          <p:cNvSpPr/>
          <p:nvPr/>
        </p:nvSpPr>
        <p:spPr>
          <a:xfrm>
            <a:off x="640080" y="3794760"/>
            <a:ext cx="3291840" cy="2286000"/>
          </a:xfrm>
          <a:prstGeom prst="roundRect">
            <a:avLst>
              <a:gd name="adj" fmla="val 4800"/>
            </a:avLst>
          </a:prstGeom>
          <a:solidFill>
            <a:schemeClr val="bg2"/>
          </a:solidFill>
          <a:ln/>
        </p:spPr>
      </p:sp>
      <p:sp>
        <p:nvSpPr>
          <p:cNvPr id="20" name="Text 16"/>
          <p:cNvSpPr txBox="1"/>
          <p:nvPr/>
        </p:nvSpPr>
        <p:spPr>
          <a:xfrm>
            <a:off x="868680" y="3931920"/>
            <a:ext cx="2926080" cy="2011680"/>
          </a:xfrm>
          <a:prstGeom prst="rect">
            <a:avLst/>
          </a:prstGeom>
          <a:noFill/>
          <a:ln/>
        </p:spPr>
        <p:txBody>
          <a:bodyPr wrap="square" lIns="0" tIns="0" rIns="0" bIns="0" rtlCol="0" anchor="ctr"/>
          <a:lstStyle/>
          <a:p>
            <a:pPr marL="203200" indent="-203200">
              <a:spcAft>
                <a:spcPts val="800"/>
              </a:spcAft>
              <a:buSzPct val="100000"/>
              <a:buChar char="•"/>
            </a:pPr>
            <a:r>
              <a:rPr lang="en-US" sz="1500" dirty="0">
                <a:solidFill>
                  <a:schemeClr val="tx1"/>
                </a:solidFill>
              </a:rPr>
              <a:t>≈ 12 % unserer Gesamtkosten</a:t>
            </a:r>
            <a:endParaRPr lang="en-US" sz="1500" dirty="0"/>
          </a:p>
          <a:p>
            <a:pPr marL="203200" indent="-203200">
              <a:spcAft>
                <a:spcPts val="800"/>
              </a:spcAft>
              <a:buSzPct val="100000"/>
              <a:buChar char="•"/>
            </a:pPr>
            <a:r>
              <a:rPr lang="en-US" sz="1500" dirty="0">
                <a:solidFill>
                  <a:schemeClr val="tx1"/>
                </a:solidFill>
              </a:rPr>
              <a:t>Am höchsten in R2 und R5 (je 10.000 €)</a:t>
            </a:r>
            <a:endParaRPr lang="en-US" sz="1500" dirty="0"/>
          </a:p>
          <a:p>
            <a:pPr marL="203200" indent="-203200">
              <a:spcAft>
                <a:spcPts val="800"/>
              </a:spcAft>
              <a:buSzPct val="100000"/>
              <a:buChar char="•"/>
            </a:pPr>
            <a:r>
              <a:rPr lang="en-US" sz="1500" dirty="0">
                <a:solidFill>
                  <a:schemeClr val="tx1"/>
                </a:solidFill>
              </a:rPr>
              <a:t>Ohne sie: Verkaufswert 117.770 € – über dem Startkapital</a:t>
            </a:r>
            <a:endParaRPr lang="en-US" sz="1500" dirty="0"/>
          </a:p>
        </p:txBody>
      </p:sp>
      <p:graphicFrame>
        <p:nvGraphicFramePr>
          <p:cNvPr id="21" name="Chart 0" descr=""/>
          <p:cNvGraphicFramePr/>
          <p:nvPr/>
        </p:nvGraphicFramePr>
        <p:xfrm>
          <a:off x="4206240" y="1371600"/>
          <a:ext cx="7315200" cy="47548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Unsere Kennzahlen je Runde</a:t>
            </a:r>
            <a:endParaRPr lang="en-US" sz="3600" dirty="0"/>
          </a:p>
        </p:txBody>
      </p:sp>
      <p:sp>
        <p:nvSpPr>
          <p:cNvPr id="3" name="Kapitelpunkt Einleitung"/>
          <p:cNvSpPr/>
          <p:nvPr/>
        </p:nvSpPr>
        <p:spPr>
          <a:xfrm>
            <a:off x="640080" y="6437376"/>
            <a:ext cx="109728" cy="109728"/>
          </a:xfrm>
          <a:prstGeom prst="ellipse">
            <a:avLst/>
          </a:prstGeom>
          <a:solidFill>
            <a:schemeClr val="accent5"/>
          </a:solidFill>
          <a:ln/>
        </p:spPr>
      </p:sp>
      <p:sp>
        <p:nvSpPr>
          <p:cNvPr id="4" name="Text 2"/>
          <p:cNvSpPr txBox="1"/>
          <p:nvPr/>
        </p:nvSpPr>
        <p:spPr>
          <a:xfrm>
            <a:off x="82296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Einleitung</a:t>
            </a:r>
            <a:endParaRPr lang="en-US" sz="1100" dirty="0"/>
          </a:p>
        </p:txBody>
      </p:sp>
      <p:sp>
        <p:nvSpPr>
          <p:cNvPr id="5" name="Kapitelpunkt Verlauf"/>
          <p:cNvSpPr/>
          <p:nvPr/>
        </p:nvSpPr>
        <p:spPr>
          <a:xfrm>
            <a:off x="2057400" y="6437376"/>
            <a:ext cx="109728" cy="109728"/>
          </a:xfrm>
          <a:prstGeom prst="ellipse">
            <a:avLst/>
          </a:prstGeom>
          <a:solidFill>
            <a:schemeClr val="accent5"/>
          </a:solidFill>
          <a:ln/>
        </p:spPr>
      </p:sp>
      <p:sp>
        <p:nvSpPr>
          <p:cNvPr id="6" name="Text 4"/>
          <p:cNvSpPr txBox="1"/>
          <p:nvPr/>
        </p:nvSpPr>
        <p:spPr>
          <a:xfrm>
            <a:off x="224028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Verlauf</a:t>
            </a:r>
            <a:endParaRPr lang="en-US" sz="1100" dirty="0"/>
          </a:p>
        </p:txBody>
      </p:sp>
      <p:sp>
        <p:nvSpPr>
          <p:cNvPr id="7" name="Kapitelpunkt Auswertung"/>
          <p:cNvSpPr/>
          <p:nvPr/>
        </p:nvSpPr>
        <p:spPr>
          <a:xfrm>
            <a:off x="3474720" y="6437376"/>
            <a:ext cx="109728" cy="109728"/>
          </a:xfrm>
          <a:prstGeom prst="ellipse">
            <a:avLst/>
          </a:prstGeom>
          <a:solidFill>
            <a:schemeClr val="accent2"/>
          </a:solidFill>
          <a:ln/>
        </p:spPr>
      </p:sp>
      <p:sp>
        <p:nvSpPr>
          <p:cNvPr id="8" name="Text 6"/>
          <p:cNvSpPr txBox="1"/>
          <p:nvPr/>
        </p:nvSpPr>
        <p:spPr>
          <a:xfrm>
            <a:off x="3657600" y="6355080"/>
            <a:ext cx="1188720" cy="274320"/>
          </a:xfrm>
          <a:prstGeom prst="rect">
            <a:avLst/>
          </a:prstGeom>
          <a:noFill/>
          <a:ln/>
        </p:spPr>
        <p:txBody>
          <a:bodyPr wrap="square" lIns="0" tIns="0" rIns="0" bIns="0" rtlCol="0" anchor="ctr"/>
          <a:lstStyle/>
          <a:p>
            <a:pPr indent="0" marL="0">
              <a:buNone/>
            </a:pPr>
            <a:r>
              <a:rPr lang="en-US" sz="1100" b="1" dirty="0">
                <a:solidFill>
                  <a:schemeClr val="accent2"/>
                </a:solidFill>
              </a:rPr>
              <a:t>Auswertung</a:t>
            </a:r>
            <a:endParaRPr lang="en-US" sz="1100" dirty="0"/>
          </a:p>
        </p:txBody>
      </p:sp>
      <p:sp>
        <p:nvSpPr>
          <p:cNvPr id="9" name="Kapitelpunkt Reflexion"/>
          <p:cNvSpPr/>
          <p:nvPr/>
        </p:nvSpPr>
        <p:spPr>
          <a:xfrm>
            <a:off x="4892040" y="6437376"/>
            <a:ext cx="109728" cy="109728"/>
          </a:xfrm>
          <a:prstGeom prst="ellipse">
            <a:avLst/>
          </a:prstGeom>
          <a:solidFill>
            <a:schemeClr val="accent5"/>
          </a:solidFill>
          <a:ln/>
        </p:spPr>
      </p:sp>
      <p:sp>
        <p:nvSpPr>
          <p:cNvPr id="10" name="Text 8"/>
          <p:cNvSpPr txBox="1"/>
          <p:nvPr/>
        </p:nvSpPr>
        <p:spPr>
          <a:xfrm>
            <a:off x="507492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Reflexion</a:t>
            </a:r>
            <a:endParaRPr lang="en-US" sz="1100" dirty="0"/>
          </a:p>
        </p:txBody>
      </p:sp>
      <p:sp>
        <p:nvSpPr>
          <p:cNvPr id="11" name="Kapitelpunkt Gründung"/>
          <p:cNvSpPr/>
          <p:nvPr/>
        </p:nvSpPr>
        <p:spPr>
          <a:xfrm>
            <a:off x="6309360" y="6437376"/>
            <a:ext cx="109728" cy="109728"/>
          </a:xfrm>
          <a:prstGeom prst="ellipse">
            <a:avLst/>
          </a:prstGeom>
          <a:solidFill>
            <a:schemeClr val="accent5"/>
          </a:solidFill>
          <a:ln/>
        </p:spPr>
      </p:sp>
      <p:sp>
        <p:nvSpPr>
          <p:cNvPr id="12" name="Text 10"/>
          <p:cNvSpPr txBox="1"/>
          <p:nvPr/>
        </p:nvSpPr>
        <p:spPr>
          <a:xfrm>
            <a:off x="649224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Gründung</a:t>
            </a:r>
            <a:endParaRPr lang="en-US" sz="1100" dirty="0"/>
          </a:p>
        </p:txBody>
      </p:sp>
      <p:graphicFrame>
        <p:nvGraphicFramePr>
          <p:cNvPr id="8" name="Tabelle Kennzahlen"/>
          <p:cNvGraphicFramePr>
            <a:graphicFrameLocks noGrp="1"/>
          </p:cNvGraphicFramePr>
          <p:nvPr>
            <p:extLst>
              <p:ext uri="{D42A27DB-BD31-4B8C-83A1-F6EECF244321}">
                <p14:modId xmlns:p14="http://schemas.microsoft.com/office/powerpoint/2010/main" val="1579011935"/>
              </p:ext>
            </p:extLst>
          </p:nvPr>
        </p:nvGraphicFramePr>
        <p:xfrm>
          <a:off x="640080" y="1417320"/>
          <a:ext cx="7680960" cy="914400"/>
        </p:xfrm>
        <a:graphic>
          <a:graphicData uri="http://schemas.openxmlformats.org/drawingml/2006/table">
            <a:tbl>
              <a:tblPr/>
              <a:tblGrid>
                <a:gridCol w="2194560"/>
                <a:gridCol w="914400"/>
                <a:gridCol w="914400"/>
                <a:gridCol w="914400"/>
                <a:gridCol w="914400"/>
                <a:gridCol w="914400"/>
                <a:gridCol w="914400"/>
              </a:tblGrid>
              <a:tr h="457200">
                <a:tc>
                  <a:txBody>
                    <a:bodyPr/>
                    <a:lstStyle/>
                    <a:p>
                      <a:pPr algn="ctr" indent="0" marL="0">
                        <a:buNone/>
                      </a:pPr>
                      <a:r>
                        <a:rPr lang="en-US" sz="1500" b="1" dirty="0">
                          <a:solidFill>
                            <a:srgbClr val="FFFFFF"/>
                          </a:solidFill>
                        </a:rPr>
                        <a:t>in €</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0F5C6B"/>
                    </a:solidFill>
                  </a:tcPr>
                </a:tc>
                <a:tc>
                  <a:txBody>
                    <a:bodyPr/>
                    <a:lstStyle/>
                    <a:p>
                      <a:pPr algn="ctr" indent="0" marL="0">
                        <a:buNone/>
                      </a:pPr>
                      <a:r>
                        <a:rPr lang="en-US" sz="1500" b="1" dirty="0">
                          <a:solidFill>
                            <a:srgbClr val="FFFFFF"/>
                          </a:solidFill>
                        </a:rPr>
                        <a:t>R1</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0F5C6B"/>
                    </a:solidFill>
                  </a:tcPr>
                </a:tc>
                <a:tc>
                  <a:txBody>
                    <a:bodyPr/>
                    <a:lstStyle/>
                    <a:p>
                      <a:pPr algn="ctr" indent="0" marL="0">
                        <a:buNone/>
                      </a:pPr>
                      <a:r>
                        <a:rPr lang="en-US" sz="1500" b="1" dirty="0">
                          <a:solidFill>
                            <a:srgbClr val="FFFFFF"/>
                          </a:solidFill>
                        </a:rPr>
                        <a:t>R2</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0F5C6B"/>
                    </a:solidFill>
                  </a:tcPr>
                </a:tc>
                <a:tc>
                  <a:txBody>
                    <a:bodyPr/>
                    <a:lstStyle/>
                    <a:p>
                      <a:pPr algn="ctr" indent="0" marL="0">
                        <a:buNone/>
                      </a:pPr>
                      <a:r>
                        <a:rPr lang="en-US" sz="1500" b="1" dirty="0">
                          <a:solidFill>
                            <a:srgbClr val="FFFFFF"/>
                          </a:solidFill>
                        </a:rPr>
                        <a:t>R3</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0F5C6B"/>
                    </a:solidFill>
                  </a:tcPr>
                </a:tc>
                <a:tc>
                  <a:txBody>
                    <a:bodyPr/>
                    <a:lstStyle/>
                    <a:p>
                      <a:pPr algn="ctr" indent="0" marL="0">
                        <a:buNone/>
                      </a:pPr>
                      <a:r>
                        <a:rPr lang="en-US" sz="1500" b="1" dirty="0">
                          <a:solidFill>
                            <a:srgbClr val="FFFFFF"/>
                          </a:solidFill>
                        </a:rPr>
                        <a:t>R4</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0F5C6B"/>
                    </a:solidFill>
                  </a:tcPr>
                </a:tc>
                <a:tc>
                  <a:txBody>
                    <a:bodyPr/>
                    <a:lstStyle/>
                    <a:p>
                      <a:pPr algn="ctr" indent="0" marL="0">
                        <a:buNone/>
                      </a:pPr>
                      <a:r>
                        <a:rPr lang="en-US" sz="1500" b="1" dirty="0">
                          <a:solidFill>
                            <a:srgbClr val="FFFFFF"/>
                          </a:solidFill>
                        </a:rPr>
                        <a:t>R5</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0F5C6B"/>
                    </a:solidFill>
                  </a:tcPr>
                </a:tc>
                <a:tc>
                  <a:txBody>
                    <a:bodyPr/>
                    <a:lstStyle/>
                    <a:p>
                      <a:pPr algn="ctr" indent="0" marL="0">
                        <a:buNone/>
                      </a:pPr>
                      <a:r>
                        <a:rPr lang="en-US" sz="1500" b="1" dirty="0">
                          <a:solidFill>
                            <a:srgbClr val="FFFFFF"/>
                          </a:solidFill>
                        </a:rPr>
                        <a:t>R6</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0F5C6B"/>
                    </a:solidFill>
                  </a:tcPr>
                </a:tc>
              </a:tr>
              <a:tr h="457200">
                <a:tc>
                  <a:txBody>
                    <a:bodyPr/>
                    <a:lstStyle/>
                    <a:p>
                      <a:pPr indent="0" marL="0">
                        <a:buNone/>
                      </a:pPr>
                      <a:r>
                        <a:rPr lang="en-US" sz="1500" dirty="0">
                          <a:solidFill>
                            <a:srgbClr val="1B2A2F"/>
                          </a:solidFill>
                        </a:rPr>
                        <a:t>– Maschinen</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30.000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30.000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r>
              <a:tr h="457200">
                <a:tc>
                  <a:txBody>
                    <a:bodyPr/>
                    <a:lstStyle/>
                    <a:p>
                      <a:pPr indent="0" marL="0">
                        <a:buNone/>
                      </a:pPr>
                      <a:r>
                        <a:rPr lang="en-US" sz="1500" dirty="0">
                          <a:solidFill>
                            <a:srgbClr val="1B2A2F"/>
                          </a:solidFill>
                        </a:rPr>
                        <a:t>– Personal + Miete</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9.000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9.000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13.000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13.000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13.000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13.000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r>
              <a:tr h="457200">
                <a:tc>
                  <a:txBody>
                    <a:bodyPr/>
                    <a:lstStyle/>
                    <a:p>
                      <a:pPr indent="0" marL="0">
                        <a:buNone/>
                      </a:pPr>
                      <a:r>
                        <a:rPr lang="en-US" sz="1500" dirty="0">
                          <a:solidFill>
                            <a:srgbClr val="1B2A2F"/>
                          </a:solidFill>
                        </a:rPr>
                        <a:t>– Wirtschaftsdienst</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10.000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5.000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2.500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10.000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6.500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r>
              <a:tr h="457200">
                <a:tc>
                  <a:txBody>
                    <a:bodyPr/>
                    <a:lstStyle/>
                    <a:p>
                      <a:pPr indent="0" marL="0">
                        <a:buNone/>
                      </a:pPr>
                      <a:r>
                        <a:rPr lang="en-US" sz="1500" dirty="0">
                          <a:solidFill>
                            <a:srgbClr val="1B2A2F"/>
                          </a:solidFill>
                        </a:rPr>
                        <a:t>– Produktion + Material</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30.000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26.000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36.000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2.500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2.000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dirty="0">
                          <a:solidFill>
                            <a:srgbClr val="1B2A2F"/>
                          </a:solidFill>
                        </a:rPr>
                        <a:t>26.000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r>
              <a:tr h="457200">
                <a:tc>
                  <a:txBody>
                    <a:bodyPr/>
                    <a:lstStyle/>
                    <a:p>
                      <a:pPr indent="0" marL="0">
                        <a:buNone/>
                      </a:pPr>
                      <a:r>
                        <a:rPr lang="en-US" sz="1500" b="1" dirty="0">
                          <a:solidFill>
                            <a:srgbClr val="1B2A2F"/>
                          </a:solidFill>
                        </a:rPr>
                        <a:t>= Kosten gesamt</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69.000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75.000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54.000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18.000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25.000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45.500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r>
              <a:tr h="457200">
                <a:tc>
                  <a:txBody>
                    <a:bodyPr/>
                    <a:lstStyle/>
                    <a:p>
                      <a:pPr indent="0" marL="0">
                        <a:buNone/>
                      </a:pPr>
                      <a:r>
                        <a:rPr lang="en-US" sz="1500" b="1" dirty="0">
                          <a:solidFill>
                            <a:srgbClr val="1B2A2F"/>
                          </a:solidFill>
                        </a:rPr>
                        <a:t>Umsatzerlöse</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45.000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55.900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79.940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5.250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2.700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c>
                  <a:txBody>
                    <a:bodyPr/>
                    <a:lstStyle/>
                    <a:p>
                      <a:pPr algn="r" indent="0" marL="0">
                        <a:buNone/>
                      </a:pPr>
                      <a:r>
                        <a:rPr lang="en-US" sz="1500" b="1" dirty="0">
                          <a:solidFill>
                            <a:srgbClr val="1B2A2F"/>
                          </a:solidFill>
                        </a:rPr>
                        <a:t>51.480</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tcPr>
                </a:tc>
              </a:tr>
              <a:tr h="457200">
                <a:tc>
                  <a:txBody>
                    <a:bodyPr/>
                    <a:lstStyle/>
                    <a:p>
                      <a:pPr indent="0" marL="0">
                        <a:buNone/>
                      </a:pPr>
                      <a:r>
                        <a:rPr lang="en-US" sz="1500" b="1" dirty="0">
                          <a:solidFill>
                            <a:srgbClr val="FFFFFF"/>
                          </a:solidFill>
                        </a:rPr>
                        <a:t>Wirtschaftlichkeit</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0F5C6B"/>
                    </a:solidFill>
                  </a:tcPr>
                </a:tc>
                <a:tc>
                  <a:txBody>
                    <a:bodyPr/>
                    <a:lstStyle/>
                    <a:p>
                      <a:pPr algn="ctr" indent="0" marL="0">
                        <a:buNone/>
                      </a:pPr>
                      <a:r>
                        <a:rPr lang="en-US" sz="1500" b="1" dirty="0">
                          <a:solidFill>
                            <a:srgbClr val="8A4A12"/>
                          </a:solidFill>
                        </a:rPr>
                        <a:t>0,65</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F7E4CF"/>
                    </a:solidFill>
                  </a:tcPr>
                </a:tc>
                <a:tc>
                  <a:txBody>
                    <a:bodyPr/>
                    <a:lstStyle/>
                    <a:p>
                      <a:pPr algn="ctr" indent="0" marL="0">
                        <a:buNone/>
                      </a:pPr>
                      <a:r>
                        <a:rPr lang="en-US" sz="1500" b="1" dirty="0">
                          <a:solidFill>
                            <a:srgbClr val="8A4A12"/>
                          </a:solidFill>
                        </a:rPr>
                        <a:t>0,75</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F7E4CF"/>
                    </a:solidFill>
                  </a:tcPr>
                </a:tc>
                <a:tc>
                  <a:txBody>
                    <a:bodyPr/>
                    <a:lstStyle/>
                    <a:p>
                      <a:pPr algn="ctr" indent="0" marL="0">
                        <a:buNone/>
                      </a:pPr>
                      <a:r>
                        <a:rPr lang="en-US" sz="1500" b="1" dirty="0">
                          <a:solidFill>
                            <a:srgbClr val="3D6610"/>
                          </a:solidFill>
                        </a:rPr>
                        <a:t>1,48</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E3EFCF"/>
                    </a:solidFill>
                  </a:tcPr>
                </a:tc>
                <a:tc>
                  <a:txBody>
                    <a:bodyPr/>
                    <a:lstStyle/>
                    <a:p>
                      <a:pPr algn="ctr" indent="0" marL="0">
                        <a:buNone/>
                      </a:pPr>
                      <a:r>
                        <a:rPr lang="en-US" sz="1500" b="1" dirty="0">
                          <a:solidFill>
                            <a:srgbClr val="8A4A12"/>
                          </a:solidFill>
                        </a:rPr>
                        <a:t>0,29</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F7E4CF"/>
                    </a:solidFill>
                  </a:tcPr>
                </a:tc>
                <a:tc>
                  <a:txBody>
                    <a:bodyPr/>
                    <a:lstStyle/>
                    <a:p>
                      <a:pPr algn="ctr" indent="0" marL="0">
                        <a:buNone/>
                      </a:pPr>
                      <a:r>
                        <a:rPr lang="en-US" sz="1500" b="1" dirty="0">
                          <a:solidFill>
                            <a:srgbClr val="8A4A12"/>
                          </a:solidFill>
                        </a:rPr>
                        <a:t>0,11</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F7E4CF"/>
                    </a:solidFill>
                  </a:tcPr>
                </a:tc>
                <a:tc>
                  <a:txBody>
                    <a:bodyPr/>
                    <a:lstStyle/>
                    <a:p>
                      <a:pPr algn="ctr" indent="0" marL="0">
                        <a:buNone/>
                      </a:pPr>
                      <a:r>
                        <a:rPr lang="en-US" sz="1500" b="1" dirty="0">
                          <a:solidFill>
                            <a:srgbClr val="3D6610"/>
                          </a:solidFill>
                        </a:rPr>
                        <a:t>1,13</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E3EFCF"/>
                    </a:solidFill>
                  </a:tcPr>
                </a:tc>
              </a:tr>
              <a:tr h="457200">
                <a:tc>
                  <a:txBody>
                    <a:bodyPr/>
                    <a:lstStyle/>
                    <a:p>
                      <a:pPr indent="0" marL="0">
                        <a:buNone/>
                      </a:pPr>
                      <a:r>
                        <a:rPr lang="en-US" sz="1500" b="1" dirty="0">
                          <a:solidFill>
                            <a:srgbClr val="FFFFFF"/>
                          </a:solidFill>
                        </a:rPr>
                        <a:t>Absatzquote</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0F5C6B"/>
                    </a:solidFill>
                  </a:tcPr>
                </a:tc>
                <a:tc>
                  <a:txBody>
                    <a:bodyPr/>
                    <a:lstStyle/>
                    <a:p>
                      <a:pPr algn="ctr" indent="0" marL="0">
                        <a:buNone/>
                      </a:pPr>
                      <a:r>
                        <a:rPr lang="en-US" sz="1500" b="1" dirty="0">
                          <a:solidFill>
                            <a:srgbClr val="0F5C6B"/>
                          </a:solidFill>
                        </a:rPr>
                        <a:t>100 %</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E6EEF0"/>
                    </a:solidFill>
                  </a:tcPr>
                </a:tc>
                <a:tc>
                  <a:txBody>
                    <a:bodyPr/>
                    <a:lstStyle/>
                    <a:p>
                      <a:pPr algn="ctr" indent="0" marL="0">
                        <a:buNone/>
                      </a:pPr>
                      <a:r>
                        <a:rPr lang="en-US" sz="1500" b="1" dirty="0">
                          <a:solidFill>
                            <a:srgbClr val="0F5C6B"/>
                          </a:solidFill>
                        </a:rPr>
                        <a:t>50 %</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E6EEF0"/>
                    </a:solidFill>
                  </a:tcPr>
                </a:tc>
                <a:tc>
                  <a:txBody>
                    <a:bodyPr/>
                    <a:lstStyle/>
                    <a:p>
                      <a:pPr algn="ctr" indent="0" marL="0">
                        <a:buNone/>
                      </a:pPr>
                      <a:r>
                        <a:rPr lang="en-US" sz="1500" b="1" dirty="0">
                          <a:solidFill>
                            <a:srgbClr val="0F5C6B"/>
                          </a:solidFill>
                        </a:rPr>
                        <a:t>70 %</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E6EEF0"/>
                    </a:solidFill>
                  </a:tcPr>
                </a:tc>
                <a:tc>
                  <a:txBody>
                    <a:bodyPr/>
                    <a:lstStyle/>
                    <a:p>
                      <a:pPr algn="ctr" indent="0" marL="0">
                        <a:buNone/>
                      </a:pPr>
                      <a:r>
                        <a:rPr lang="en-US" sz="1500" b="1" dirty="0">
                          <a:solidFill>
                            <a:srgbClr val="0F5C6B"/>
                          </a:solidFill>
                        </a:rPr>
                        <a:t>50 %</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E6EEF0"/>
                    </a:solidFill>
                  </a:tcPr>
                </a:tc>
                <a:tc>
                  <a:txBody>
                    <a:bodyPr/>
                    <a:lstStyle/>
                    <a:p>
                      <a:pPr algn="ctr" indent="0" marL="0">
                        <a:buNone/>
                      </a:pPr>
                      <a:r>
                        <a:rPr lang="en-US" sz="1500" b="1" dirty="0">
                          <a:solidFill>
                            <a:srgbClr val="0F5C6B"/>
                          </a:solidFill>
                        </a:rPr>
                        <a:t>20 %</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E6EEF0"/>
                    </a:solidFill>
                  </a:tcPr>
                </a:tc>
                <a:tc>
                  <a:txBody>
                    <a:bodyPr/>
                    <a:lstStyle/>
                    <a:p>
                      <a:pPr algn="ctr" indent="0" marL="0">
                        <a:buNone/>
                      </a:pPr>
                      <a:r>
                        <a:rPr lang="en-US" sz="1500" b="1" dirty="0">
                          <a:solidFill>
                            <a:srgbClr val="0F5C6B"/>
                          </a:solidFill>
                        </a:rPr>
                        <a:t>40 %</a:t>
                      </a:r>
                      <a:endParaRPr lang="en-US" sz="1500" dirty="0"/>
                    </a:p>
                  </a:txBody>
                  <a:tcPr marL="91440" marR="91440" marT="45720" marB="45720" anchor="ctr">
                    <a:lnL w="9525" cap="flat" cmpd="sng" algn="ctr">
                      <a:solidFill>
                        <a:srgbClr val="D3D1C8"/>
                      </a:solidFill>
                      <a:prstDash val="solid"/>
                      <a:round/>
                      <a:headEnd type="none" w="med" len="med"/>
                      <a:tailEnd type="none" w="med" len="med"/>
                    </a:lnL>
                    <a:lnR w="9525" cap="flat" cmpd="sng" algn="ctr">
                      <a:solidFill>
                        <a:srgbClr val="D3D1C8"/>
                      </a:solidFill>
                      <a:prstDash val="solid"/>
                      <a:round/>
                      <a:headEnd type="none" w="med" len="med"/>
                      <a:tailEnd type="none" w="med" len="med"/>
                    </a:lnR>
                    <a:lnT w="9525" cap="flat" cmpd="sng" algn="ctr">
                      <a:solidFill>
                        <a:srgbClr val="D3D1C8"/>
                      </a:solidFill>
                      <a:prstDash val="solid"/>
                      <a:round/>
                      <a:headEnd type="none" w="med" len="med"/>
                      <a:tailEnd type="none" w="med" len="med"/>
                    </a:lnT>
                    <a:lnB w="9525" cap="flat" cmpd="sng" algn="ctr">
                      <a:solidFill>
                        <a:srgbClr val="D3D1C8"/>
                      </a:solidFill>
                      <a:prstDash val="solid"/>
                      <a:round/>
                      <a:headEnd type="none" w="med" len="med"/>
                      <a:tailEnd type="none" w="med" len="med"/>
                    </a:lnB>
                    <a:solidFill>
                      <a:srgbClr val="E6EEF0"/>
                    </a:solidFill>
                  </a:tcPr>
                </a:tc>
              </a:tr>
            </a:tbl>
          </a:graphicData>
        </a:graphic>
      </p:graphicFrame>
      <p:sp>
        <p:nvSpPr>
          <p:cNvPr id="15" name="Text 11"/>
          <p:cNvSpPr txBox="1"/>
          <p:nvPr/>
        </p:nvSpPr>
        <p:spPr>
          <a:xfrm>
            <a:off x="640080" y="5623560"/>
            <a:ext cx="7680960" cy="320040"/>
          </a:xfrm>
          <a:prstGeom prst="rect">
            <a:avLst/>
          </a:prstGeom>
          <a:noFill/>
          <a:ln/>
        </p:spPr>
        <p:txBody>
          <a:bodyPr wrap="square" lIns="0" tIns="0" rIns="0" bIns="0" rtlCol="0" anchor="ctr"/>
          <a:lstStyle/>
          <a:p>
            <a:pPr indent="0" marL="0">
              <a:buNone/>
            </a:pPr>
            <a:r>
              <a:rPr lang="en-US" sz="1200" i="1" dirty="0">
                <a:solidFill>
                  <a:schemeClr val="accent4"/>
                </a:solidFill>
              </a:rPr>
              <a:t>Vollständige Kostentabelle: Auswertungsbogen M15</a:t>
            </a:r>
            <a:endParaRPr lang="en-US" sz="1200" dirty="0"/>
          </a:p>
        </p:txBody>
      </p:sp>
      <p:sp>
        <p:nvSpPr>
          <p:cNvPr id="16" name="Formeln"/>
          <p:cNvSpPr/>
          <p:nvPr/>
        </p:nvSpPr>
        <p:spPr>
          <a:xfrm>
            <a:off x="8549640" y="1417320"/>
            <a:ext cx="2971800" cy="4709160"/>
          </a:xfrm>
          <a:prstGeom prst="roundRect">
            <a:avLst>
              <a:gd name="adj" fmla="val 3692"/>
            </a:avLst>
          </a:prstGeom>
          <a:solidFill>
            <a:schemeClr val="bg2"/>
          </a:solidFill>
          <a:ln/>
        </p:spPr>
      </p:sp>
      <p:sp>
        <p:nvSpPr>
          <p:cNvPr id="17" name="Icon-Kreis FaBalanceScale"/>
          <p:cNvSpPr/>
          <p:nvPr/>
        </p:nvSpPr>
        <p:spPr>
          <a:xfrm>
            <a:off x="8778240" y="1600200"/>
            <a:ext cx="594360" cy="594360"/>
          </a:xfrm>
          <a:prstGeom prst="ellipse">
            <a:avLst/>
          </a:prstGeom>
          <a:solidFill>
            <a:schemeClr val="accent1"/>
          </a:solidFill>
          <a:ln/>
        </p:spPr>
      </p:sp>
      <p:pic>
        <p:nvPicPr>
          <p:cNvPr id="18" name="Icon FaBalanceScale" descr="Symbol BalanceScale">    </p:cNvPr>
          <p:cNvPicPr>
            <a:picLocks noChangeAspect="1"/>
          </p:cNvPicPr>
          <p:nvPr/>
        </p:nvPicPr>
        <p:blipFill>
          <a:blip r:embed="rId1"/>
          <a:stretch>
            <a:fillRect/>
          </a:stretch>
        </p:blipFill>
        <p:spPr>
          <a:xfrm>
            <a:off x="8938717" y="1760677"/>
            <a:ext cx="273406" cy="273406"/>
          </a:xfrm>
          <a:prstGeom prst="rect">
            <a:avLst/>
          </a:prstGeom>
        </p:spPr>
      </p:pic>
      <p:sp>
        <p:nvSpPr>
          <p:cNvPr id="19" name="Text 14"/>
          <p:cNvSpPr txBox="1"/>
          <p:nvPr/>
        </p:nvSpPr>
        <p:spPr>
          <a:xfrm>
            <a:off x="9509760" y="1600200"/>
            <a:ext cx="1920240" cy="594360"/>
          </a:xfrm>
          <a:prstGeom prst="rect">
            <a:avLst/>
          </a:prstGeom>
          <a:noFill/>
          <a:ln/>
        </p:spPr>
        <p:txBody>
          <a:bodyPr wrap="square" lIns="0" tIns="0" rIns="0" bIns="0" rtlCol="0" anchor="ctr"/>
          <a:lstStyle/>
          <a:p>
            <a:pPr indent="0" marL="0">
              <a:buNone/>
            </a:pPr>
            <a:r>
              <a:rPr lang="en-US" sz="1800" b="1" dirty="0">
                <a:solidFill>
                  <a:schemeClr val="tx2"/>
                </a:solidFill>
              </a:rPr>
              <a:t>So rechnen wir</a:t>
            </a:r>
            <a:endParaRPr lang="en-US" sz="1800" dirty="0"/>
          </a:p>
        </p:txBody>
      </p:sp>
      <p:sp>
        <p:nvSpPr>
          <p:cNvPr id="20" name="Text 15"/>
          <p:cNvSpPr txBox="1"/>
          <p:nvPr/>
        </p:nvSpPr>
        <p:spPr>
          <a:xfrm>
            <a:off x="8778240" y="2331720"/>
            <a:ext cx="2560320" cy="3657600"/>
          </a:xfrm>
          <a:prstGeom prst="rect">
            <a:avLst/>
          </a:prstGeom>
          <a:noFill/>
          <a:ln/>
        </p:spPr>
        <p:txBody>
          <a:bodyPr wrap="square" lIns="0" tIns="0" rIns="0" bIns="0" rtlCol="0" anchor="t"/>
          <a:lstStyle/>
          <a:p>
            <a:pPr indent="0" marL="0">
              <a:buNone/>
            </a:pPr>
            <a:r>
              <a:rPr lang="en-US" sz="1400" b="1" dirty="0">
                <a:solidFill>
                  <a:schemeClr val="tx1"/>
                </a:solidFill>
              </a:rPr>
              <a:t>Wirtschaftlichkeit</a:t>
            </a:r>
            <a:endParaRPr lang="en-US" sz="1400" dirty="0"/>
          </a:p>
          <a:p>
            <a:pPr indent="0" marL="0">
              <a:buNone/>
            </a:pPr>
            <a:r>
              <a:rPr lang="en-US" sz="1400" dirty="0">
                <a:solidFill>
                  <a:schemeClr val="tx1"/>
                </a:solidFill>
              </a:rPr>
              <a:t>= Umsatzerlöse ÷ Kosten</a:t>
            </a:r>
            <a:endParaRPr lang="en-US" sz="1400" dirty="0"/>
          </a:p>
          <a:p>
            <a:pPr indent="0" marL="0">
              <a:spcAft>
                <a:spcPts val="1000"/>
              </a:spcAft>
              <a:buNone/>
            </a:pPr>
            <a:r>
              <a:rPr lang="en-US" sz="1400" dirty="0">
                <a:solidFill>
                  <a:schemeClr val="accent4"/>
                </a:solidFill>
              </a:rPr>
              <a:t>R3: 79.940 ÷ 54.000 = 1,48</a:t>
            </a:r>
            <a:endParaRPr lang="en-US" sz="1400" dirty="0"/>
          </a:p>
          <a:p>
            <a:pPr indent="0" marL="0">
              <a:buNone/>
            </a:pPr>
            <a:r>
              <a:rPr lang="en-US" sz="1400" b="1" dirty="0">
                <a:solidFill>
                  <a:schemeClr val="tx1"/>
                </a:solidFill>
              </a:rPr>
              <a:t>Absatzquote</a:t>
            </a:r>
            <a:endParaRPr lang="en-US" sz="1400" dirty="0"/>
          </a:p>
          <a:p>
            <a:pPr indent="0" marL="0">
              <a:buNone/>
            </a:pPr>
            <a:r>
              <a:rPr lang="en-US" sz="1400" dirty="0">
                <a:solidFill>
                  <a:schemeClr val="tx1"/>
                </a:solidFill>
              </a:rPr>
              <a:t>= am Markt verkauft ÷ produziert</a:t>
            </a:r>
            <a:endParaRPr lang="en-US" sz="1400" dirty="0"/>
          </a:p>
          <a:p>
            <a:pPr indent="0" marL="0">
              <a:spcAft>
                <a:spcPts val="1000"/>
              </a:spcAft>
              <a:buNone/>
            </a:pPr>
            <a:r>
              <a:rPr lang="en-US" sz="1400" dirty="0">
                <a:solidFill>
                  <a:schemeClr val="accent4"/>
                </a:solidFill>
              </a:rPr>
              <a:t>R3: 12,6 ÷ 18 = 70 %</a:t>
            </a:r>
            <a:endParaRPr lang="en-US" sz="1400" dirty="0"/>
          </a:p>
          <a:p>
            <a:pPr indent="0" marL="0">
              <a:buNone/>
            </a:pPr>
            <a:r>
              <a:rPr lang="en-US" sz="1400" b="1" dirty="0">
                <a:solidFill>
                  <a:schemeClr val="tx1"/>
                </a:solidFill>
              </a:rPr>
              <a:t>Aussagekraft: </a:t>
            </a:r>
            <a:pPr indent="0" marL="0">
              <a:buNone/>
            </a:pPr>
            <a:r>
              <a:rPr lang="en-US" sz="1400" dirty="0">
                <a:solidFill>
                  <a:schemeClr val="tx1"/>
                </a:solidFill>
              </a:rPr>
              <a:t>über 1 = Gewinn. Die Absatzquote zeigt, ob der Preis zum Markt passte.</a:t>
            </a:r>
            <a:endParaRPr lang="en-US" sz="1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Wirtschaftlichkeit und Schlussbestand</a:t>
            </a:r>
            <a:endParaRPr lang="en-US" sz="3600" dirty="0"/>
          </a:p>
        </p:txBody>
      </p:sp>
      <p:sp>
        <p:nvSpPr>
          <p:cNvPr id="3" name="Kapitelpunkt Einleitung"/>
          <p:cNvSpPr/>
          <p:nvPr/>
        </p:nvSpPr>
        <p:spPr>
          <a:xfrm>
            <a:off x="640080" y="6437376"/>
            <a:ext cx="109728" cy="109728"/>
          </a:xfrm>
          <a:prstGeom prst="ellipse">
            <a:avLst/>
          </a:prstGeom>
          <a:solidFill>
            <a:schemeClr val="accent5"/>
          </a:solidFill>
          <a:ln/>
        </p:spPr>
      </p:sp>
      <p:sp>
        <p:nvSpPr>
          <p:cNvPr id="4" name="Text 2"/>
          <p:cNvSpPr txBox="1"/>
          <p:nvPr/>
        </p:nvSpPr>
        <p:spPr>
          <a:xfrm>
            <a:off x="82296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Einleitung</a:t>
            </a:r>
            <a:endParaRPr lang="en-US" sz="1100" dirty="0"/>
          </a:p>
        </p:txBody>
      </p:sp>
      <p:sp>
        <p:nvSpPr>
          <p:cNvPr id="5" name="Kapitelpunkt Verlauf"/>
          <p:cNvSpPr/>
          <p:nvPr/>
        </p:nvSpPr>
        <p:spPr>
          <a:xfrm>
            <a:off x="2057400" y="6437376"/>
            <a:ext cx="109728" cy="109728"/>
          </a:xfrm>
          <a:prstGeom prst="ellipse">
            <a:avLst/>
          </a:prstGeom>
          <a:solidFill>
            <a:schemeClr val="accent5"/>
          </a:solidFill>
          <a:ln/>
        </p:spPr>
      </p:sp>
      <p:sp>
        <p:nvSpPr>
          <p:cNvPr id="6" name="Text 4"/>
          <p:cNvSpPr txBox="1"/>
          <p:nvPr/>
        </p:nvSpPr>
        <p:spPr>
          <a:xfrm>
            <a:off x="224028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Verlauf</a:t>
            </a:r>
            <a:endParaRPr lang="en-US" sz="1100" dirty="0"/>
          </a:p>
        </p:txBody>
      </p:sp>
      <p:sp>
        <p:nvSpPr>
          <p:cNvPr id="7" name="Kapitelpunkt Auswertung"/>
          <p:cNvSpPr/>
          <p:nvPr/>
        </p:nvSpPr>
        <p:spPr>
          <a:xfrm>
            <a:off x="3474720" y="6437376"/>
            <a:ext cx="109728" cy="109728"/>
          </a:xfrm>
          <a:prstGeom prst="ellipse">
            <a:avLst/>
          </a:prstGeom>
          <a:solidFill>
            <a:schemeClr val="accent2"/>
          </a:solidFill>
          <a:ln/>
        </p:spPr>
      </p:sp>
      <p:sp>
        <p:nvSpPr>
          <p:cNvPr id="8" name="Text 6"/>
          <p:cNvSpPr txBox="1"/>
          <p:nvPr/>
        </p:nvSpPr>
        <p:spPr>
          <a:xfrm>
            <a:off x="3657600" y="6355080"/>
            <a:ext cx="1188720" cy="274320"/>
          </a:xfrm>
          <a:prstGeom prst="rect">
            <a:avLst/>
          </a:prstGeom>
          <a:noFill/>
          <a:ln/>
        </p:spPr>
        <p:txBody>
          <a:bodyPr wrap="square" lIns="0" tIns="0" rIns="0" bIns="0" rtlCol="0" anchor="ctr"/>
          <a:lstStyle/>
          <a:p>
            <a:pPr indent="0" marL="0">
              <a:buNone/>
            </a:pPr>
            <a:r>
              <a:rPr lang="en-US" sz="1100" b="1" dirty="0">
                <a:solidFill>
                  <a:schemeClr val="accent2"/>
                </a:solidFill>
              </a:rPr>
              <a:t>Auswertung</a:t>
            </a:r>
            <a:endParaRPr lang="en-US" sz="1100" dirty="0"/>
          </a:p>
        </p:txBody>
      </p:sp>
      <p:sp>
        <p:nvSpPr>
          <p:cNvPr id="9" name="Kapitelpunkt Reflexion"/>
          <p:cNvSpPr/>
          <p:nvPr/>
        </p:nvSpPr>
        <p:spPr>
          <a:xfrm>
            <a:off x="4892040" y="6437376"/>
            <a:ext cx="109728" cy="109728"/>
          </a:xfrm>
          <a:prstGeom prst="ellipse">
            <a:avLst/>
          </a:prstGeom>
          <a:solidFill>
            <a:schemeClr val="accent5"/>
          </a:solidFill>
          <a:ln/>
        </p:spPr>
      </p:sp>
      <p:sp>
        <p:nvSpPr>
          <p:cNvPr id="10" name="Text 8"/>
          <p:cNvSpPr txBox="1"/>
          <p:nvPr/>
        </p:nvSpPr>
        <p:spPr>
          <a:xfrm>
            <a:off x="507492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Reflexion</a:t>
            </a:r>
            <a:endParaRPr lang="en-US" sz="1100" dirty="0"/>
          </a:p>
        </p:txBody>
      </p:sp>
      <p:sp>
        <p:nvSpPr>
          <p:cNvPr id="11" name="Kapitelpunkt Gründung"/>
          <p:cNvSpPr/>
          <p:nvPr/>
        </p:nvSpPr>
        <p:spPr>
          <a:xfrm>
            <a:off x="6309360" y="6437376"/>
            <a:ext cx="109728" cy="109728"/>
          </a:xfrm>
          <a:prstGeom prst="ellipse">
            <a:avLst/>
          </a:prstGeom>
          <a:solidFill>
            <a:schemeClr val="accent5"/>
          </a:solidFill>
          <a:ln/>
        </p:spPr>
      </p:sp>
      <p:sp>
        <p:nvSpPr>
          <p:cNvPr id="12" name="Text 10"/>
          <p:cNvSpPr txBox="1"/>
          <p:nvPr/>
        </p:nvSpPr>
        <p:spPr>
          <a:xfrm>
            <a:off x="649224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Gründung</a:t>
            </a:r>
            <a:endParaRPr lang="en-US" sz="1100" dirty="0"/>
          </a:p>
        </p:txBody>
      </p:sp>
      <p:graphicFrame>
        <p:nvGraphicFramePr>
          <p:cNvPr id="14" name="Chart 0" descr=""/>
          <p:cNvGraphicFramePr/>
          <p:nvPr/>
        </p:nvGraphicFramePr>
        <p:xfrm>
          <a:off x="640080" y="137160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Chart 1" descr=""/>
          <p:cNvGraphicFramePr/>
          <p:nvPr/>
        </p:nvGraphicFramePr>
        <p:xfrm>
          <a:off x="6309360" y="1371600"/>
          <a:ext cx="5212080" cy="4206240"/>
        </p:xfrm>
        <a:graphic xmlns:a="http://schemas.openxmlformats.org/drawingml/2006/main">
          <a:graphicData uri="http://schemas.openxmlformats.org/drawingml/2006/chart">
            <c:chart xmlns:c="http://schemas.openxmlformats.org/drawingml/2006/chart" r:id="rId2"/>
          </a:graphicData>
        </a:graphic>
      </p:graphicFrame>
      <p:sp>
        <p:nvSpPr>
          <p:cNvPr id="16" name="Kernaussage"/>
          <p:cNvSpPr/>
          <p:nvPr/>
        </p:nvSpPr>
        <p:spPr>
          <a:xfrm>
            <a:off x="640080" y="5669280"/>
            <a:ext cx="10881360" cy="548640"/>
          </a:xfrm>
          <a:prstGeom prst="roundRect">
            <a:avLst>
              <a:gd name="adj" fmla="val 20000"/>
            </a:avLst>
          </a:prstGeom>
          <a:solidFill>
            <a:schemeClr val="bg2"/>
          </a:solidFill>
          <a:ln/>
        </p:spPr>
      </p:sp>
      <p:sp>
        <p:nvSpPr>
          <p:cNvPr id="17" name="Text 12"/>
          <p:cNvSpPr txBox="1"/>
          <p:nvPr/>
        </p:nvSpPr>
        <p:spPr>
          <a:xfrm>
            <a:off x="868680" y="5669280"/>
            <a:ext cx="10424160" cy="548640"/>
          </a:xfrm>
          <a:prstGeom prst="rect">
            <a:avLst/>
          </a:prstGeom>
          <a:noFill/>
          <a:ln/>
        </p:spPr>
        <p:txBody>
          <a:bodyPr wrap="square" lIns="0" tIns="0" rIns="0" bIns="0" rtlCol="0" anchor="ctr"/>
          <a:lstStyle/>
          <a:p>
            <a:pPr indent="0" marL="0">
              <a:buNone/>
            </a:pPr>
            <a:r>
              <a:rPr lang="en-US" sz="1600" b="1" dirty="0">
                <a:solidFill>
                  <a:schemeClr val="accent2"/>
                </a:solidFill>
              </a:rPr>
              <a:t>Kernaussage: </a:t>
            </a:r>
            <a:pPr indent="0" marL="0">
              <a:buNone/>
            </a:pPr>
            <a:r>
              <a:rPr lang="en-US" sz="1600" dirty="0">
                <a:solidFill>
                  <a:schemeClr val="tx1"/>
                </a:solidFill>
              </a:rPr>
              <a:t>Nur 2 von 6 Runden über 1, gesamt 0,84 – Schlussbestand 53.770 € (mit Maschinen: nächste Folie).</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Was unser Unternehmen am Ende wert ist</a:t>
            </a:r>
            <a:endParaRPr lang="en-US" sz="3600" dirty="0"/>
          </a:p>
        </p:txBody>
      </p:sp>
      <p:sp>
        <p:nvSpPr>
          <p:cNvPr id="3" name="Kapitelpunkt Einleitung"/>
          <p:cNvSpPr/>
          <p:nvPr/>
        </p:nvSpPr>
        <p:spPr>
          <a:xfrm>
            <a:off x="640080" y="6437376"/>
            <a:ext cx="109728" cy="109728"/>
          </a:xfrm>
          <a:prstGeom prst="ellipse">
            <a:avLst/>
          </a:prstGeom>
          <a:solidFill>
            <a:schemeClr val="accent5"/>
          </a:solidFill>
          <a:ln/>
        </p:spPr>
      </p:sp>
      <p:sp>
        <p:nvSpPr>
          <p:cNvPr id="4" name="Text 2"/>
          <p:cNvSpPr txBox="1"/>
          <p:nvPr/>
        </p:nvSpPr>
        <p:spPr>
          <a:xfrm>
            <a:off x="82296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Einleitung</a:t>
            </a:r>
            <a:endParaRPr lang="en-US" sz="1100" dirty="0"/>
          </a:p>
        </p:txBody>
      </p:sp>
      <p:sp>
        <p:nvSpPr>
          <p:cNvPr id="5" name="Kapitelpunkt Verlauf"/>
          <p:cNvSpPr/>
          <p:nvPr/>
        </p:nvSpPr>
        <p:spPr>
          <a:xfrm>
            <a:off x="2057400" y="6437376"/>
            <a:ext cx="109728" cy="109728"/>
          </a:xfrm>
          <a:prstGeom prst="ellipse">
            <a:avLst/>
          </a:prstGeom>
          <a:solidFill>
            <a:schemeClr val="accent5"/>
          </a:solidFill>
          <a:ln/>
        </p:spPr>
      </p:sp>
      <p:sp>
        <p:nvSpPr>
          <p:cNvPr id="6" name="Text 4"/>
          <p:cNvSpPr txBox="1"/>
          <p:nvPr/>
        </p:nvSpPr>
        <p:spPr>
          <a:xfrm>
            <a:off x="224028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Verlauf</a:t>
            </a:r>
            <a:endParaRPr lang="en-US" sz="1100" dirty="0"/>
          </a:p>
        </p:txBody>
      </p:sp>
      <p:sp>
        <p:nvSpPr>
          <p:cNvPr id="7" name="Kapitelpunkt Auswertung"/>
          <p:cNvSpPr/>
          <p:nvPr/>
        </p:nvSpPr>
        <p:spPr>
          <a:xfrm>
            <a:off x="3474720" y="6437376"/>
            <a:ext cx="109728" cy="109728"/>
          </a:xfrm>
          <a:prstGeom prst="ellipse">
            <a:avLst/>
          </a:prstGeom>
          <a:solidFill>
            <a:schemeClr val="accent2"/>
          </a:solidFill>
          <a:ln/>
        </p:spPr>
      </p:sp>
      <p:sp>
        <p:nvSpPr>
          <p:cNvPr id="8" name="Text 6"/>
          <p:cNvSpPr txBox="1"/>
          <p:nvPr/>
        </p:nvSpPr>
        <p:spPr>
          <a:xfrm>
            <a:off x="3657600" y="6355080"/>
            <a:ext cx="1188720" cy="274320"/>
          </a:xfrm>
          <a:prstGeom prst="rect">
            <a:avLst/>
          </a:prstGeom>
          <a:noFill/>
          <a:ln/>
        </p:spPr>
        <p:txBody>
          <a:bodyPr wrap="square" lIns="0" tIns="0" rIns="0" bIns="0" rtlCol="0" anchor="ctr"/>
          <a:lstStyle/>
          <a:p>
            <a:pPr indent="0" marL="0">
              <a:buNone/>
            </a:pPr>
            <a:r>
              <a:rPr lang="en-US" sz="1100" b="1" dirty="0">
                <a:solidFill>
                  <a:schemeClr val="accent2"/>
                </a:solidFill>
              </a:rPr>
              <a:t>Auswertung</a:t>
            </a:r>
            <a:endParaRPr lang="en-US" sz="1100" dirty="0"/>
          </a:p>
        </p:txBody>
      </p:sp>
      <p:sp>
        <p:nvSpPr>
          <p:cNvPr id="9" name="Kapitelpunkt Reflexion"/>
          <p:cNvSpPr/>
          <p:nvPr/>
        </p:nvSpPr>
        <p:spPr>
          <a:xfrm>
            <a:off x="4892040" y="6437376"/>
            <a:ext cx="109728" cy="109728"/>
          </a:xfrm>
          <a:prstGeom prst="ellipse">
            <a:avLst/>
          </a:prstGeom>
          <a:solidFill>
            <a:schemeClr val="accent5"/>
          </a:solidFill>
          <a:ln/>
        </p:spPr>
      </p:sp>
      <p:sp>
        <p:nvSpPr>
          <p:cNvPr id="10" name="Text 8"/>
          <p:cNvSpPr txBox="1"/>
          <p:nvPr/>
        </p:nvSpPr>
        <p:spPr>
          <a:xfrm>
            <a:off x="507492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Reflexion</a:t>
            </a:r>
            <a:endParaRPr lang="en-US" sz="1100" dirty="0"/>
          </a:p>
        </p:txBody>
      </p:sp>
      <p:sp>
        <p:nvSpPr>
          <p:cNvPr id="11" name="Kapitelpunkt Gründung"/>
          <p:cNvSpPr/>
          <p:nvPr/>
        </p:nvSpPr>
        <p:spPr>
          <a:xfrm>
            <a:off x="6309360" y="6437376"/>
            <a:ext cx="109728" cy="109728"/>
          </a:xfrm>
          <a:prstGeom prst="ellipse">
            <a:avLst/>
          </a:prstGeom>
          <a:solidFill>
            <a:schemeClr val="accent5"/>
          </a:solidFill>
          <a:ln/>
        </p:spPr>
      </p:sp>
      <p:sp>
        <p:nvSpPr>
          <p:cNvPr id="12" name="Text 10"/>
          <p:cNvSpPr txBox="1"/>
          <p:nvPr/>
        </p:nvSpPr>
        <p:spPr>
          <a:xfrm>
            <a:off x="649224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Gründung</a:t>
            </a:r>
            <a:endParaRPr lang="en-US" sz="1100" dirty="0"/>
          </a:p>
        </p:txBody>
      </p:sp>
      <p:sp>
        <p:nvSpPr>
          <p:cNvPr id="14" name="Baustein Schlussbestand nach R6"/>
          <p:cNvSpPr/>
          <p:nvPr/>
        </p:nvSpPr>
        <p:spPr>
          <a:xfrm>
            <a:off x="640080" y="1463040"/>
            <a:ext cx="2331720" cy="2514600"/>
          </a:xfrm>
          <a:prstGeom prst="roundRect">
            <a:avLst>
              <a:gd name="adj" fmla="val 4706"/>
            </a:avLst>
          </a:prstGeom>
          <a:solidFill>
            <a:schemeClr val="bg2"/>
          </a:solidFill>
          <a:ln/>
        </p:spPr>
      </p:sp>
      <p:sp>
        <p:nvSpPr>
          <p:cNvPr id="15" name="Icon-Kreis FaCoins"/>
          <p:cNvSpPr/>
          <p:nvPr/>
        </p:nvSpPr>
        <p:spPr>
          <a:xfrm>
            <a:off x="1440180" y="1691640"/>
            <a:ext cx="731520" cy="731520"/>
          </a:xfrm>
          <a:prstGeom prst="ellipse">
            <a:avLst/>
          </a:prstGeom>
          <a:solidFill>
            <a:schemeClr val="accent1"/>
          </a:solidFill>
          <a:ln/>
        </p:spPr>
      </p:sp>
      <p:pic>
        <p:nvPicPr>
          <p:cNvPr id="16" name="Icon FaCoins" descr="Symbol Coins">    </p:cNvPr>
          <p:cNvPicPr>
            <a:picLocks noChangeAspect="1"/>
          </p:cNvPicPr>
          <p:nvPr/>
        </p:nvPicPr>
        <p:blipFill>
          <a:blip r:embed="rId1"/>
          <a:stretch>
            <a:fillRect/>
          </a:stretch>
        </p:blipFill>
        <p:spPr>
          <a:xfrm>
            <a:off x="1637690" y="1889150"/>
            <a:ext cx="336499" cy="336499"/>
          </a:xfrm>
          <a:prstGeom prst="rect">
            <a:avLst/>
          </a:prstGeom>
        </p:spPr>
      </p:pic>
      <p:sp>
        <p:nvSpPr>
          <p:cNvPr id="17" name="Text 13"/>
          <p:cNvSpPr txBox="1"/>
          <p:nvPr/>
        </p:nvSpPr>
        <p:spPr>
          <a:xfrm>
            <a:off x="640080" y="2514600"/>
            <a:ext cx="2331720"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53.770 €</a:t>
            </a:r>
            <a:endParaRPr lang="en-US" sz="3000" dirty="0"/>
          </a:p>
        </p:txBody>
      </p:sp>
      <p:sp>
        <p:nvSpPr>
          <p:cNvPr id="18" name="Text 14"/>
          <p:cNvSpPr txBox="1"/>
          <p:nvPr/>
        </p:nvSpPr>
        <p:spPr>
          <a:xfrm>
            <a:off x="777240" y="3154680"/>
            <a:ext cx="2057400" cy="640080"/>
          </a:xfrm>
          <a:prstGeom prst="rect">
            <a:avLst/>
          </a:prstGeom>
          <a:noFill/>
          <a:ln/>
        </p:spPr>
        <p:txBody>
          <a:bodyPr wrap="square" lIns="0" tIns="0" rIns="0" bIns="0" rtlCol="0" anchor="ctr"/>
          <a:lstStyle/>
          <a:p>
            <a:pPr algn="ctr" indent="0" marL="0">
              <a:buNone/>
            </a:pPr>
            <a:r>
              <a:rPr lang="en-US" sz="1400" dirty="0">
                <a:solidFill>
                  <a:schemeClr val="tx1"/>
                </a:solidFill>
              </a:rPr>
              <a:t>Schlussbestand nach R6</a:t>
            </a:r>
            <a:endParaRPr lang="en-US" sz="1400" dirty="0"/>
          </a:p>
        </p:txBody>
      </p:sp>
      <p:sp>
        <p:nvSpPr>
          <p:cNvPr id="19" name="Text 15"/>
          <p:cNvSpPr txBox="1"/>
          <p:nvPr/>
        </p:nvSpPr>
        <p:spPr>
          <a:xfrm>
            <a:off x="2971800" y="2286000"/>
            <a:ext cx="502920" cy="731520"/>
          </a:xfrm>
          <a:prstGeom prst="rect">
            <a:avLst/>
          </a:prstGeom>
          <a:noFill/>
          <a:ln/>
        </p:spPr>
        <p:txBody>
          <a:bodyPr wrap="square" lIns="0" tIns="0" rIns="0" bIns="0" rtlCol="0" anchor="ctr"/>
          <a:lstStyle/>
          <a:p>
            <a:pPr algn="ctr" indent="0" marL="0">
              <a:buNone/>
            </a:pPr>
            <a:r>
              <a:rPr lang="en-US" sz="3600" b="1" dirty="0">
                <a:solidFill>
                  <a:schemeClr val="accent2"/>
                </a:solidFill>
              </a:rPr>
              <a:t>+</a:t>
            </a:r>
            <a:endParaRPr lang="en-US" sz="3600" dirty="0"/>
          </a:p>
        </p:txBody>
      </p:sp>
      <p:sp>
        <p:nvSpPr>
          <p:cNvPr id="20" name="Baustein Maschine 1 (6 Runden genutzt)"/>
          <p:cNvSpPr/>
          <p:nvPr/>
        </p:nvSpPr>
        <p:spPr>
          <a:xfrm>
            <a:off x="3474720" y="1463040"/>
            <a:ext cx="2331720" cy="2514600"/>
          </a:xfrm>
          <a:prstGeom prst="roundRect">
            <a:avLst>
              <a:gd name="adj" fmla="val 4706"/>
            </a:avLst>
          </a:prstGeom>
          <a:solidFill>
            <a:schemeClr val="bg2"/>
          </a:solidFill>
          <a:ln/>
        </p:spPr>
      </p:sp>
      <p:sp>
        <p:nvSpPr>
          <p:cNvPr id="21" name="Icon-Kreis FaCogs"/>
          <p:cNvSpPr/>
          <p:nvPr/>
        </p:nvSpPr>
        <p:spPr>
          <a:xfrm>
            <a:off x="4274820" y="1691640"/>
            <a:ext cx="731520" cy="731520"/>
          </a:xfrm>
          <a:prstGeom prst="ellipse">
            <a:avLst/>
          </a:prstGeom>
          <a:solidFill>
            <a:schemeClr val="accent1"/>
          </a:solidFill>
          <a:ln/>
        </p:spPr>
      </p:sp>
      <p:pic>
        <p:nvPicPr>
          <p:cNvPr id="22" name="Icon FaCogs" descr="Symbol Cogs">    </p:cNvPr>
          <p:cNvPicPr>
            <a:picLocks noChangeAspect="1"/>
          </p:cNvPicPr>
          <p:nvPr/>
        </p:nvPicPr>
        <p:blipFill>
          <a:blip r:embed="rId2"/>
          <a:stretch>
            <a:fillRect/>
          </a:stretch>
        </p:blipFill>
        <p:spPr>
          <a:xfrm>
            <a:off x="4472330" y="1889150"/>
            <a:ext cx="336499" cy="336499"/>
          </a:xfrm>
          <a:prstGeom prst="rect">
            <a:avLst/>
          </a:prstGeom>
        </p:spPr>
      </p:pic>
      <p:sp>
        <p:nvSpPr>
          <p:cNvPr id="23" name="Text 18"/>
          <p:cNvSpPr txBox="1"/>
          <p:nvPr/>
        </p:nvSpPr>
        <p:spPr>
          <a:xfrm>
            <a:off x="3474720" y="2514600"/>
            <a:ext cx="2331720"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12.000 €</a:t>
            </a:r>
            <a:endParaRPr lang="en-US" sz="3000" dirty="0"/>
          </a:p>
        </p:txBody>
      </p:sp>
      <p:sp>
        <p:nvSpPr>
          <p:cNvPr id="24" name="Text 19"/>
          <p:cNvSpPr txBox="1"/>
          <p:nvPr/>
        </p:nvSpPr>
        <p:spPr>
          <a:xfrm>
            <a:off x="3611880" y="3154680"/>
            <a:ext cx="2057400" cy="640080"/>
          </a:xfrm>
          <a:prstGeom prst="rect">
            <a:avLst/>
          </a:prstGeom>
          <a:noFill/>
          <a:ln/>
        </p:spPr>
        <p:txBody>
          <a:bodyPr wrap="square" lIns="0" tIns="0" rIns="0" bIns="0" rtlCol="0" anchor="ctr"/>
          <a:lstStyle/>
          <a:p>
            <a:pPr algn="ctr" indent="0" marL="0">
              <a:buNone/>
            </a:pPr>
            <a:r>
              <a:rPr lang="en-US" sz="1400" dirty="0">
                <a:solidFill>
                  <a:schemeClr val="tx1"/>
                </a:solidFill>
              </a:rPr>
              <a:t>Maschine 1 (6 Runden genutzt)</a:t>
            </a:r>
            <a:endParaRPr lang="en-US" sz="1400" dirty="0"/>
          </a:p>
        </p:txBody>
      </p:sp>
      <p:sp>
        <p:nvSpPr>
          <p:cNvPr id="25" name="Text 20"/>
          <p:cNvSpPr txBox="1"/>
          <p:nvPr/>
        </p:nvSpPr>
        <p:spPr>
          <a:xfrm>
            <a:off x="5806440" y="2286000"/>
            <a:ext cx="502920" cy="731520"/>
          </a:xfrm>
          <a:prstGeom prst="rect">
            <a:avLst/>
          </a:prstGeom>
          <a:noFill/>
          <a:ln/>
        </p:spPr>
        <p:txBody>
          <a:bodyPr wrap="square" lIns="0" tIns="0" rIns="0" bIns="0" rtlCol="0" anchor="ctr"/>
          <a:lstStyle/>
          <a:p>
            <a:pPr algn="ctr" indent="0" marL="0">
              <a:buNone/>
            </a:pPr>
            <a:r>
              <a:rPr lang="en-US" sz="3600" b="1" dirty="0">
                <a:solidFill>
                  <a:schemeClr val="accent2"/>
                </a:solidFill>
              </a:rPr>
              <a:t>+</a:t>
            </a:r>
            <a:endParaRPr lang="en-US" sz="3600" dirty="0"/>
          </a:p>
        </p:txBody>
      </p:sp>
      <p:sp>
        <p:nvSpPr>
          <p:cNvPr id="26" name="Baustein Maschine 2 (4 Runden genutzt)"/>
          <p:cNvSpPr/>
          <p:nvPr/>
        </p:nvSpPr>
        <p:spPr>
          <a:xfrm>
            <a:off x="6309360" y="1463040"/>
            <a:ext cx="2331720" cy="2514600"/>
          </a:xfrm>
          <a:prstGeom prst="roundRect">
            <a:avLst>
              <a:gd name="adj" fmla="val 4706"/>
            </a:avLst>
          </a:prstGeom>
          <a:solidFill>
            <a:schemeClr val="bg2"/>
          </a:solidFill>
          <a:ln/>
        </p:spPr>
      </p:sp>
      <p:sp>
        <p:nvSpPr>
          <p:cNvPr id="27" name="Icon-Kreis FaCogs"/>
          <p:cNvSpPr/>
          <p:nvPr/>
        </p:nvSpPr>
        <p:spPr>
          <a:xfrm>
            <a:off x="7109460" y="1691640"/>
            <a:ext cx="731520" cy="731520"/>
          </a:xfrm>
          <a:prstGeom prst="ellipse">
            <a:avLst/>
          </a:prstGeom>
          <a:solidFill>
            <a:schemeClr val="accent1"/>
          </a:solidFill>
          <a:ln/>
        </p:spPr>
      </p:sp>
      <p:pic>
        <p:nvPicPr>
          <p:cNvPr id="28" name="Icon FaCogs" descr="Symbol Cogs">    </p:cNvPr>
          <p:cNvPicPr>
            <a:picLocks noChangeAspect="1"/>
          </p:cNvPicPr>
          <p:nvPr/>
        </p:nvPicPr>
        <p:blipFill>
          <a:blip r:embed="rId3"/>
          <a:stretch>
            <a:fillRect/>
          </a:stretch>
        </p:blipFill>
        <p:spPr>
          <a:xfrm>
            <a:off x="7306970" y="1889150"/>
            <a:ext cx="336499" cy="336499"/>
          </a:xfrm>
          <a:prstGeom prst="rect">
            <a:avLst/>
          </a:prstGeom>
        </p:spPr>
      </p:pic>
      <p:sp>
        <p:nvSpPr>
          <p:cNvPr id="29" name="Text 23"/>
          <p:cNvSpPr txBox="1"/>
          <p:nvPr/>
        </p:nvSpPr>
        <p:spPr>
          <a:xfrm>
            <a:off x="6309360" y="2514600"/>
            <a:ext cx="2331720"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18.000 €</a:t>
            </a:r>
            <a:endParaRPr lang="en-US" sz="3000" dirty="0"/>
          </a:p>
        </p:txBody>
      </p:sp>
      <p:sp>
        <p:nvSpPr>
          <p:cNvPr id="30" name="Text 24"/>
          <p:cNvSpPr txBox="1"/>
          <p:nvPr/>
        </p:nvSpPr>
        <p:spPr>
          <a:xfrm>
            <a:off x="6446520" y="3154680"/>
            <a:ext cx="2057400" cy="640080"/>
          </a:xfrm>
          <a:prstGeom prst="rect">
            <a:avLst/>
          </a:prstGeom>
          <a:noFill/>
          <a:ln/>
        </p:spPr>
        <p:txBody>
          <a:bodyPr wrap="square" lIns="0" tIns="0" rIns="0" bIns="0" rtlCol="0" anchor="ctr"/>
          <a:lstStyle/>
          <a:p>
            <a:pPr algn="ctr" indent="0" marL="0">
              <a:buNone/>
            </a:pPr>
            <a:r>
              <a:rPr lang="en-US" sz="1400" dirty="0">
                <a:solidFill>
                  <a:schemeClr val="tx1"/>
                </a:solidFill>
              </a:rPr>
              <a:t>Maschine 2 (4 Runden genutzt)</a:t>
            </a:r>
            <a:endParaRPr lang="en-US" sz="1400" dirty="0"/>
          </a:p>
        </p:txBody>
      </p:sp>
      <p:sp>
        <p:nvSpPr>
          <p:cNvPr id="31" name="Text 25"/>
          <p:cNvSpPr txBox="1"/>
          <p:nvPr/>
        </p:nvSpPr>
        <p:spPr>
          <a:xfrm>
            <a:off x="8641080" y="2286000"/>
            <a:ext cx="502920" cy="731520"/>
          </a:xfrm>
          <a:prstGeom prst="rect">
            <a:avLst/>
          </a:prstGeom>
          <a:noFill/>
          <a:ln/>
        </p:spPr>
        <p:txBody>
          <a:bodyPr wrap="square" lIns="0" tIns="0" rIns="0" bIns="0" rtlCol="0" anchor="ctr"/>
          <a:lstStyle/>
          <a:p>
            <a:pPr algn="ctr" indent="0" marL="0">
              <a:buNone/>
            </a:pPr>
            <a:r>
              <a:rPr lang="en-US" sz="3600" b="1" dirty="0">
                <a:solidFill>
                  <a:schemeClr val="accent2"/>
                </a:solidFill>
              </a:rPr>
              <a:t>=</a:t>
            </a:r>
            <a:endParaRPr lang="en-US" sz="3600" dirty="0"/>
          </a:p>
        </p:txBody>
      </p:sp>
      <p:sp>
        <p:nvSpPr>
          <p:cNvPr id="32" name="Baustein Unternehmens­verkaufswert"/>
          <p:cNvSpPr/>
          <p:nvPr/>
        </p:nvSpPr>
        <p:spPr>
          <a:xfrm>
            <a:off x="9144000" y="1463040"/>
            <a:ext cx="2331720" cy="2514600"/>
          </a:xfrm>
          <a:prstGeom prst="roundRect">
            <a:avLst>
              <a:gd name="adj" fmla="val 4706"/>
            </a:avLst>
          </a:prstGeom>
          <a:solidFill>
            <a:schemeClr val="accent1"/>
          </a:solidFill>
          <a:ln/>
        </p:spPr>
      </p:sp>
      <p:sp>
        <p:nvSpPr>
          <p:cNvPr id="33" name="Icon-Kreis FaBuilding"/>
          <p:cNvSpPr/>
          <p:nvPr/>
        </p:nvSpPr>
        <p:spPr>
          <a:xfrm>
            <a:off x="9944100" y="1691640"/>
            <a:ext cx="731520" cy="731520"/>
          </a:xfrm>
          <a:prstGeom prst="ellipse">
            <a:avLst/>
          </a:prstGeom>
          <a:solidFill>
            <a:schemeClr val="accent2"/>
          </a:solidFill>
          <a:ln/>
        </p:spPr>
      </p:sp>
      <p:pic>
        <p:nvPicPr>
          <p:cNvPr id="34" name="Icon FaBuilding" descr="Symbol Building">    </p:cNvPr>
          <p:cNvPicPr>
            <a:picLocks noChangeAspect="1"/>
          </p:cNvPicPr>
          <p:nvPr/>
        </p:nvPicPr>
        <p:blipFill>
          <a:blip r:embed="rId4"/>
          <a:stretch>
            <a:fillRect/>
          </a:stretch>
        </p:blipFill>
        <p:spPr>
          <a:xfrm>
            <a:off x="10141610" y="1889150"/>
            <a:ext cx="336499" cy="336499"/>
          </a:xfrm>
          <a:prstGeom prst="rect">
            <a:avLst/>
          </a:prstGeom>
        </p:spPr>
      </p:pic>
      <p:sp>
        <p:nvSpPr>
          <p:cNvPr id="35" name="Text 28"/>
          <p:cNvSpPr txBox="1"/>
          <p:nvPr/>
        </p:nvSpPr>
        <p:spPr>
          <a:xfrm>
            <a:off x="9144000" y="2514600"/>
            <a:ext cx="2331720" cy="64008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83.770 €</a:t>
            </a:r>
            <a:endParaRPr lang="en-US" sz="3000" dirty="0"/>
          </a:p>
        </p:txBody>
      </p:sp>
      <p:sp>
        <p:nvSpPr>
          <p:cNvPr id="36" name="Text 29"/>
          <p:cNvSpPr txBox="1"/>
          <p:nvPr/>
        </p:nvSpPr>
        <p:spPr>
          <a:xfrm>
            <a:off x="9281160" y="3154680"/>
            <a:ext cx="2057400" cy="640080"/>
          </a:xfrm>
          <a:prstGeom prst="rect">
            <a:avLst/>
          </a:prstGeom>
          <a:noFill/>
          <a:ln/>
        </p:spPr>
        <p:txBody>
          <a:bodyPr wrap="square" lIns="0" tIns="0" rIns="0" bIns="0" rtlCol="0" anchor="ctr"/>
          <a:lstStyle/>
          <a:p>
            <a:pPr algn="ctr" indent="0" marL="0">
              <a:buNone/>
            </a:pPr>
            <a:r>
              <a:rPr lang="en-US" sz="1400" dirty="0">
                <a:solidFill>
                  <a:schemeClr val="bg2"/>
                </a:solidFill>
              </a:rPr>
              <a:t>Unternehmens­verkaufswert</a:t>
            </a:r>
            <a:endParaRPr lang="en-US" sz="1400" dirty="0"/>
          </a:p>
        </p:txBody>
      </p:sp>
      <p:sp>
        <p:nvSpPr>
          <p:cNvPr id="37" name="Text 30"/>
          <p:cNvSpPr txBox="1"/>
          <p:nvPr/>
        </p:nvSpPr>
        <p:spPr>
          <a:xfrm>
            <a:off x="640080" y="4251960"/>
            <a:ext cx="5486400" cy="365760"/>
          </a:xfrm>
          <a:prstGeom prst="rect">
            <a:avLst/>
          </a:prstGeom>
          <a:noFill/>
          <a:ln/>
        </p:spPr>
        <p:txBody>
          <a:bodyPr wrap="square" lIns="0" tIns="0" rIns="0" bIns="0" rtlCol="0" anchor="ctr"/>
          <a:lstStyle/>
          <a:p>
            <a:pPr indent="0" marL="0">
              <a:buNone/>
            </a:pPr>
            <a:r>
              <a:rPr lang="en-US" sz="1800" b="1" dirty="0">
                <a:solidFill>
                  <a:schemeClr val="tx2"/>
                </a:solidFill>
              </a:rPr>
              <a:t>Vergleich mit dem Startkapital</a:t>
            </a:r>
            <a:endParaRPr lang="en-US" sz="1800" dirty="0"/>
          </a:p>
        </p:txBody>
      </p:sp>
      <p:sp>
        <p:nvSpPr>
          <p:cNvPr id="38" name="Text 31"/>
          <p:cNvSpPr txBox="1"/>
          <p:nvPr/>
        </p:nvSpPr>
        <p:spPr>
          <a:xfrm>
            <a:off x="640080" y="4709160"/>
            <a:ext cx="1554480" cy="411480"/>
          </a:xfrm>
          <a:prstGeom prst="rect">
            <a:avLst/>
          </a:prstGeom>
          <a:noFill/>
          <a:ln/>
        </p:spPr>
        <p:txBody>
          <a:bodyPr wrap="square" lIns="0" tIns="0" rIns="0" bIns="0" rtlCol="0" anchor="ctr"/>
          <a:lstStyle/>
          <a:p>
            <a:pPr indent="0" marL="0">
              <a:buNone/>
            </a:pPr>
            <a:r>
              <a:rPr lang="en-US" sz="1400" dirty="0">
                <a:solidFill>
                  <a:schemeClr val="tx1"/>
                </a:solidFill>
              </a:rPr>
              <a:t>Startkapital</a:t>
            </a:r>
            <a:endParaRPr lang="en-US" sz="1400" dirty="0"/>
          </a:p>
        </p:txBody>
      </p:sp>
      <p:sp>
        <p:nvSpPr>
          <p:cNvPr id="39" name="Balken Startkapital"/>
          <p:cNvSpPr/>
          <p:nvPr/>
        </p:nvSpPr>
        <p:spPr>
          <a:xfrm>
            <a:off x="2194560" y="4709160"/>
            <a:ext cx="8229600" cy="411480"/>
          </a:xfrm>
          <a:prstGeom prst="roundRect">
            <a:avLst>
              <a:gd name="adj" fmla="val 13333"/>
            </a:avLst>
          </a:prstGeom>
          <a:solidFill>
            <a:schemeClr val="accent5"/>
          </a:solidFill>
          <a:ln/>
        </p:spPr>
      </p:sp>
      <p:sp>
        <p:nvSpPr>
          <p:cNvPr id="40" name="Text 33"/>
          <p:cNvSpPr txBox="1"/>
          <p:nvPr/>
        </p:nvSpPr>
        <p:spPr>
          <a:xfrm>
            <a:off x="2286000" y="4709160"/>
            <a:ext cx="1828800" cy="411480"/>
          </a:xfrm>
          <a:prstGeom prst="rect">
            <a:avLst/>
          </a:prstGeom>
          <a:noFill/>
          <a:ln/>
        </p:spPr>
        <p:txBody>
          <a:bodyPr wrap="square" lIns="0" tIns="0" rIns="0" bIns="0" rtlCol="0" anchor="ctr"/>
          <a:lstStyle/>
          <a:p>
            <a:pPr indent="0" marL="0">
              <a:buNone/>
            </a:pPr>
            <a:r>
              <a:rPr lang="en-US" sz="1400" b="1" dirty="0">
                <a:solidFill>
                  <a:schemeClr val="tx1"/>
                </a:solidFill>
              </a:rPr>
              <a:t>100.000 €</a:t>
            </a:r>
            <a:endParaRPr lang="en-US" sz="1400" dirty="0"/>
          </a:p>
        </p:txBody>
      </p:sp>
      <p:sp>
        <p:nvSpPr>
          <p:cNvPr id="41" name="Text 34"/>
          <p:cNvSpPr txBox="1"/>
          <p:nvPr/>
        </p:nvSpPr>
        <p:spPr>
          <a:xfrm>
            <a:off x="640080" y="5257800"/>
            <a:ext cx="1554480" cy="411480"/>
          </a:xfrm>
          <a:prstGeom prst="rect">
            <a:avLst/>
          </a:prstGeom>
          <a:noFill/>
          <a:ln/>
        </p:spPr>
        <p:txBody>
          <a:bodyPr wrap="square" lIns="0" tIns="0" rIns="0" bIns="0" rtlCol="0" anchor="ctr"/>
          <a:lstStyle/>
          <a:p>
            <a:pPr indent="0" marL="0">
              <a:buNone/>
            </a:pPr>
            <a:r>
              <a:rPr lang="en-US" sz="1400" dirty="0">
                <a:solidFill>
                  <a:schemeClr val="tx1"/>
                </a:solidFill>
              </a:rPr>
              <a:t>Verkaufswert</a:t>
            </a:r>
            <a:endParaRPr lang="en-US" sz="1400" dirty="0"/>
          </a:p>
        </p:txBody>
      </p:sp>
      <p:sp>
        <p:nvSpPr>
          <p:cNvPr id="42" name="Balken Verkaufswert"/>
          <p:cNvSpPr/>
          <p:nvPr/>
        </p:nvSpPr>
        <p:spPr>
          <a:xfrm>
            <a:off x="2194560" y="5257800"/>
            <a:ext cx="6893936" cy="411480"/>
          </a:xfrm>
          <a:prstGeom prst="roundRect">
            <a:avLst>
              <a:gd name="adj" fmla="val 13333"/>
            </a:avLst>
          </a:prstGeom>
          <a:solidFill>
            <a:schemeClr val="accent2"/>
          </a:solidFill>
          <a:ln/>
        </p:spPr>
      </p:sp>
      <p:sp>
        <p:nvSpPr>
          <p:cNvPr id="43" name="Text 36"/>
          <p:cNvSpPr txBox="1"/>
          <p:nvPr/>
        </p:nvSpPr>
        <p:spPr>
          <a:xfrm>
            <a:off x="2286000" y="5257800"/>
            <a:ext cx="1828800" cy="411480"/>
          </a:xfrm>
          <a:prstGeom prst="rect">
            <a:avLst/>
          </a:prstGeom>
          <a:noFill/>
          <a:ln/>
        </p:spPr>
        <p:txBody>
          <a:bodyPr wrap="square" lIns="0" tIns="0" rIns="0" bIns="0" rtlCol="0" anchor="ctr"/>
          <a:lstStyle/>
          <a:p>
            <a:pPr indent="0" marL="0">
              <a:buNone/>
            </a:pPr>
            <a:r>
              <a:rPr lang="en-US" sz="1400" b="1" dirty="0">
                <a:solidFill>
                  <a:schemeClr val="bg1"/>
                </a:solidFill>
              </a:rPr>
              <a:t>83.770 €</a:t>
            </a:r>
            <a:endParaRPr lang="en-US" sz="1400" dirty="0"/>
          </a:p>
        </p:txBody>
      </p:sp>
      <p:sp>
        <p:nvSpPr>
          <p:cNvPr id="44" name="Text 37"/>
          <p:cNvSpPr txBox="1"/>
          <p:nvPr/>
        </p:nvSpPr>
        <p:spPr>
          <a:xfrm>
            <a:off x="10515600" y="4663440"/>
            <a:ext cx="1188720" cy="1051560"/>
          </a:xfrm>
          <a:prstGeom prst="rect">
            <a:avLst/>
          </a:prstGeom>
          <a:noFill/>
          <a:ln/>
        </p:spPr>
        <p:txBody>
          <a:bodyPr wrap="square" lIns="0" tIns="0" rIns="0" bIns="0" rtlCol="0" anchor="ctr"/>
          <a:lstStyle/>
          <a:p>
            <a:pPr algn="ctr" indent="0" marL="0">
              <a:buNone/>
            </a:pPr>
            <a:r>
              <a:rPr lang="en-US" sz="2200" b="1" dirty="0">
                <a:solidFill>
                  <a:schemeClr val="accent2"/>
                </a:solidFill>
                <a:latin typeface="Cambria" pitchFamily="34" charset="0"/>
                <a:ea typeface="Cambria" pitchFamily="34" charset="-122"/>
                <a:cs typeface="Cambria" pitchFamily="34" charset="-120"/>
              </a:rPr>
              <a:t>−16.230 €</a:t>
            </a:r>
            <a:endParaRPr lang="en-US" sz="2200" dirty="0"/>
          </a:p>
          <a:p>
            <a:pPr algn="ctr" indent="0" marL="0">
              <a:buNone/>
            </a:pPr>
            <a:r>
              <a:rPr lang="en-US" sz="1400" dirty="0">
                <a:solidFill>
                  <a:schemeClr val="tx1"/>
                </a:solidFill>
              </a:rPr>
              <a:t>(−16,2 %)</a:t>
            </a:r>
            <a:endParaRPr lang="en-US" sz="22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Reflexion: Würden wir wieder so entscheiden?</a:t>
            </a:r>
            <a:endParaRPr lang="en-US" sz="3600" dirty="0"/>
          </a:p>
        </p:txBody>
      </p:sp>
      <p:sp>
        <p:nvSpPr>
          <p:cNvPr id="3" name="Kapitelpunkt Einleitung"/>
          <p:cNvSpPr/>
          <p:nvPr/>
        </p:nvSpPr>
        <p:spPr>
          <a:xfrm>
            <a:off x="640080" y="6437376"/>
            <a:ext cx="109728" cy="109728"/>
          </a:xfrm>
          <a:prstGeom prst="ellipse">
            <a:avLst/>
          </a:prstGeom>
          <a:solidFill>
            <a:schemeClr val="accent5"/>
          </a:solidFill>
          <a:ln/>
        </p:spPr>
      </p:sp>
      <p:sp>
        <p:nvSpPr>
          <p:cNvPr id="4" name="Text 2"/>
          <p:cNvSpPr txBox="1"/>
          <p:nvPr/>
        </p:nvSpPr>
        <p:spPr>
          <a:xfrm>
            <a:off x="82296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Einleitung</a:t>
            </a:r>
            <a:endParaRPr lang="en-US" sz="1100" dirty="0"/>
          </a:p>
        </p:txBody>
      </p:sp>
      <p:sp>
        <p:nvSpPr>
          <p:cNvPr id="5" name="Kapitelpunkt Verlauf"/>
          <p:cNvSpPr/>
          <p:nvPr/>
        </p:nvSpPr>
        <p:spPr>
          <a:xfrm>
            <a:off x="2057400" y="6437376"/>
            <a:ext cx="109728" cy="109728"/>
          </a:xfrm>
          <a:prstGeom prst="ellipse">
            <a:avLst/>
          </a:prstGeom>
          <a:solidFill>
            <a:schemeClr val="accent5"/>
          </a:solidFill>
          <a:ln/>
        </p:spPr>
      </p:sp>
      <p:sp>
        <p:nvSpPr>
          <p:cNvPr id="6" name="Text 4"/>
          <p:cNvSpPr txBox="1"/>
          <p:nvPr/>
        </p:nvSpPr>
        <p:spPr>
          <a:xfrm>
            <a:off x="224028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Verlauf</a:t>
            </a:r>
            <a:endParaRPr lang="en-US" sz="1100" dirty="0"/>
          </a:p>
        </p:txBody>
      </p:sp>
      <p:sp>
        <p:nvSpPr>
          <p:cNvPr id="7" name="Kapitelpunkt Auswertung"/>
          <p:cNvSpPr/>
          <p:nvPr/>
        </p:nvSpPr>
        <p:spPr>
          <a:xfrm>
            <a:off x="3474720" y="6437376"/>
            <a:ext cx="109728" cy="109728"/>
          </a:xfrm>
          <a:prstGeom prst="ellipse">
            <a:avLst/>
          </a:prstGeom>
          <a:solidFill>
            <a:schemeClr val="accent5"/>
          </a:solidFill>
          <a:ln/>
        </p:spPr>
      </p:sp>
      <p:sp>
        <p:nvSpPr>
          <p:cNvPr id="8" name="Text 6"/>
          <p:cNvSpPr txBox="1"/>
          <p:nvPr/>
        </p:nvSpPr>
        <p:spPr>
          <a:xfrm>
            <a:off x="365760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Auswertung</a:t>
            </a:r>
            <a:endParaRPr lang="en-US" sz="1100" dirty="0"/>
          </a:p>
        </p:txBody>
      </p:sp>
      <p:sp>
        <p:nvSpPr>
          <p:cNvPr id="9" name="Kapitelpunkt Reflexion"/>
          <p:cNvSpPr/>
          <p:nvPr/>
        </p:nvSpPr>
        <p:spPr>
          <a:xfrm>
            <a:off x="4892040" y="6437376"/>
            <a:ext cx="109728" cy="109728"/>
          </a:xfrm>
          <a:prstGeom prst="ellipse">
            <a:avLst/>
          </a:prstGeom>
          <a:solidFill>
            <a:schemeClr val="accent2"/>
          </a:solidFill>
          <a:ln/>
        </p:spPr>
      </p:sp>
      <p:sp>
        <p:nvSpPr>
          <p:cNvPr id="10" name="Text 8"/>
          <p:cNvSpPr txBox="1"/>
          <p:nvPr/>
        </p:nvSpPr>
        <p:spPr>
          <a:xfrm>
            <a:off x="5074920" y="6355080"/>
            <a:ext cx="1188720" cy="274320"/>
          </a:xfrm>
          <a:prstGeom prst="rect">
            <a:avLst/>
          </a:prstGeom>
          <a:noFill/>
          <a:ln/>
        </p:spPr>
        <p:txBody>
          <a:bodyPr wrap="square" lIns="0" tIns="0" rIns="0" bIns="0" rtlCol="0" anchor="ctr"/>
          <a:lstStyle/>
          <a:p>
            <a:pPr indent="0" marL="0">
              <a:buNone/>
            </a:pPr>
            <a:r>
              <a:rPr lang="en-US" sz="1100" b="1" dirty="0">
                <a:solidFill>
                  <a:schemeClr val="accent2"/>
                </a:solidFill>
              </a:rPr>
              <a:t>Reflexion</a:t>
            </a:r>
            <a:endParaRPr lang="en-US" sz="1100" dirty="0"/>
          </a:p>
        </p:txBody>
      </p:sp>
      <p:sp>
        <p:nvSpPr>
          <p:cNvPr id="11" name="Kapitelpunkt Gründung"/>
          <p:cNvSpPr/>
          <p:nvPr/>
        </p:nvSpPr>
        <p:spPr>
          <a:xfrm>
            <a:off x="6309360" y="6437376"/>
            <a:ext cx="109728" cy="109728"/>
          </a:xfrm>
          <a:prstGeom prst="ellipse">
            <a:avLst/>
          </a:prstGeom>
          <a:solidFill>
            <a:schemeClr val="accent5"/>
          </a:solidFill>
          <a:ln/>
        </p:spPr>
      </p:sp>
      <p:sp>
        <p:nvSpPr>
          <p:cNvPr id="12" name="Text 10"/>
          <p:cNvSpPr txBox="1"/>
          <p:nvPr/>
        </p:nvSpPr>
        <p:spPr>
          <a:xfrm>
            <a:off x="649224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Gründung</a:t>
            </a:r>
            <a:endParaRPr lang="en-US" sz="1100" dirty="0"/>
          </a:p>
        </p:txBody>
      </p:sp>
      <p:sp>
        <p:nvSpPr>
          <p:cNvPr id="14" name="Karte Das lief gut"/>
          <p:cNvSpPr/>
          <p:nvPr/>
        </p:nvSpPr>
        <p:spPr>
          <a:xfrm>
            <a:off x="640080" y="1463040"/>
            <a:ext cx="3520440" cy="3520440"/>
          </a:xfrm>
          <a:prstGeom prst="roundRect">
            <a:avLst>
              <a:gd name="adj" fmla="val 3117"/>
            </a:avLst>
          </a:prstGeom>
          <a:solidFill>
            <a:schemeClr val="bg2"/>
          </a:solidFill>
          <a:ln/>
        </p:spPr>
      </p:sp>
      <p:sp>
        <p:nvSpPr>
          <p:cNvPr id="15" name="Icon-Kreis FaThumbsUp"/>
          <p:cNvSpPr/>
          <p:nvPr/>
        </p:nvSpPr>
        <p:spPr>
          <a:xfrm>
            <a:off x="914400" y="1691640"/>
            <a:ext cx="640080" cy="640080"/>
          </a:xfrm>
          <a:prstGeom prst="ellipse">
            <a:avLst/>
          </a:prstGeom>
          <a:solidFill>
            <a:schemeClr val="accent3"/>
          </a:solidFill>
          <a:ln/>
        </p:spPr>
      </p:sp>
      <p:pic>
        <p:nvPicPr>
          <p:cNvPr id="16" name="Icon FaThumbsUp" descr="Symbol ThumbsUp">    </p:cNvPr>
          <p:cNvPicPr>
            <a:picLocks noChangeAspect="1"/>
          </p:cNvPicPr>
          <p:nvPr/>
        </p:nvPicPr>
        <p:blipFill>
          <a:blip r:embed="rId1"/>
          <a:stretch>
            <a:fillRect/>
          </a:stretch>
        </p:blipFill>
        <p:spPr>
          <a:xfrm>
            <a:off x="1087222" y="1864462"/>
            <a:ext cx="294437" cy="294437"/>
          </a:xfrm>
          <a:prstGeom prst="rect">
            <a:avLst/>
          </a:prstGeom>
        </p:spPr>
      </p:pic>
      <p:sp>
        <p:nvSpPr>
          <p:cNvPr id="17" name="Text 13"/>
          <p:cNvSpPr txBox="1"/>
          <p:nvPr/>
        </p:nvSpPr>
        <p:spPr>
          <a:xfrm>
            <a:off x="1737360" y="1691640"/>
            <a:ext cx="2286000" cy="640080"/>
          </a:xfrm>
          <a:prstGeom prst="rect">
            <a:avLst/>
          </a:prstGeom>
          <a:noFill/>
          <a:ln/>
        </p:spPr>
        <p:txBody>
          <a:bodyPr wrap="square" lIns="0" tIns="0" rIns="0" bIns="0" rtlCol="0" anchor="ctr"/>
          <a:lstStyle/>
          <a:p>
            <a:pPr indent="0" marL="0">
              <a:buNone/>
            </a:pPr>
            <a:r>
              <a:rPr lang="en-US" sz="1900" b="1" dirty="0">
                <a:solidFill>
                  <a:schemeClr val="tx2"/>
                </a:solidFill>
              </a:rPr>
              <a:t>Das lief gut</a:t>
            </a:r>
            <a:endParaRPr lang="en-US" sz="1900" dirty="0"/>
          </a:p>
        </p:txBody>
      </p:sp>
      <p:sp>
        <p:nvSpPr>
          <p:cNvPr id="18" name="Text 14"/>
          <p:cNvSpPr txBox="1"/>
          <p:nvPr/>
        </p:nvSpPr>
        <p:spPr>
          <a:xfrm>
            <a:off x="914400" y="2514600"/>
            <a:ext cx="3017520" cy="23774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Vorsichtiger Start mit 1 Maschine – wie in der Spielanleitung empfohlen</a:t>
            </a:r>
            <a:endParaRPr lang="en-US" sz="1600" dirty="0"/>
          </a:p>
          <a:p>
            <a:pPr marL="203200" indent="-203200">
              <a:spcAft>
                <a:spcPts val="800"/>
              </a:spcAft>
              <a:buSzPct val="100000"/>
              <a:buChar char="•"/>
            </a:pPr>
            <a:r>
              <a:rPr lang="en-US" sz="1600" dirty="0">
                <a:solidFill>
                  <a:schemeClr val="tx1"/>
                </a:solidFill>
              </a:rPr>
              <a:t>Nach R2 schnell reagiert: 5.900 € → beste Runde (1,48)</a:t>
            </a:r>
            <a:endParaRPr lang="en-US" sz="1600" dirty="0"/>
          </a:p>
        </p:txBody>
      </p:sp>
      <p:sp>
        <p:nvSpPr>
          <p:cNvPr id="19" name="Karte Das lief schlecht"/>
          <p:cNvSpPr/>
          <p:nvPr/>
        </p:nvSpPr>
        <p:spPr>
          <a:xfrm>
            <a:off x="4320540" y="1463040"/>
            <a:ext cx="3520440" cy="3520440"/>
          </a:xfrm>
          <a:prstGeom prst="roundRect">
            <a:avLst>
              <a:gd name="adj" fmla="val 3117"/>
            </a:avLst>
          </a:prstGeom>
          <a:solidFill>
            <a:schemeClr val="bg2"/>
          </a:solidFill>
          <a:ln/>
        </p:spPr>
      </p:sp>
      <p:sp>
        <p:nvSpPr>
          <p:cNvPr id="20" name="Icon-Kreis FaThumbsDown"/>
          <p:cNvSpPr/>
          <p:nvPr/>
        </p:nvSpPr>
        <p:spPr>
          <a:xfrm>
            <a:off x="4594860" y="1691640"/>
            <a:ext cx="640080" cy="640080"/>
          </a:xfrm>
          <a:prstGeom prst="ellipse">
            <a:avLst/>
          </a:prstGeom>
          <a:solidFill>
            <a:schemeClr val="accent2"/>
          </a:solidFill>
          <a:ln/>
        </p:spPr>
      </p:sp>
      <p:pic>
        <p:nvPicPr>
          <p:cNvPr id="21" name="Icon FaThumbsDown" descr="Symbol ThumbsDown">    </p:cNvPr>
          <p:cNvPicPr>
            <a:picLocks noChangeAspect="1"/>
          </p:cNvPicPr>
          <p:nvPr/>
        </p:nvPicPr>
        <p:blipFill>
          <a:blip r:embed="rId2"/>
          <a:stretch>
            <a:fillRect/>
          </a:stretch>
        </p:blipFill>
        <p:spPr>
          <a:xfrm>
            <a:off x="4767682" y="1864462"/>
            <a:ext cx="294437" cy="294437"/>
          </a:xfrm>
          <a:prstGeom prst="rect">
            <a:avLst/>
          </a:prstGeom>
        </p:spPr>
      </p:pic>
      <p:sp>
        <p:nvSpPr>
          <p:cNvPr id="22" name="Text 17"/>
          <p:cNvSpPr txBox="1"/>
          <p:nvPr/>
        </p:nvSpPr>
        <p:spPr>
          <a:xfrm>
            <a:off x="5417820" y="1691640"/>
            <a:ext cx="2286000" cy="640080"/>
          </a:xfrm>
          <a:prstGeom prst="rect">
            <a:avLst/>
          </a:prstGeom>
          <a:noFill/>
          <a:ln/>
        </p:spPr>
        <p:txBody>
          <a:bodyPr wrap="square" lIns="0" tIns="0" rIns="0" bIns="0" rtlCol="0" anchor="ctr"/>
          <a:lstStyle/>
          <a:p>
            <a:pPr indent="0" marL="0">
              <a:buNone/>
            </a:pPr>
            <a:r>
              <a:rPr lang="en-US" sz="1900" b="1" dirty="0">
                <a:solidFill>
                  <a:schemeClr val="tx2"/>
                </a:solidFill>
              </a:rPr>
              <a:t>Das lief schlecht</a:t>
            </a:r>
            <a:endParaRPr lang="en-US" sz="1900" dirty="0"/>
          </a:p>
        </p:txBody>
      </p:sp>
      <p:sp>
        <p:nvSpPr>
          <p:cNvPr id="23" name="Text 18"/>
          <p:cNvSpPr txBox="1"/>
          <p:nvPr/>
        </p:nvSpPr>
        <p:spPr>
          <a:xfrm>
            <a:off x="4594860" y="2514600"/>
            <a:ext cx="3017520" cy="23774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R4–R6: hohe Preise trotz erwarteter Flaute – nur 20–50 % verkauft</a:t>
            </a:r>
            <a:endParaRPr lang="en-US" sz="1600" dirty="0"/>
          </a:p>
          <a:p>
            <a:pPr marL="203200" indent="-203200">
              <a:spcAft>
                <a:spcPts val="800"/>
              </a:spcAft>
              <a:buSzPct val="100000"/>
              <a:buChar char="•"/>
            </a:pPr>
            <a:r>
              <a:rPr lang="en-US" sz="1600" dirty="0">
                <a:solidFill>
                  <a:schemeClr val="tx1"/>
                </a:solidFill>
              </a:rPr>
              <a:t>R4/R5: je 13.000 € Fixkosten für 1 Palette</a:t>
            </a:r>
            <a:endParaRPr lang="en-US" sz="1600" dirty="0"/>
          </a:p>
          <a:p>
            <a:pPr marL="203200" indent="-203200">
              <a:spcAft>
                <a:spcPts val="800"/>
              </a:spcAft>
              <a:buSzPct val="100000"/>
              <a:buChar char="•"/>
            </a:pPr>
            <a:r>
              <a:rPr lang="en-US" sz="1600" dirty="0">
                <a:solidFill>
                  <a:schemeClr val="tx1"/>
                </a:solidFill>
              </a:rPr>
              <a:t>2. Maschine (30.000 €) nur in R3 wirklich gebraucht</a:t>
            </a:r>
            <a:endParaRPr lang="en-US" sz="1600" dirty="0"/>
          </a:p>
        </p:txBody>
      </p:sp>
      <p:sp>
        <p:nvSpPr>
          <p:cNvPr id="24" name="Karte Das machen wir anders"/>
          <p:cNvSpPr/>
          <p:nvPr/>
        </p:nvSpPr>
        <p:spPr>
          <a:xfrm>
            <a:off x="8001000" y="1463040"/>
            <a:ext cx="3520440" cy="3520440"/>
          </a:xfrm>
          <a:prstGeom prst="roundRect">
            <a:avLst>
              <a:gd name="adj" fmla="val 3117"/>
            </a:avLst>
          </a:prstGeom>
          <a:solidFill>
            <a:schemeClr val="bg2"/>
          </a:solidFill>
          <a:ln/>
        </p:spPr>
      </p:sp>
      <p:sp>
        <p:nvSpPr>
          <p:cNvPr id="25" name="Icon-Kreis FaExchangeAlt"/>
          <p:cNvSpPr/>
          <p:nvPr/>
        </p:nvSpPr>
        <p:spPr>
          <a:xfrm>
            <a:off x="8275320" y="1691640"/>
            <a:ext cx="640080" cy="640080"/>
          </a:xfrm>
          <a:prstGeom prst="ellipse">
            <a:avLst/>
          </a:prstGeom>
          <a:solidFill>
            <a:schemeClr val="accent1"/>
          </a:solidFill>
          <a:ln/>
        </p:spPr>
      </p:sp>
      <p:pic>
        <p:nvPicPr>
          <p:cNvPr id="26" name="Icon FaExchangeAlt" descr="Symbol ExchangeAlt">    </p:cNvPr>
          <p:cNvPicPr>
            <a:picLocks noChangeAspect="1"/>
          </p:cNvPicPr>
          <p:nvPr/>
        </p:nvPicPr>
        <p:blipFill>
          <a:blip r:embed="rId3"/>
          <a:stretch>
            <a:fillRect/>
          </a:stretch>
        </p:blipFill>
        <p:spPr>
          <a:xfrm>
            <a:off x="8448142" y="1864462"/>
            <a:ext cx="294437" cy="294437"/>
          </a:xfrm>
          <a:prstGeom prst="rect">
            <a:avLst/>
          </a:prstGeom>
        </p:spPr>
      </p:pic>
      <p:sp>
        <p:nvSpPr>
          <p:cNvPr id="27" name="Text 21"/>
          <p:cNvSpPr txBox="1"/>
          <p:nvPr/>
        </p:nvSpPr>
        <p:spPr>
          <a:xfrm>
            <a:off x="9098280" y="1691640"/>
            <a:ext cx="2286000" cy="640080"/>
          </a:xfrm>
          <a:prstGeom prst="rect">
            <a:avLst/>
          </a:prstGeom>
          <a:noFill/>
          <a:ln/>
        </p:spPr>
        <p:txBody>
          <a:bodyPr wrap="square" lIns="0" tIns="0" rIns="0" bIns="0" rtlCol="0" anchor="ctr"/>
          <a:lstStyle/>
          <a:p>
            <a:pPr indent="0" marL="0">
              <a:buNone/>
            </a:pPr>
            <a:r>
              <a:rPr lang="en-US" sz="1900" b="1" dirty="0">
                <a:solidFill>
                  <a:schemeClr val="tx2"/>
                </a:solidFill>
              </a:rPr>
              <a:t>Das machen wir anders</a:t>
            </a:r>
            <a:endParaRPr lang="en-US" sz="1900" dirty="0"/>
          </a:p>
        </p:txBody>
      </p:sp>
      <p:sp>
        <p:nvSpPr>
          <p:cNvPr id="28" name="Text 22"/>
          <p:cNvSpPr txBox="1"/>
          <p:nvPr/>
        </p:nvSpPr>
        <p:spPr>
          <a:xfrm>
            <a:off x="8275320" y="2514600"/>
            <a:ext cx="3017520" cy="23774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Preis nahe 5.900 € halten – lief in R3 am besten</a:t>
            </a:r>
            <a:endParaRPr lang="en-US" sz="1600" dirty="0"/>
          </a:p>
          <a:p>
            <a:pPr marL="203200" indent="-203200">
              <a:spcAft>
                <a:spcPts val="800"/>
              </a:spcAft>
              <a:buSzPct val="100000"/>
              <a:buChar char="•"/>
            </a:pPr>
            <a:r>
              <a:rPr lang="en-US" sz="1600" dirty="0">
                <a:solidFill>
                  <a:schemeClr val="tx1"/>
                </a:solidFill>
              </a:rPr>
              <a:t>Maschinen nur kaufen, wenn wir sie auslasten und besetzen</a:t>
            </a:r>
            <a:endParaRPr lang="en-US" sz="1600" dirty="0"/>
          </a:p>
          <a:p>
            <a:pPr marL="203200" indent="-203200">
              <a:spcAft>
                <a:spcPts val="800"/>
              </a:spcAft>
              <a:buSzPct val="100000"/>
              <a:buChar char="•"/>
            </a:pPr>
            <a:r>
              <a:rPr lang="en-US" sz="1600" dirty="0">
                <a:solidFill>
                  <a:schemeClr val="tx1"/>
                </a:solidFill>
              </a:rPr>
              <a:t>Personal an die Produktion anpassen (4.000 € je Person und Runde)</a:t>
            </a:r>
            <a:endParaRPr lang="en-US" sz="1600" dirty="0"/>
          </a:p>
        </p:txBody>
      </p:sp>
      <p:sp>
        <p:nvSpPr>
          <p:cNvPr id="29" name="Fazit"/>
          <p:cNvSpPr/>
          <p:nvPr/>
        </p:nvSpPr>
        <p:spPr>
          <a:xfrm>
            <a:off x="640080" y="5166360"/>
            <a:ext cx="10881360" cy="914400"/>
          </a:xfrm>
          <a:prstGeom prst="roundRect">
            <a:avLst>
              <a:gd name="adj" fmla="val 12000"/>
            </a:avLst>
          </a:prstGeom>
          <a:solidFill>
            <a:schemeClr val="accent1"/>
          </a:solidFill>
          <a:ln/>
        </p:spPr>
      </p:sp>
      <p:sp>
        <p:nvSpPr>
          <p:cNvPr id="30" name="Text 24"/>
          <p:cNvSpPr txBox="1"/>
          <p:nvPr/>
        </p:nvSpPr>
        <p:spPr>
          <a:xfrm>
            <a:off x="914400" y="5166360"/>
            <a:ext cx="10424160" cy="914400"/>
          </a:xfrm>
          <a:prstGeom prst="rect">
            <a:avLst/>
          </a:prstGeom>
          <a:noFill/>
          <a:ln/>
        </p:spPr>
        <p:txBody>
          <a:bodyPr wrap="square" lIns="0" tIns="0" rIns="0" bIns="0" rtlCol="0" anchor="ctr"/>
          <a:lstStyle/>
          <a:p>
            <a:pPr indent="0" marL="0">
              <a:buNone/>
            </a:pPr>
            <a:r>
              <a:rPr lang="en-US" sz="1700" b="1" dirty="0">
                <a:solidFill>
                  <a:schemeClr val="accent2"/>
                </a:solidFill>
              </a:rPr>
              <a:t>Unser Fazit: </a:t>
            </a:r>
            <a:pPr indent="0" marL="0">
              <a:buNone/>
            </a:pPr>
            <a:r>
              <a:rPr lang="en-US" sz="1700" dirty="0">
                <a:solidFill>
                  <a:schemeClr val="bg1"/>
                </a:solidFill>
              </a:rPr>
              <a:t>Der Preis war unser stärkster Hebel – und Fixkosten laufen weiter, auch wenn man kaum verkauft.</a:t>
            </a:r>
            <a:endParaRPr lang="en-US" sz="17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Bezug zur Gründung: Was im Spiel fehlte</a:t>
            </a:r>
            <a:endParaRPr lang="en-US" sz="3600" dirty="0"/>
          </a:p>
        </p:txBody>
      </p:sp>
      <p:sp>
        <p:nvSpPr>
          <p:cNvPr id="3" name="Kapitelpunkt Einleitung"/>
          <p:cNvSpPr/>
          <p:nvPr/>
        </p:nvSpPr>
        <p:spPr>
          <a:xfrm>
            <a:off x="640080" y="6437376"/>
            <a:ext cx="109728" cy="109728"/>
          </a:xfrm>
          <a:prstGeom prst="ellipse">
            <a:avLst/>
          </a:prstGeom>
          <a:solidFill>
            <a:schemeClr val="accent5"/>
          </a:solidFill>
          <a:ln/>
        </p:spPr>
      </p:sp>
      <p:sp>
        <p:nvSpPr>
          <p:cNvPr id="4" name="Text 2"/>
          <p:cNvSpPr txBox="1"/>
          <p:nvPr/>
        </p:nvSpPr>
        <p:spPr>
          <a:xfrm>
            <a:off x="82296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Einleitung</a:t>
            </a:r>
            <a:endParaRPr lang="en-US" sz="1100" dirty="0"/>
          </a:p>
        </p:txBody>
      </p:sp>
      <p:sp>
        <p:nvSpPr>
          <p:cNvPr id="5" name="Kapitelpunkt Verlauf"/>
          <p:cNvSpPr/>
          <p:nvPr/>
        </p:nvSpPr>
        <p:spPr>
          <a:xfrm>
            <a:off x="2057400" y="6437376"/>
            <a:ext cx="109728" cy="109728"/>
          </a:xfrm>
          <a:prstGeom prst="ellipse">
            <a:avLst/>
          </a:prstGeom>
          <a:solidFill>
            <a:schemeClr val="accent5"/>
          </a:solidFill>
          <a:ln/>
        </p:spPr>
      </p:sp>
      <p:sp>
        <p:nvSpPr>
          <p:cNvPr id="6" name="Text 4"/>
          <p:cNvSpPr txBox="1"/>
          <p:nvPr/>
        </p:nvSpPr>
        <p:spPr>
          <a:xfrm>
            <a:off x="224028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Verlauf</a:t>
            </a:r>
            <a:endParaRPr lang="en-US" sz="1100" dirty="0"/>
          </a:p>
        </p:txBody>
      </p:sp>
      <p:sp>
        <p:nvSpPr>
          <p:cNvPr id="7" name="Kapitelpunkt Auswertung"/>
          <p:cNvSpPr/>
          <p:nvPr/>
        </p:nvSpPr>
        <p:spPr>
          <a:xfrm>
            <a:off x="3474720" y="6437376"/>
            <a:ext cx="109728" cy="109728"/>
          </a:xfrm>
          <a:prstGeom prst="ellipse">
            <a:avLst/>
          </a:prstGeom>
          <a:solidFill>
            <a:schemeClr val="accent5"/>
          </a:solidFill>
          <a:ln/>
        </p:spPr>
      </p:sp>
      <p:sp>
        <p:nvSpPr>
          <p:cNvPr id="8" name="Text 6"/>
          <p:cNvSpPr txBox="1"/>
          <p:nvPr/>
        </p:nvSpPr>
        <p:spPr>
          <a:xfrm>
            <a:off x="365760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Auswertung</a:t>
            </a:r>
            <a:endParaRPr lang="en-US" sz="1100" dirty="0"/>
          </a:p>
        </p:txBody>
      </p:sp>
      <p:sp>
        <p:nvSpPr>
          <p:cNvPr id="9" name="Kapitelpunkt Reflexion"/>
          <p:cNvSpPr/>
          <p:nvPr/>
        </p:nvSpPr>
        <p:spPr>
          <a:xfrm>
            <a:off x="4892040" y="6437376"/>
            <a:ext cx="109728" cy="109728"/>
          </a:xfrm>
          <a:prstGeom prst="ellipse">
            <a:avLst/>
          </a:prstGeom>
          <a:solidFill>
            <a:schemeClr val="accent5"/>
          </a:solidFill>
          <a:ln/>
        </p:spPr>
      </p:sp>
      <p:sp>
        <p:nvSpPr>
          <p:cNvPr id="10" name="Text 8"/>
          <p:cNvSpPr txBox="1"/>
          <p:nvPr/>
        </p:nvSpPr>
        <p:spPr>
          <a:xfrm>
            <a:off x="5074920" y="6355080"/>
            <a:ext cx="1188720" cy="274320"/>
          </a:xfrm>
          <a:prstGeom prst="rect">
            <a:avLst/>
          </a:prstGeom>
          <a:noFill/>
          <a:ln/>
        </p:spPr>
        <p:txBody>
          <a:bodyPr wrap="square" lIns="0" tIns="0" rIns="0" bIns="0" rtlCol="0" anchor="ctr"/>
          <a:lstStyle/>
          <a:p>
            <a:pPr indent="0" marL="0">
              <a:buNone/>
            </a:pPr>
            <a:r>
              <a:rPr lang="en-US" sz="1100" dirty="0">
                <a:solidFill>
                  <a:schemeClr val="accent4"/>
                </a:solidFill>
              </a:rPr>
              <a:t>Reflexion</a:t>
            </a:r>
            <a:endParaRPr lang="en-US" sz="1100" dirty="0"/>
          </a:p>
        </p:txBody>
      </p:sp>
      <p:sp>
        <p:nvSpPr>
          <p:cNvPr id="11" name="Kapitelpunkt Gründung"/>
          <p:cNvSpPr/>
          <p:nvPr/>
        </p:nvSpPr>
        <p:spPr>
          <a:xfrm>
            <a:off x="6309360" y="6437376"/>
            <a:ext cx="109728" cy="109728"/>
          </a:xfrm>
          <a:prstGeom prst="ellipse">
            <a:avLst/>
          </a:prstGeom>
          <a:solidFill>
            <a:schemeClr val="accent2"/>
          </a:solidFill>
          <a:ln/>
        </p:spPr>
      </p:sp>
      <p:sp>
        <p:nvSpPr>
          <p:cNvPr id="12" name="Text 10"/>
          <p:cNvSpPr txBox="1"/>
          <p:nvPr/>
        </p:nvSpPr>
        <p:spPr>
          <a:xfrm>
            <a:off x="6492240" y="6355080"/>
            <a:ext cx="1188720" cy="274320"/>
          </a:xfrm>
          <a:prstGeom prst="rect">
            <a:avLst/>
          </a:prstGeom>
          <a:noFill/>
          <a:ln/>
        </p:spPr>
        <p:txBody>
          <a:bodyPr wrap="square" lIns="0" tIns="0" rIns="0" bIns="0" rtlCol="0" anchor="ctr"/>
          <a:lstStyle/>
          <a:p>
            <a:pPr indent="0" marL="0">
              <a:buNone/>
            </a:pPr>
            <a:r>
              <a:rPr lang="en-US" sz="1100" b="1" dirty="0">
                <a:solidFill>
                  <a:schemeClr val="accent2"/>
                </a:solidFill>
              </a:rPr>
              <a:t>Gründung</a:t>
            </a:r>
            <a:endParaRPr lang="en-US" sz="1100" dirty="0"/>
          </a:p>
        </p:txBody>
      </p:sp>
      <p:sp>
        <p:nvSpPr>
          <p:cNvPr id="14" name="Text 11"/>
          <p:cNvSpPr txBox="1"/>
          <p:nvPr/>
        </p:nvSpPr>
        <p:spPr>
          <a:xfrm>
            <a:off x="640080" y="1371600"/>
            <a:ext cx="6949440" cy="365760"/>
          </a:xfrm>
          <a:prstGeom prst="rect">
            <a:avLst/>
          </a:prstGeom>
          <a:noFill/>
          <a:ln/>
        </p:spPr>
        <p:txBody>
          <a:bodyPr wrap="square" lIns="0" tIns="0" rIns="0" bIns="0" rtlCol="0" anchor="ctr"/>
          <a:lstStyle/>
          <a:p>
            <a:pPr indent="0" marL="0">
              <a:buNone/>
            </a:pPr>
            <a:r>
              <a:rPr lang="en-US" sz="1600" b="1" dirty="0">
                <a:solidFill>
                  <a:schemeClr val="accent4"/>
                </a:solidFill>
              </a:rPr>
              <a:t>Was im Spiel fehlte – und was es bewirkt hätte</a:t>
            </a:r>
            <a:endParaRPr lang="en-US" sz="1600" dirty="0"/>
          </a:p>
        </p:txBody>
      </p:sp>
      <p:sp>
        <p:nvSpPr>
          <p:cNvPr id="15" name="Fehlt Mehrweg &amp; Pfand"/>
          <p:cNvSpPr/>
          <p:nvPr/>
        </p:nvSpPr>
        <p:spPr>
          <a:xfrm>
            <a:off x="640080" y="1828800"/>
            <a:ext cx="6949440" cy="932688"/>
          </a:xfrm>
          <a:prstGeom prst="roundRect">
            <a:avLst>
              <a:gd name="adj" fmla="val 11765"/>
            </a:avLst>
          </a:prstGeom>
          <a:solidFill>
            <a:schemeClr val="bg2"/>
          </a:solidFill>
          <a:ln/>
        </p:spPr>
      </p:sp>
      <p:sp>
        <p:nvSpPr>
          <p:cNvPr id="16" name="Icon-Kreis FaRecycle"/>
          <p:cNvSpPr/>
          <p:nvPr/>
        </p:nvSpPr>
        <p:spPr>
          <a:xfrm>
            <a:off x="822960" y="1984248"/>
            <a:ext cx="621792" cy="621792"/>
          </a:xfrm>
          <a:prstGeom prst="ellipse">
            <a:avLst/>
          </a:prstGeom>
          <a:solidFill>
            <a:schemeClr val="accent1"/>
          </a:solidFill>
          <a:ln/>
        </p:spPr>
      </p:sp>
      <p:pic>
        <p:nvPicPr>
          <p:cNvPr id="17" name="Icon FaRecycle" descr="Symbol Recycle">    </p:cNvPr>
          <p:cNvPicPr>
            <a:picLocks noChangeAspect="1"/>
          </p:cNvPicPr>
          <p:nvPr/>
        </p:nvPicPr>
        <p:blipFill>
          <a:blip r:embed="rId1"/>
          <a:stretch>
            <a:fillRect/>
          </a:stretch>
        </p:blipFill>
        <p:spPr>
          <a:xfrm>
            <a:off x="990844" y="2152132"/>
            <a:ext cx="286024" cy="286024"/>
          </a:xfrm>
          <a:prstGeom prst="rect">
            <a:avLst/>
          </a:prstGeom>
        </p:spPr>
      </p:pic>
      <p:sp>
        <p:nvSpPr>
          <p:cNvPr id="18" name="Text 14"/>
          <p:cNvSpPr txBox="1"/>
          <p:nvPr/>
        </p:nvSpPr>
        <p:spPr>
          <a:xfrm>
            <a:off x="1645920" y="1828800"/>
            <a:ext cx="5806440" cy="932688"/>
          </a:xfrm>
          <a:prstGeom prst="rect">
            <a:avLst/>
          </a:prstGeom>
          <a:noFill/>
          <a:ln/>
        </p:spPr>
        <p:txBody>
          <a:bodyPr wrap="square" lIns="0" tIns="0" rIns="0" bIns="0" rtlCol="0" anchor="ctr"/>
          <a:lstStyle/>
          <a:p>
            <a:pPr indent="0" marL="0">
              <a:buNone/>
            </a:pPr>
            <a:r>
              <a:rPr lang="en-US" sz="1700" b="1" dirty="0">
                <a:solidFill>
                  <a:schemeClr val="tx2"/>
                </a:solidFill>
              </a:rPr>
              <a:t>Mehrweg &amp; Pfand</a:t>
            </a:r>
            <a:endParaRPr lang="en-US" sz="1700" dirty="0"/>
          </a:p>
          <a:p>
            <a:pPr indent="0" marL="0">
              <a:buNone/>
            </a:pPr>
            <a:r>
              <a:rPr lang="en-US" sz="1500" dirty="0">
                <a:solidFill>
                  <a:schemeClr val="tx1"/>
                </a:solidFill>
              </a:rPr>
              <a:t>→ Mehr Kosten: Rücknahme, Spülen, Rücktransport</a:t>
            </a:r>
            <a:endParaRPr lang="en-US" sz="1700" dirty="0"/>
          </a:p>
        </p:txBody>
      </p:sp>
      <p:sp>
        <p:nvSpPr>
          <p:cNvPr id="19" name="Fehlt Zielgruppe &amp; Persona Jasper"/>
          <p:cNvSpPr/>
          <p:nvPr/>
        </p:nvSpPr>
        <p:spPr>
          <a:xfrm>
            <a:off x="640080" y="2898648"/>
            <a:ext cx="6949440" cy="932688"/>
          </a:xfrm>
          <a:prstGeom prst="roundRect">
            <a:avLst>
              <a:gd name="adj" fmla="val 11765"/>
            </a:avLst>
          </a:prstGeom>
          <a:solidFill>
            <a:schemeClr val="bg2"/>
          </a:solidFill>
          <a:ln/>
        </p:spPr>
      </p:sp>
      <p:sp>
        <p:nvSpPr>
          <p:cNvPr id="20" name="Icon-Kreis FaUserAlt"/>
          <p:cNvSpPr/>
          <p:nvPr/>
        </p:nvSpPr>
        <p:spPr>
          <a:xfrm>
            <a:off x="822960" y="3054096"/>
            <a:ext cx="621792" cy="621792"/>
          </a:xfrm>
          <a:prstGeom prst="ellipse">
            <a:avLst/>
          </a:prstGeom>
          <a:solidFill>
            <a:schemeClr val="accent1"/>
          </a:solidFill>
          <a:ln/>
        </p:spPr>
      </p:sp>
      <p:pic>
        <p:nvPicPr>
          <p:cNvPr id="21" name="Icon FaUserAlt" descr="Symbol UserAlt">    </p:cNvPr>
          <p:cNvPicPr>
            <a:picLocks noChangeAspect="1"/>
          </p:cNvPicPr>
          <p:nvPr/>
        </p:nvPicPr>
        <p:blipFill>
          <a:blip r:embed="rId2"/>
          <a:stretch>
            <a:fillRect/>
          </a:stretch>
        </p:blipFill>
        <p:spPr>
          <a:xfrm>
            <a:off x="990844" y="3221980"/>
            <a:ext cx="286024" cy="286024"/>
          </a:xfrm>
          <a:prstGeom prst="rect">
            <a:avLst/>
          </a:prstGeom>
        </p:spPr>
      </p:pic>
      <p:sp>
        <p:nvSpPr>
          <p:cNvPr id="22" name="Text 17"/>
          <p:cNvSpPr txBox="1"/>
          <p:nvPr/>
        </p:nvSpPr>
        <p:spPr>
          <a:xfrm>
            <a:off x="1645920" y="2898648"/>
            <a:ext cx="5806440" cy="932688"/>
          </a:xfrm>
          <a:prstGeom prst="rect">
            <a:avLst/>
          </a:prstGeom>
          <a:noFill/>
          <a:ln/>
        </p:spPr>
        <p:txBody>
          <a:bodyPr wrap="square" lIns="0" tIns="0" rIns="0" bIns="0" rtlCol="0" anchor="ctr"/>
          <a:lstStyle/>
          <a:p>
            <a:pPr indent="0" marL="0">
              <a:buNone/>
            </a:pPr>
            <a:r>
              <a:rPr lang="en-US" sz="1700" b="1" dirty="0">
                <a:solidFill>
                  <a:schemeClr val="tx2"/>
                </a:solidFill>
              </a:rPr>
              <a:t>Zielgruppe &amp; Persona Jasper</a:t>
            </a:r>
            <a:endParaRPr lang="en-US" sz="1700" dirty="0"/>
          </a:p>
          <a:p>
            <a:pPr indent="0" marL="0">
              <a:buNone/>
            </a:pPr>
            <a:r>
              <a:rPr lang="en-US" sz="1500" dirty="0">
                <a:solidFill>
                  <a:schemeClr val="tx1"/>
                </a:solidFill>
              </a:rPr>
              <a:t>→ Absatz hinge auch davon ab, wen man anspricht</a:t>
            </a:r>
            <a:endParaRPr lang="en-US" sz="1700" dirty="0"/>
          </a:p>
        </p:txBody>
      </p:sp>
      <p:sp>
        <p:nvSpPr>
          <p:cNvPr id="23" name="Fehlt Social Media &amp; Onlineshop"/>
          <p:cNvSpPr/>
          <p:nvPr/>
        </p:nvSpPr>
        <p:spPr>
          <a:xfrm>
            <a:off x="640080" y="3968496"/>
            <a:ext cx="6949440" cy="932688"/>
          </a:xfrm>
          <a:prstGeom prst="roundRect">
            <a:avLst>
              <a:gd name="adj" fmla="val 11765"/>
            </a:avLst>
          </a:prstGeom>
          <a:solidFill>
            <a:schemeClr val="bg2"/>
          </a:solidFill>
          <a:ln/>
        </p:spPr>
      </p:sp>
      <p:sp>
        <p:nvSpPr>
          <p:cNvPr id="24" name="Icon-Kreis FaBullhorn"/>
          <p:cNvSpPr/>
          <p:nvPr/>
        </p:nvSpPr>
        <p:spPr>
          <a:xfrm>
            <a:off x="822960" y="4123944"/>
            <a:ext cx="621792" cy="621792"/>
          </a:xfrm>
          <a:prstGeom prst="ellipse">
            <a:avLst/>
          </a:prstGeom>
          <a:solidFill>
            <a:schemeClr val="accent1"/>
          </a:solidFill>
          <a:ln/>
        </p:spPr>
      </p:sp>
      <p:pic>
        <p:nvPicPr>
          <p:cNvPr id="25" name="Icon FaBullhorn" descr="Symbol Bullhorn">    </p:cNvPr>
          <p:cNvPicPr>
            <a:picLocks noChangeAspect="1"/>
          </p:cNvPicPr>
          <p:nvPr/>
        </p:nvPicPr>
        <p:blipFill>
          <a:blip r:embed="rId3"/>
          <a:stretch>
            <a:fillRect/>
          </a:stretch>
        </p:blipFill>
        <p:spPr>
          <a:xfrm>
            <a:off x="990844" y="4291828"/>
            <a:ext cx="286024" cy="286024"/>
          </a:xfrm>
          <a:prstGeom prst="rect">
            <a:avLst/>
          </a:prstGeom>
        </p:spPr>
      </p:pic>
      <p:sp>
        <p:nvSpPr>
          <p:cNvPr id="26" name="Text 20"/>
          <p:cNvSpPr txBox="1"/>
          <p:nvPr/>
        </p:nvSpPr>
        <p:spPr>
          <a:xfrm>
            <a:off x="1645920" y="3968496"/>
            <a:ext cx="5806440" cy="932688"/>
          </a:xfrm>
          <a:prstGeom prst="rect">
            <a:avLst/>
          </a:prstGeom>
          <a:noFill/>
          <a:ln/>
        </p:spPr>
        <p:txBody>
          <a:bodyPr wrap="square" lIns="0" tIns="0" rIns="0" bIns="0" rtlCol="0" anchor="ctr"/>
          <a:lstStyle/>
          <a:p>
            <a:pPr indent="0" marL="0">
              <a:buNone/>
            </a:pPr>
            <a:r>
              <a:rPr lang="en-US" sz="1700" b="1" dirty="0">
                <a:solidFill>
                  <a:schemeClr val="tx2"/>
                </a:solidFill>
              </a:rPr>
              <a:t>Social Media &amp; Onlineshop</a:t>
            </a:r>
            <a:endParaRPr lang="en-US" sz="1700" dirty="0"/>
          </a:p>
          <a:p>
            <a:pPr indent="0" marL="0">
              <a:buNone/>
            </a:pPr>
            <a:r>
              <a:rPr lang="en-US" sz="1500" dirty="0">
                <a:solidFill>
                  <a:schemeClr val="tx1"/>
                </a:solidFill>
              </a:rPr>
              <a:t>→ Werbung hätte R4/R5 mehr Absatz bringen können</a:t>
            </a:r>
            <a:endParaRPr lang="en-US" sz="1700" dirty="0"/>
          </a:p>
        </p:txBody>
      </p:sp>
      <p:sp>
        <p:nvSpPr>
          <p:cNvPr id="27" name="Fehlt Sorte Tamarinde-Limette"/>
          <p:cNvSpPr/>
          <p:nvPr/>
        </p:nvSpPr>
        <p:spPr>
          <a:xfrm>
            <a:off x="640080" y="5038344"/>
            <a:ext cx="6949440" cy="932688"/>
          </a:xfrm>
          <a:prstGeom prst="roundRect">
            <a:avLst>
              <a:gd name="adj" fmla="val 11765"/>
            </a:avLst>
          </a:prstGeom>
          <a:solidFill>
            <a:schemeClr val="bg2"/>
          </a:solidFill>
          <a:ln/>
        </p:spPr>
      </p:sp>
      <p:sp>
        <p:nvSpPr>
          <p:cNvPr id="28" name="Icon-Kreis FaLeaf"/>
          <p:cNvSpPr/>
          <p:nvPr/>
        </p:nvSpPr>
        <p:spPr>
          <a:xfrm>
            <a:off x="822960" y="5193792"/>
            <a:ext cx="621792" cy="621792"/>
          </a:xfrm>
          <a:prstGeom prst="ellipse">
            <a:avLst/>
          </a:prstGeom>
          <a:solidFill>
            <a:schemeClr val="accent1"/>
          </a:solidFill>
          <a:ln/>
        </p:spPr>
      </p:sp>
      <p:pic>
        <p:nvPicPr>
          <p:cNvPr id="29" name="Icon FaLeaf" descr="Symbol Leaf">    </p:cNvPr>
          <p:cNvPicPr>
            <a:picLocks noChangeAspect="1"/>
          </p:cNvPicPr>
          <p:nvPr/>
        </p:nvPicPr>
        <p:blipFill>
          <a:blip r:embed="rId4"/>
          <a:stretch>
            <a:fillRect/>
          </a:stretch>
        </p:blipFill>
        <p:spPr>
          <a:xfrm>
            <a:off x="990844" y="5361676"/>
            <a:ext cx="286024" cy="286024"/>
          </a:xfrm>
          <a:prstGeom prst="rect">
            <a:avLst/>
          </a:prstGeom>
        </p:spPr>
      </p:pic>
      <p:sp>
        <p:nvSpPr>
          <p:cNvPr id="30" name="Text 23"/>
          <p:cNvSpPr txBox="1"/>
          <p:nvPr/>
        </p:nvSpPr>
        <p:spPr>
          <a:xfrm>
            <a:off x="1645920" y="5038344"/>
            <a:ext cx="5806440" cy="932688"/>
          </a:xfrm>
          <a:prstGeom prst="rect">
            <a:avLst/>
          </a:prstGeom>
          <a:noFill/>
          <a:ln/>
        </p:spPr>
        <p:txBody>
          <a:bodyPr wrap="square" lIns="0" tIns="0" rIns="0" bIns="0" rtlCol="0" anchor="ctr"/>
          <a:lstStyle/>
          <a:p>
            <a:pPr indent="0" marL="0">
              <a:buNone/>
            </a:pPr>
            <a:r>
              <a:rPr lang="en-US" sz="1700" b="1" dirty="0">
                <a:solidFill>
                  <a:schemeClr val="tx2"/>
                </a:solidFill>
              </a:rPr>
              <a:t>Sorte Tamarinde-Limette</a:t>
            </a:r>
            <a:endParaRPr lang="en-US" sz="1700" dirty="0"/>
          </a:p>
          <a:p>
            <a:pPr indent="0" marL="0">
              <a:buNone/>
            </a:pPr>
            <a:r>
              <a:rPr lang="en-US" sz="1500" dirty="0">
                <a:solidFill>
                  <a:schemeClr val="tx1"/>
                </a:solidFill>
              </a:rPr>
              <a:t>→ Alleinstellung: höherer Preis bei gleichem Absatz</a:t>
            </a:r>
            <a:endParaRPr lang="en-US" sz="1700" dirty="0"/>
          </a:p>
        </p:txBody>
      </p:sp>
      <p:sp>
        <p:nvSpPr>
          <p:cNvPr id="31" name="Spielerweiterung"/>
          <p:cNvSpPr/>
          <p:nvPr/>
        </p:nvSpPr>
        <p:spPr>
          <a:xfrm>
            <a:off x="7863840" y="1371600"/>
            <a:ext cx="3657600" cy="4754880"/>
          </a:xfrm>
          <a:prstGeom prst="roundRect">
            <a:avLst>
              <a:gd name="adj" fmla="val 3000"/>
            </a:avLst>
          </a:prstGeom>
          <a:solidFill>
            <a:schemeClr val="accent1"/>
          </a:solidFill>
          <a:ln/>
        </p:spPr>
      </p:sp>
      <p:sp>
        <p:nvSpPr>
          <p:cNvPr id="32" name="Icon-Kreis FaLightbulb"/>
          <p:cNvSpPr/>
          <p:nvPr/>
        </p:nvSpPr>
        <p:spPr>
          <a:xfrm>
            <a:off x="8092440" y="1600200"/>
            <a:ext cx="640080" cy="640080"/>
          </a:xfrm>
          <a:prstGeom prst="ellipse">
            <a:avLst/>
          </a:prstGeom>
          <a:solidFill>
            <a:schemeClr val="accent2"/>
          </a:solidFill>
          <a:ln/>
        </p:spPr>
      </p:sp>
      <p:pic>
        <p:nvPicPr>
          <p:cNvPr id="33" name="Icon FaLightbulb" descr="Symbol Lightbulb">    </p:cNvPr>
          <p:cNvPicPr>
            <a:picLocks noChangeAspect="1"/>
          </p:cNvPicPr>
          <p:nvPr/>
        </p:nvPicPr>
        <p:blipFill>
          <a:blip r:embed="rId5"/>
          <a:stretch>
            <a:fillRect/>
          </a:stretch>
        </p:blipFill>
        <p:spPr>
          <a:xfrm>
            <a:off x="8265262" y="1773022"/>
            <a:ext cx="294437" cy="294437"/>
          </a:xfrm>
          <a:prstGeom prst="rect">
            <a:avLst/>
          </a:prstGeom>
        </p:spPr>
      </p:pic>
      <p:sp>
        <p:nvSpPr>
          <p:cNvPr id="34" name="Text 26"/>
          <p:cNvSpPr txBox="1"/>
          <p:nvPr/>
        </p:nvSpPr>
        <p:spPr>
          <a:xfrm>
            <a:off x="8869680" y="1600200"/>
            <a:ext cx="2560320" cy="640080"/>
          </a:xfrm>
          <a:prstGeom prst="rect">
            <a:avLst/>
          </a:prstGeom>
          <a:noFill/>
          <a:ln/>
        </p:spPr>
        <p:txBody>
          <a:bodyPr wrap="square" lIns="0" tIns="0" rIns="0" bIns="0" rtlCol="0" anchor="ctr"/>
          <a:lstStyle/>
          <a:p>
            <a:pPr indent="0" marL="0">
              <a:buNone/>
            </a:pPr>
            <a:r>
              <a:rPr lang="en-US" sz="1900" b="1" dirty="0">
                <a:solidFill>
                  <a:schemeClr val="bg1"/>
                </a:solidFill>
              </a:rPr>
              <a:t>Unsere Vorschläge</a:t>
            </a:r>
            <a:endParaRPr lang="en-US" sz="1900" dirty="0"/>
          </a:p>
        </p:txBody>
      </p:sp>
      <p:sp>
        <p:nvSpPr>
          <p:cNvPr id="35" name="Text 27"/>
          <p:cNvSpPr txBox="1"/>
          <p:nvPr/>
        </p:nvSpPr>
        <p:spPr>
          <a:xfrm>
            <a:off x="8092440" y="2468880"/>
            <a:ext cx="3200400" cy="3474720"/>
          </a:xfrm>
          <a:prstGeom prst="rect">
            <a:avLst/>
          </a:prstGeom>
          <a:noFill/>
          <a:ln/>
        </p:spPr>
        <p:txBody>
          <a:bodyPr wrap="square" lIns="0" tIns="0" rIns="0" bIns="0" rtlCol="0" anchor="t"/>
          <a:lstStyle/>
          <a:p>
            <a:pPr indent="0" marL="0">
              <a:buNone/>
            </a:pPr>
            <a:r>
              <a:rPr lang="en-US" sz="2000" b="1" dirty="0">
                <a:solidFill>
                  <a:schemeClr val="accent2"/>
                </a:solidFill>
              </a:rPr>
              <a:t>1  Marketingbudget</a:t>
            </a:r>
            <a:endParaRPr lang="en-US" sz="2000" dirty="0"/>
          </a:p>
          <a:p>
            <a:pPr indent="0" marL="0">
              <a:spcAft>
                <a:spcPts val="2200"/>
              </a:spcAft>
              <a:buNone/>
            </a:pPr>
            <a:r>
              <a:rPr lang="en-US" sz="1700" dirty="0">
                <a:solidFill>
                  <a:schemeClr val="bg1"/>
                </a:solidFill>
              </a:rPr>
              <a:t>Je 2.000 € → +1 Palette Absatz</a:t>
            </a:r>
            <a:endParaRPr lang="en-US" sz="2000" dirty="0"/>
          </a:p>
          <a:p>
            <a:pPr indent="0" marL="0">
              <a:buNone/>
            </a:pPr>
            <a:r>
              <a:rPr lang="en-US" sz="2000" b="1" dirty="0">
                <a:solidFill>
                  <a:schemeClr val="accent2"/>
                </a:solidFill>
              </a:rPr>
              <a:t>2  Mehrweg-Option</a:t>
            </a:r>
            <a:endParaRPr lang="en-US" sz="2000" dirty="0"/>
          </a:p>
          <a:p>
            <a:pPr indent="0" marL="0">
              <a:spcAft>
                <a:spcPts val="2200"/>
              </a:spcAft>
              <a:buNone/>
            </a:pPr>
            <a:r>
              <a:rPr lang="en-US" sz="1700" dirty="0">
                <a:solidFill>
                  <a:schemeClr val="bg1"/>
                </a:solidFill>
              </a:rPr>
              <a:t>+1.000 € Kosten je Runde → +1 Palette Absatz bei umweltbewussten Kunden</a:t>
            </a:r>
            <a:endParaRPr lang="en-US" sz="2000" dirty="0"/>
          </a:p>
          <a:p>
            <a:pPr indent="0" marL="0">
              <a:buNone/>
            </a:pPr>
            <a:r>
              <a:rPr lang="en-US" sz="1600" i="1" dirty="0">
                <a:solidFill>
                  <a:schemeClr val="bg2"/>
                </a:solidFill>
              </a:rPr>
              <a:t>Je nur eine Zeile mehr im Kassenbuch.</a:t>
            </a:r>
            <a:endParaRPr lang="en-US" sz="20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22960" y="2011680"/>
            <a:ext cx="5943600" cy="118872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Vielen Dank!</a:t>
            </a:r>
            <a:endParaRPr lang="en-US" sz="6000" dirty="0"/>
          </a:p>
        </p:txBody>
      </p:sp>
      <p:sp>
        <p:nvSpPr>
          <p:cNvPr id="3" name="Text 1"/>
          <p:cNvSpPr txBox="1"/>
          <p:nvPr/>
        </p:nvSpPr>
        <p:spPr>
          <a:xfrm>
            <a:off x="822960" y="3291840"/>
            <a:ext cx="5760720" cy="914400"/>
          </a:xfrm>
          <a:prstGeom prst="rect">
            <a:avLst/>
          </a:prstGeom>
          <a:noFill/>
          <a:ln/>
        </p:spPr>
        <p:txBody>
          <a:bodyPr wrap="square" lIns="0" tIns="0" rIns="0" bIns="0" rtlCol="0" anchor="ctr"/>
          <a:lstStyle/>
          <a:p>
            <a:pPr indent="0" marL="0">
              <a:buNone/>
            </a:pPr>
            <a:r>
              <a:rPr lang="en-US" sz="2000" dirty="0">
                <a:solidFill>
                  <a:schemeClr val="bg2"/>
                </a:solidFill>
              </a:rPr>
              <a:t>Was dein Körper schon immer wollte – und was wir im Planspiel gelernt haben.</a:t>
            </a:r>
            <a:endParaRPr lang="en-US" sz="2000" dirty="0"/>
          </a:p>
        </p:txBody>
      </p:sp>
      <p:sp>
        <p:nvSpPr>
          <p:cNvPr id="4" name="Text 2"/>
          <p:cNvSpPr txBox="1"/>
          <p:nvPr/>
        </p:nvSpPr>
        <p:spPr>
          <a:xfrm>
            <a:off x="822960" y="4389120"/>
            <a:ext cx="5760720" cy="457200"/>
          </a:xfrm>
          <a:prstGeom prst="rect">
            <a:avLst/>
          </a:prstGeom>
          <a:noFill/>
          <a:ln/>
        </p:spPr>
        <p:txBody>
          <a:bodyPr wrap="square" lIns="0" tIns="0" rIns="0" bIns="0" rtlCol="0" anchor="ctr"/>
          <a:lstStyle/>
          <a:p>
            <a:pPr indent="0" marL="0">
              <a:buNone/>
            </a:pPr>
            <a:r>
              <a:rPr lang="en-US" sz="2000" b="1" dirty="0">
                <a:solidFill>
                  <a:schemeClr val="accent2"/>
                </a:solidFill>
              </a:rPr>
              <a:t>Wir freuen uns auf eure Fragen.</a:t>
            </a:r>
            <a:endParaRPr lang="en-US" sz="2000" dirty="0"/>
          </a:p>
        </p:txBody>
      </p:sp>
      <p:pic>
        <p:nvPicPr>
          <p:cNvPr id="5" name="Logo" descr="Logo Elbharz">    </p:cNvPr>
          <p:cNvPicPr>
            <a:picLocks noChangeAspect="1"/>
          </p:cNvPicPr>
          <p:nvPr/>
        </p:nvPicPr>
        <p:blipFill>
          <a:blip r:embed="rId1"/>
          <a:stretch>
            <a:fillRect/>
          </a:stretch>
        </p:blipFill>
        <p:spPr>
          <a:xfrm>
            <a:off x="731520" y="5257800"/>
            <a:ext cx="1005840" cy="1005840"/>
          </a:xfrm>
          <a:prstGeom prst="rect">
            <a:avLst/>
          </a:prstGeom>
        </p:spPr>
      </p:pic>
      <p:sp>
        <p:nvSpPr>
          <p:cNvPr id="6" name="Sonne"/>
          <p:cNvSpPr/>
          <p:nvPr/>
        </p:nvSpPr>
        <p:spPr>
          <a:xfrm>
            <a:off x="8138160" y="1097280"/>
            <a:ext cx="3474720" cy="3474720"/>
          </a:xfrm>
          <a:prstGeom prst="ellipse">
            <a:avLst/>
          </a:prstGeom>
          <a:solidFill>
            <a:schemeClr val="accent2"/>
          </a:solidFill>
          <a:ln/>
        </p:spPr>
      </p:sp>
      <p:pic>
        <p:nvPicPr>
          <p:cNvPr id="7" name="Flasche" descr="Flasche Primatenbrause">    </p:cNvPr>
          <p:cNvPicPr>
            <a:picLocks noChangeAspect="1"/>
          </p:cNvPicPr>
          <p:nvPr/>
        </p:nvPicPr>
        <p:blipFill>
          <a:blip r:embed="rId2"/>
          <a:stretch>
            <a:fillRect/>
          </a:stretch>
        </p:blipFill>
        <p:spPr>
          <a:xfrm>
            <a:off x="8833899" y="685800"/>
            <a:ext cx="2083242" cy="4937760"/>
          </a:xfrm>
          <a:prstGeom prst="rect">
            <a:avLst/>
          </a:prstGeom>
        </p:spPr>
      </p:pic>
      <p:sp>
        <p:nvSpPr>
          <p:cNvPr id="8" name="Platz KI-Teambild"/>
          <p:cNvSpPr/>
          <p:nvPr/>
        </p:nvSpPr>
        <p:spPr>
          <a:xfrm>
            <a:off x="6400800" y="3931920"/>
            <a:ext cx="2194560" cy="2194560"/>
          </a:xfrm>
          <a:prstGeom prst="ellipse">
            <a:avLst/>
          </a:prstGeom>
          <a:solidFill>
            <a:schemeClr val="accent3">
              <a:alpha val="85000"/>
            </a:schemeClr>
          </a:solidFill>
          <a:ln w="19050">
            <a:solidFill>
              <a:schemeClr val="bg1"/>
            </a:solidFill>
            <a:prstDash val="dash"/>
          </a:ln>
        </p:spPr>
      </p:sp>
      <p:sp>
        <p:nvSpPr>
          <p:cNvPr id="9" name="Text 5"/>
          <p:cNvSpPr txBox="1"/>
          <p:nvPr/>
        </p:nvSpPr>
        <p:spPr>
          <a:xfrm>
            <a:off x="6492240" y="3931920"/>
            <a:ext cx="2011680" cy="2194560"/>
          </a:xfrm>
          <a:prstGeom prst="rect">
            <a:avLst/>
          </a:prstGeom>
          <a:noFill/>
          <a:ln/>
        </p:spPr>
        <p:txBody>
          <a:bodyPr wrap="square" lIns="0" tIns="0" rIns="0" bIns="0" rtlCol="0" anchor="ctr"/>
          <a:lstStyle/>
          <a:p>
            <a:pPr algn="ctr" indent="0" marL="0">
              <a:buNone/>
            </a:pPr>
            <a:r>
              <a:rPr lang="en-US" sz="1200" b="1" dirty="0">
                <a:solidFill>
                  <a:schemeClr val="bg1"/>
                </a:solidFill>
              </a:rPr>
              <a:t>BILD FOLGT: KI-Teambild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Quellen</a:t>
            </a:r>
            <a:endParaRPr lang="en-US" sz="3600" dirty="0"/>
          </a:p>
        </p:txBody>
      </p:sp>
      <p:sp>
        <p:nvSpPr>
          <p:cNvPr id="4" name="Quellen Spielmaterial"/>
          <p:cNvSpPr/>
          <p:nvPr/>
        </p:nvSpPr>
        <p:spPr>
          <a:xfrm>
            <a:off x="640080" y="1463040"/>
            <a:ext cx="3520440" cy="3383280"/>
          </a:xfrm>
          <a:prstGeom prst="roundRect">
            <a:avLst>
              <a:gd name="adj" fmla="val 3243"/>
            </a:avLst>
          </a:prstGeom>
          <a:solidFill>
            <a:schemeClr val="bg2"/>
          </a:solidFill>
          <a:ln/>
        </p:spPr>
      </p:sp>
      <p:sp>
        <p:nvSpPr>
          <p:cNvPr id="5" name="Text 2"/>
          <p:cNvSpPr txBox="1"/>
          <p:nvPr/>
        </p:nvSpPr>
        <p:spPr>
          <a:xfrm>
            <a:off x="914400" y="1645920"/>
            <a:ext cx="3017520" cy="457200"/>
          </a:xfrm>
          <a:prstGeom prst="rect">
            <a:avLst/>
          </a:prstGeom>
          <a:noFill/>
          <a:ln/>
        </p:spPr>
        <p:txBody>
          <a:bodyPr wrap="square" lIns="0" tIns="0" rIns="0" bIns="0" rtlCol="0" anchor="ctr"/>
          <a:lstStyle/>
          <a:p>
            <a:pPr indent="0" marL="0">
              <a:buNone/>
            </a:pPr>
            <a:r>
              <a:rPr lang="en-US" sz="1900" b="1" dirty="0">
                <a:solidFill>
                  <a:schemeClr val="tx2"/>
                </a:solidFill>
              </a:rPr>
              <a:t>Spielmaterial</a:t>
            </a:r>
            <a:endParaRPr lang="en-US" sz="1900" dirty="0"/>
          </a:p>
        </p:txBody>
      </p:sp>
      <p:sp>
        <p:nvSpPr>
          <p:cNvPr id="6" name="Text 3"/>
          <p:cNvSpPr txBox="1"/>
          <p:nvPr/>
        </p:nvSpPr>
        <p:spPr>
          <a:xfrm>
            <a:off x="914400" y="2194560"/>
            <a:ext cx="3017520" cy="25146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Planspiel „Bertis Brause“, Cornelsen Verlag 2006 (Spielanleitung, Arbeitsblätter, Bögen M14/M15)</a:t>
            </a:r>
            <a:endParaRPr lang="en-US" sz="1400" dirty="0"/>
          </a:p>
          <a:p>
            <a:pPr marL="203200" indent="-203200">
              <a:spcAft>
                <a:spcPts val="800"/>
              </a:spcAft>
              <a:buSzPct val="100000"/>
              <a:buChar char="•"/>
            </a:pPr>
            <a:r>
              <a:rPr lang="en-US" sz="1400" dirty="0">
                <a:solidFill>
                  <a:schemeClr val="tx1"/>
                </a:solidFill>
              </a:rPr>
              <a:t>Aufgabenstellung Endpräsentation, Wirtschaftsgymnasium Am Lämmermarkt</a:t>
            </a:r>
            <a:endParaRPr lang="en-US" sz="1400" dirty="0"/>
          </a:p>
        </p:txBody>
      </p:sp>
      <p:sp>
        <p:nvSpPr>
          <p:cNvPr id="7" name="Quellen Daten"/>
          <p:cNvSpPr/>
          <p:nvPr/>
        </p:nvSpPr>
        <p:spPr>
          <a:xfrm>
            <a:off x="4320540" y="1463040"/>
            <a:ext cx="3520440" cy="3383280"/>
          </a:xfrm>
          <a:prstGeom prst="roundRect">
            <a:avLst>
              <a:gd name="adj" fmla="val 3243"/>
            </a:avLst>
          </a:prstGeom>
          <a:solidFill>
            <a:schemeClr val="bg2"/>
          </a:solidFill>
          <a:ln/>
        </p:spPr>
      </p:sp>
      <p:sp>
        <p:nvSpPr>
          <p:cNvPr id="8" name="Text 5"/>
          <p:cNvSpPr txBox="1"/>
          <p:nvPr/>
        </p:nvSpPr>
        <p:spPr>
          <a:xfrm>
            <a:off x="4594860" y="1645920"/>
            <a:ext cx="3017520" cy="457200"/>
          </a:xfrm>
          <a:prstGeom prst="rect">
            <a:avLst/>
          </a:prstGeom>
          <a:noFill/>
          <a:ln/>
        </p:spPr>
        <p:txBody>
          <a:bodyPr wrap="square" lIns="0" tIns="0" rIns="0" bIns="0" rtlCol="0" anchor="ctr"/>
          <a:lstStyle/>
          <a:p>
            <a:pPr indent="0" marL="0">
              <a:buNone/>
            </a:pPr>
            <a:r>
              <a:rPr lang="en-US" sz="1900" b="1" dirty="0">
                <a:solidFill>
                  <a:schemeClr val="tx2"/>
                </a:solidFill>
              </a:rPr>
              <a:t>Daten</a:t>
            </a:r>
            <a:endParaRPr lang="en-US" sz="1900" dirty="0"/>
          </a:p>
        </p:txBody>
      </p:sp>
      <p:sp>
        <p:nvSpPr>
          <p:cNvPr id="9" name="Text 6"/>
          <p:cNvSpPr txBox="1"/>
          <p:nvPr/>
        </p:nvSpPr>
        <p:spPr>
          <a:xfrm>
            <a:off x="4594860" y="2194560"/>
            <a:ext cx="3017520" cy="25146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Eigene Arbeitsblätter: Maschinen/Personal, Produktion/Material, Kassenbuch, Angebotskarte, Umsatzberechnung, Unternehmensverkauf</a:t>
            </a:r>
            <a:endParaRPr lang="en-US" sz="1400" dirty="0"/>
          </a:p>
          <a:p>
            <a:pPr marL="203200" indent="-203200">
              <a:spcAft>
                <a:spcPts val="800"/>
              </a:spcAft>
              <a:buSzPct val="100000"/>
              <a:buChar char="•"/>
            </a:pPr>
            <a:r>
              <a:rPr lang="en-US" sz="1400" dirty="0">
                <a:solidFill>
                  <a:schemeClr val="tx1"/>
                </a:solidFill>
              </a:rPr>
              <a:t>Eigenes Entscheidungsprotokoll; alle Kennzahlen selbst berechnet</a:t>
            </a:r>
            <a:endParaRPr lang="en-US" sz="1400" dirty="0"/>
          </a:p>
        </p:txBody>
      </p:sp>
      <p:sp>
        <p:nvSpPr>
          <p:cNvPr id="10" name="Quellen Bilder"/>
          <p:cNvSpPr/>
          <p:nvPr/>
        </p:nvSpPr>
        <p:spPr>
          <a:xfrm>
            <a:off x="8001000" y="1463040"/>
            <a:ext cx="3520440" cy="3383280"/>
          </a:xfrm>
          <a:prstGeom prst="roundRect">
            <a:avLst>
              <a:gd name="adj" fmla="val 3243"/>
            </a:avLst>
          </a:prstGeom>
          <a:solidFill>
            <a:schemeClr val="bg2"/>
          </a:solidFill>
          <a:ln/>
        </p:spPr>
      </p:sp>
      <p:sp>
        <p:nvSpPr>
          <p:cNvPr id="11" name="Text 8"/>
          <p:cNvSpPr txBox="1"/>
          <p:nvPr/>
        </p:nvSpPr>
        <p:spPr>
          <a:xfrm>
            <a:off x="8275320" y="1645920"/>
            <a:ext cx="3017520" cy="457200"/>
          </a:xfrm>
          <a:prstGeom prst="rect">
            <a:avLst/>
          </a:prstGeom>
          <a:noFill/>
          <a:ln/>
        </p:spPr>
        <p:txBody>
          <a:bodyPr wrap="square" lIns="0" tIns="0" rIns="0" bIns="0" rtlCol="0" anchor="ctr"/>
          <a:lstStyle/>
          <a:p>
            <a:pPr indent="0" marL="0">
              <a:buNone/>
            </a:pPr>
            <a:r>
              <a:rPr lang="en-US" sz="1900" b="1" dirty="0">
                <a:solidFill>
                  <a:schemeClr val="tx2"/>
                </a:solidFill>
              </a:rPr>
              <a:t>Bilder</a:t>
            </a:r>
            <a:endParaRPr lang="en-US" sz="1900" dirty="0"/>
          </a:p>
        </p:txBody>
      </p:sp>
      <p:sp>
        <p:nvSpPr>
          <p:cNvPr id="12" name="Text 9"/>
          <p:cNvSpPr txBox="1"/>
          <p:nvPr/>
        </p:nvSpPr>
        <p:spPr>
          <a:xfrm>
            <a:off x="8275320" y="2194560"/>
            <a:ext cx="3017520" cy="25146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Logo und Flasche: KI-generiert mit Perplexity (aus unserer Gründungspräsentation)</a:t>
            </a:r>
            <a:endParaRPr lang="en-US" sz="1400" dirty="0"/>
          </a:p>
          <a:p>
            <a:pPr marL="203200" indent="-203200">
              <a:spcAft>
                <a:spcPts val="800"/>
              </a:spcAft>
              <a:buSzPct val="100000"/>
              <a:buChar char="•"/>
            </a:pPr>
            <a:r>
              <a:rPr lang="en-US" sz="1400" dirty="0">
                <a:solidFill>
                  <a:schemeClr val="tx1"/>
                </a:solidFill>
              </a:rPr>
              <a:t>Limette, Tamarinde: [Quelle ergänzen]</a:t>
            </a:r>
            <a:endParaRPr lang="en-US" sz="1400" dirty="0"/>
          </a:p>
          <a:p>
            <a:pPr marL="203200" indent="-203200">
              <a:spcAft>
                <a:spcPts val="800"/>
              </a:spcAft>
              <a:buSzPct val="100000"/>
              <a:buChar char="•"/>
            </a:pPr>
            <a:r>
              <a:rPr lang="en-US" sz="1400" dirty="0">
                <a:solidFill>
                  <a:schemeClr val="tx1"/>
                </a:solidFill>
              </a:rPr>
              <a:t>KI-Teambild: [Tool ergänzen]</a:t>
            </a:r>
            <a:endParaRPr lang="en-US" sz="1400" dirty="0"/>
          </a:p>
          <a:p>
            <a:pPr marL="203200" indent="-203200">
              <a:spcAft>
                <a:spcPts val="800"/>
              </a:spcAft>
              <a:buSzPct val="100000"/>
              <a:buChar char="•"/>
            </a:pPr>
            <a:r>
              <a:rPr lang="en-US" sz="1400" dirty="0">
                <a:solidFill>
                  <a:schemeClr val="tx1"/>
                </a:solidFill>
              </a:rPr>
              <a:t>Symbole: Font Awesome (CC BY 4.0)</a:t>
            </a:r>
            <a:endParaRPr lang="en-US" sz="1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Elbharz">
  <a:themeElements>
    <a:clrScheme name="Elbharz">
      <a:dk1>
        <a:srgbClr val="1B2A2F"/>
      </a:dk1>
      <a:lt1>
        <a:srgbClr val="FFFFFF"/>
      </a:lt1>
      <a:dk2>
        <a:srgbClr val="0F5C6B"/>
      </a:dk2>
      <a:lt2>
        <a:srgbClr val="F3F1EA"/>
      </a:lt2>
      <a:accent1>
        <a:srgbClr val="0F5C6B"/>
      </a:accent1>
      <a:accent2>
        <a:srgbClr val="D9822B"/>
      </a:accent2>
      <a:accent3>
        <a:srgbClr val="8DB33A"/>
      </a:accent3>
      <a:accent4>
        <a:srgbClr val="5F8F99"/>
      </a:accent4>
      <a:accent5>
        <a:srgbClr val="B8B8B0"/>
      </a:accent5>
      <a:accent6>
        <a:srgbClr val="7A4B1E"/>
      </a:accent6>
      <a:hlink>
        <a:srgbClr val="0F5C6B"/>
      </a:hlink>
      <a:folHlink>
        <a:srgbClr val="5F8F99"/>
      </a:folHlink>
    </a:clrScheme>
    <a:fontScheme name="Elbharz">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Primatenbrause – Endpräsentation Planspiel Bertis Brause</dc:title>
  <dc:subject>PptxGenJS Presentation</dc:subject>
  <dc:creator>Elbharz Getränke GbR, Klasse 11b</dc:creator>
  <cp:lastModifiedBy>Elbharz Getränke GbR, Klasse 11b</cp:lastModifiedBy>
  <cp:revision>1</cp:revision>
  <dcterms:created xsi:type="dcterms:W3CDTF">2026-10-13T14:00:26Z</dcterms:created>
  <dcterms:modified xsi:type="dcterms:W3CDTF">2026-10-13T14:00:26Z</dcterms:modified>
</cp:coreProperties>
</file>