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6532e4ca-1398-8bcb-d927-828750165321}">
          <p14:sldIdLst>
            <p14:sldId id="256"/>
            <p14:sldId id="257"/>
            <p14:sldId id="258"/>
          </p14:sldIdLst>
        </p14:section>
        <p14:section name="Verlauf" id="{0148ba12-a1fb-6947-1c86-9ca0f44eabcd}">
          <p14:sldIdLst>
            <p14:sldId id="259"/>
            <p14:sldId id="260"/>
            <p14:sldId id="261"/>
          </p14:sldIdLst>
        </p14:section>
        <p14:section name="Auswertung" id="{728cbe10-b762-e5b5-a2f4-6aeab58bf162}">
          <p14:sldIdLst>
            <p14:sldId id="262"/>
            <p14:sldId id="263"/>
            <p14:sldId id="264"/>
          </p14:sldIdLst>
        </p14:section>
        <p14:section name="Reflexion" id="{9e8f4fa5-b771-d146-a90e-e90426330df2}">
          <p14:sldIdLst>
            <p14:sldId id="265"/>
          </p14:sldIdLst>
        </p14:section>
        <p14:section name="Gründung" id="{8e8c43d8-6ffc-348e-322c-4a21b484d532}">
          <p14:sldIdLst>
            <p14:sldId id="266"/>
          </p14:sldIdLst>
        </p14:section>
        <p14:section name="Abschluss" id="{126408f8-4b93-861f-3c4e-056c0b984a1a}">
          <p14:sldIdLst>
            <p14:sldId id="267"/>
          </p14:sldIdLst>
        </p14:section>
        <p14:section name="Quellen" id="{6ede3303-0427-5e47-814c-c40d5dab7a19}">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Paletten je Runde (unter der Säule: unser Angebotspreis)</a:t>
            </a:r>
          </a:p>
        </c:rich>
      </c:tx>
      <c:layout/>
      <c:overlay val="0"/>
    </c:title>
    <c:autoTitleDeleted val="0"/>
    <c:plotArea>
      <c:layout/>
      <c:barChart>
        <c:barDir val="col"/>
        <c:grouping val="stacked"/>
        <c:varyColors val="0"/>
        <c:ser>
          <c:idx val="0"/>
          <c:order val="0"/>
          <c:tx>
            <c:strRef>
              <c:f>Sheet1!$B$1</c:f>
              <c:strCache>
                <c:ptCount val="1"/>
                <c:pt idx="0">
                  <c:v>Am Markt verkauft</c:v>
                </c:pt>
              </c:strCache>
            </c:strRef>
          </c:tx>
          <c:spPr>
            <a:solidFill>
              <a:srgbClr val="0F5C6B"/>
            </a:solidFill>
            <a:effectLst/>
          </c:spPr>
          <c:invertIfNegative val="0"/>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R1 · 3.000 €</c:v>
                  </c:pt>
                  <c:pt idx="1">
                    <c:v>R2 · 7.600 €</c:v>
                  </c:pt>
                  <c:pt idx="2">
                    <c:v>R3 · 5.900 €</c:v>
                  </c:pt>
                  <c:pt idx="3">
                    <c:v>R4 · 9.500 €</c:v>
                  </c:pt>
                  <c:pt idx="4">
                    <c:v>R5 · 9.500 €</c:v>
                  </c:pt>
                  <c:pt idx="5">
                    <c:v>R6 · 8.400 €</c:v>
                  </c:pt>
                </c:lvl>
              </c:multiLvlStrCache>
            </c:multiLvlStrRef>
          </c:cat>
          <c:val>
            <c:numRef>
              <c:f>Sheet1!$B$2:$B$7</c:f>
              <c:numCache>
                <c:formatCode>General</c:formatCode>
                <c:ptCount val="6"/>
                <c:pt idx="0">
                  <c:v>15</c:v>
                </c:pt>
                <c:pt idx="1">
                  <c:v>6.5</c:v>
                </c:pt>
                <c:pt idx="2">
                  <c:v>12.6</c:v>
                </c:pt>
                <c:pt idx="3">
                  <c:v>0.5</c:v>
                </c:pt>
                <c:pt idx="4">
                  <c:v>0.2</c:v>
                </c:pt>
                <c:pt idx="5">
                  <c:v>5.2</c:v>
                </c:pt>
              </c:numCache>
            </c:numRef>
          </c:val>
        </c:ser>
        <c:ser>
          <c:idx val="1"/>
          <c:order val="1"/>
          <c:tx>
            <c:strRef>
              <c:f>Sheet1!$C$1</c:f>
              <c:strCache>
                <c:ptCount val="1"/>
                <c:pt idx="0">
                  <c:v>Schnäppchenmarkt (1.000 €)</c:v>
                </c:pt>
              </c:strCache>
            </c:strRef>
          </c:tx>
          <c:spPr>
            <a:solidFill>
              <a:srgbClr val="D9822B"/>
            </a:solidFill>
            <a:effectLst/>
          </c:spPr>
          <c:invertIfNegative val="0"/>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R1 · 3.000 €</c:v>
                  </c:pt>
                  <c:pt idx="1">
                    <c:v>R2 · 7.600 €</c:v>
                  </c:pt>
                  <c:pt idx="2">
                    <c:v>R3 · 5.900 €</c:v>
                  </c:pt>
                  <c:pt idx="3">
                    <c:v>R4 · 9.500 €</c:v>
                  </c:pt>
                  <c:pt idx="4">
                    <c:v>R5 · 9.500 €</c:v>
                  </c:pt>
                  <c:pt idx="5">
                    <c:v>R6 · 8.400 €</c:v>
                  </c:pt>
                </c:lvl>
              </c:multiLvlStrCache>
            </c:multiLvlStrRef>
          </c:cat>
          <c:val>
            <c:numRef>
              <c:f>Sheet1!$C$2:$C$7</c:f>
              <c:numCache>
                <c:formatCode>General</c:formatCode>
                <c:ptCount val="6"/>
                <c:pt idx="0">
                  <c:v>0</c:v>
                </c:pt>
                <c:pt idx="1">
                  <c:v>6.5</c:v>
                </c:pt>
                <c:pt idx="2">
                  <c:v>5.6</c:v>
                </c:pt>
                <c:pt idx="3">
                  <c:v>0.5</c:v>
                </c:pt>
                <c:pt idx="4">
                  <c:v>0.8</c:v>
                </c:pt>
                <c:pt idx="5">
                  <c:v>7.8</c:v>
                </c:pt>
              </c:numCache>
            </c:numRef>
          </c:val>
        </c:ser>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2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Zusatzkosten durch den Wirtschaftsdienst je Runde (€)</a:t>
            </a:r>
          </a:p>
        </c:rich>
      </c:tx>
      <c:layout/>
      <c:overlay val="0"/>
    </c:title>
    <c:autoTitleDeleted val="0"/>
    <c:plotArea>
      <c:layout/>
      <c:barChart>
        <c:barDir val="col"/>
        <c:grouping val="clustered"/>
        <c:varyColors val="0"/>
        <c:ser>
          <c:idx val="0"/>
          <c:order val="0"/>
          <c:tx>
            <c:strRef>
              <c:f>Sheet1!$B$1</c:f>
              <c:strCache>
                <c:ptCount val="1"/>
                <c:pt idx="0">
                  <c:v>Zusatzkosten (€)</c:v>
                </c:pt>
              </c:strCache>
            </c:strRef>
          </c:tx>
          <c:spPr>
            <a:solidFill>
              <a:srgbClr val="D9822B"/>
            </a:solidFill>
            <a:effectLst/>
          </c:spPr>
          <c:invertIfNegative val="0"/>
          <c:dLbls>
            <c:numFmt formatCode="#,##0" sourceLinked="0"/>
            <c:txPr>
              <a:bodyPr/>
              <a:lstStyle/>
              <a:p>
                <a:pPr>
                  <a:defRPr b="0" i="0" strike="noStrike" sz="1200" u="none">
                    <a:solidFill>
                      <a:srgbClr val="1B2A2F"/>
                    </a:solidFill>
                    <a:latin typeface="+mn-lt"/>
                  </a:defRPr>
                </a:pPr>
              </a:p>
            </c:txPr>
            <c:showLegendKey val="0"/>
            <c:showVal val="1"/>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Sheet1!$B$2:$B$7</c:f>
              <c:numCache>
                <c:formatCode>General</c:formatCode>
                <c:ptCount val="6"/>
                <c:pt idx="0">
                  <c:v>0</c:v>
                </c:pt>
                <c:pt idx="1">
                  <c:v>10000</c:v>
                </c:pt>
                <c:pt idx="2">
                  <c:v>5000</c:v>
                </c:pt>
                <c:pt idx="3">
                  <c:v>2500</c:v>
                </c:pt>
                <c:pt idx="4">
                  <c:v>10000</c:v>
                </c:pt>
                <c:pt idx="5">
                  <c:v>6500</c:v>
                </c:pt>
              </c:numCache>
            </c:numRef>
          </c:val>
        </c:ser>
        <c:dLbls>
          <c:numFmt formatCode="#,##0" sourceLinked="0"/>
          <c:txPr>
            <a:bodyPr/>
            <a:lstStyle/>
            <a:p>
              <a:pPr>
                <a:defRPr b="0" i="0" strike="noStrike" sz="1200" u="none">
                  <a:solidFill>
                    <a:srgbClr val="1B2A2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Wirtschaftlichkeit je Runde</a:t>
            </a:r>
          </a:p>
        </c:rich>
      </c:tx>
      <c:layout/>
      <c:overlay val="0"/>
    </c:title>
    <c:autoTitleDeleted val="0"/>
    <c:plotArea>
      <c:layout/>
      <c:barChart>
        <c:barDir val="col"/>
        <c:grouping val="clustered"/>
        <c:varyColors val="0"/>
        <c:ser>
          <c:idx val="0"/>
          <c:order val="0"/>
          <c:tx>
            <c:strRef>
              <c:f>Sheet1!$B$1</c:f>
              <c:strCache>
                <c:ptCount val="1"/>
                <c:pt idx="0">
                  <c:v>Wirtschaftlichkeit</c:v>
                </c:pt>
              </c:strCache>
            </c:strRef>
          </c:tx>
          <c:spPr>
            <a:solidFill>
              <a:srgbClr val="0F5C6B"/>
            </a:solidFill>
            <a:effectLst/>
          </c:spPr>
          <c:invertIfNegative val="0"/>
          <c:dLbls>
            <c:numFmt formatCode="0.00" sourceLinked="0"/>
            <c:txPr>
              <a:bodyPr/>
              <a:lstStyle/>
              <a:p>
                <a:pPr>
                  <a:defRPr b="0" i="0" strike="noStrike" sz="1100" u="none">
                    <a:solidFill>
                      <a:srgbClr val="1B2A2F"/>
                    </a:solidFill>
                    <a:latin typeface="+mn-lt"/>
                  </a:defRPr>
                </a:pPr>
              </a:p>
            </c:txPr>
            <c:dLblPos val="outEnd"/>
            <c:showLegendKey val="0"/>
            <c:showVal val="1"/>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Sheet1!$B$2:$B$7</c:f>
              <c:numCache>
                <c:formatCode>General</c:formatCode>
                <c:ptCount val="6"/>
                <c:pt idx="0">
                  <c:v>0.65</c:v>
                </c:pt>
                <c:pt idx="1">
                  <c:v>0.75</c:v>
                </c:pt>
                <c:pt idx="2">
                  <c:v>1.48</c:v>
                </c:pt>
                <c:pt idx="3">
                  <c:v>0.29</c:v>
                </c:pt>
                <c:pt idx="4">
                  <c:v>0.11</c:v>
                </c:pt>
                <c:pt idx="5">
                  <c:v>1.13</c:v>
                </c:pt>
              </c:numCache>
            </c:numRef>
          </c:val>
        </c:ser>
        <c:dLbls>
          <c:numFmt formatCode="0.00" sourceLinked="0"/>
          <c:txPr>
            <a:bodyPr/>
            <a:lstStyle/>
            <a:p>
              <a:pPr>
                <a:defRPr b="0" i="0" strike="noStrike" sz="1100" u="none">
                  <a:solidFill>
                    <a:srgbClr val="1B2A2F"/>
                  </a:solidFill>
                  <a:latin typeface="+mn-lt"/>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Grenze 1,0 (Kosten gedeckt)</c:v>
                </c:pt>
              </c:strCache>
            </c:strRef>
          </c:tx>
          <c:spPr>
            <a:solidFill>
              <a:srgbClr val="D9822B"/>
            </a:solidFill>
            <a:ln w="25400" cap="flat">
              <a:solidFill>
                <a:srgbClr val="D9822B"/>
              </a:solidFill>
              <a:prstDash val="dash"/>
              <a:round/>
            </a:ln>
            <a:effectLst/>
          </c:spPr>
          <c:invertIfNegative val="0"/>
          <c:dLbls>
            <c:numFmt formatCode="#,##0" sourceLinked="0"/>
            <c:txPr>
              <a:bodyPr/>
              <a:lstStyle/>
              <a:p>
                <a:pPr>
                  <a:defRPr b="0" i="0" strike="noStrike" sz="1100" u="none">
                    <a:solidFill>
                      <a:srgbClr val="1B2A2F"/>
                    </a:solidFill>
                    <a:latin typeface="+mn-lt"/>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Sheet1!$A$2:$A$7</c:f>
              <c:multiLvlStrCache>
                <c:ptCount val="6"/>
                <c:lvl>
                  <c:pt idx="0">
                    <c:v>R1</c:v>
                  </c:pt>
                  <c:pt idx="1">
                    <c:v>R2</c:v>
                  </c:pt>
                  <c:pt idx="2">
                    <c:v>R3</c:v>
                  </c:pt>
                  <c:pt idx="3">
                    <c:v>R4</c:v>
                  </c:pt>
                  <c:pt idx="4">
                    <c:v>R5</c:v>
                  </c:pt>
                  <c:pt idx="5">
                    <c:v>R6</c:v>
                  </c:pt>
                </c:lvl>
              </c:multiLvlStrCache>
            </c:multiLvlStrRef>
          </c:cat>
          <c:val>
            <c:numRef>
              <c:f>Sheet1!$C$2:$C$7</c:f>
              <c:numCache>
                <c:formatCode>General</c:formatCode>
                <c:ptCount val="6"/>
                <c:pt idx="0">
                  <c:v>1</c:v>
                </c:pt>
                <c:pt idx="1">
                  <c:v>1</c:v>
                </c:pt>
                <c:pt idx="2">
                  <c:v>1</c:v>
                </c:pt>
                <c:pt idx="3">
                  <c:v>1</c:v>
                </c:pt>
                <c:pt idx="4">
                  <c:v>1</c:v>
                </c:pt>
                <c:pt idx="5">
                  <c:v>1</c:v>
                </c:pt>
              </c:numCache>
            </c:numRef>
          </c:val>
          <c:smooth val="0"/>
        </c:ser>
        <c:dLbls>
          <c:numFmt formatCode="#,##0" sourceLinked="0"/>
          <c:txPr>
            <a:bodyPr/>
            <a:lstStyle/>
            <a:p>
              <a:pPr>
                <a:defRPr b="0" i="0" strike="noStrike" sz="1100" u="none">
                  <a:solidFill>
                    <a:srgbClr val="1B2A2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6350" cap="flat">
              <a:solidFill>
                <a:srgbClr val="D9D9D2"/>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Kassenbestand am Rundenende (€)</a:t>
            </a:r>
          </a:p>
        </c:rich>
      </c:tx>
      <c:layout/>
      <c:overlay val="0"/>
    </c:title>
    <c:autoTitleDeleted val="0"/>
    <c:plotArea>
      <c:layout/>
      <c:lineChart>
        <c:varyColors val="0"/>
        <c:ser>
          <c:idx val="0"/>
          <c:order val="0"/>
          <c:tx>
            <c:strRef>
              <c:f>Sheet1!$B$1</c:f>
              <c:strCache>
                <c:ptCount val="1"/>
                <c:pt idx="0">
                  <c:v>Kassenbestand</c:v>
                </c:pt>
              </c:strCache>
            </c:strRef>
          </c:tx>
          <c:spPr>
            <a:solidFill>
              <a:srgbClr val="0F5C6B"/>
            </a:solidFill>
            <a:ln w="38100" cap="flat">
              <a:solidFill>
                <a:srgbClr val="0F5C6B"/>
              </a:solidFill>
              <a:prstDash val="solid"/>
              <a:round/>
            </a:ln>
            <a:effectLst/>
          </c:spPr>
          <c:invertIfNegative val="0"/>
          <c:dLbls>
            <c:numFmt formatCode="#,##0" sourceLinked="0"/>
            <c:txPr>
              <a:bodyPr/>
              <a:lstStyle/>
              <a:p>
                <a:pPr>
                  <a:defRPr b="0" i="0" strike="noStrike" sz="1000" u="none">
                    <a:solidFill>
                      <a:srgbClr val="1B2A2F"/>
                    </a:solidFill>
                    <a:latin typeface="+mn-lt"/>
                  </a:defRPr>
                </a:pPr>
              </a:p>
            </c:txPr>
            <c:dLblPos val="t"/>
            <c:showLegendKey val="0"/>
            <c:showVal val="1"/>
            <c:showCatName val="0"/>
            <c:showSerName val="0"/>
            <c:showPercent val="0"/>
            <c:showBubbleSize val="0"/>
            <c:showLeaderLines val="0"/>
          </c:dLbls>
          <c:marker>
            <c:symbol val="circle"/>
            <c:size val="8"/>
            <c:spPr>
              <a:solidFill>
                <a:srgbClr val="0F5C6B"/>
              </a:solidFill>
              <a:ln w="9525" cap="flat">
                <a:solidFill>
                  <a:srgbClr val="0F5C6B"/>
                </a:solidFill>
                <a:prstDash val="solid"/>
                <a:round/>
              </a:ln>
              <a:effectLst/>
            </c:spPr>
          </c:marker>
          <c:cat>
            <c:multiLvlStrRef>
              <c:f>Sheet1!$A$2:$A$8</c:f>
              <c:multiLvlStrCache>
                <c:ptCount val="7"/>
                <c:lvl>
                  <c:pt idx="0">
                    <c:v>Start</c:v>
                  </c:pt>
                  <c:pt idx="1">
                    <c:v>R1</c:v>
                  </c:pt>
                  <c:pt idx="2">
                    <c:v>R2</c:v>
                  </c:pt>
                  <c:pt idx="3">
                    <c:v>R3</c:v>
                  </c:pt>
                  <c:pt idx="4">
                    <c:v>R4</c:v>
                  </c:pt>
                  <c:pt idx="5">
                    <c:v>R5</c:v>
                  </c:pt>
                  <c:pt idx="6">
                    <c:v>R6</c:v>
                  </c:pt>
                </c:lvl>
              </c:multiLvlStrCache>
            </c:multiLvlStrRef>
          </c:cat>
          <c:val>
            <c:numRef>
              <c:f>Sheet1!$B$2:$B$8</c:f>
              <c:numCache>
                <c:formatCode>General</c:formatCode>
                <c:ptCount val="7"/>
                <c:pt idx="0">
                  <c:v>100000</c:v>
                </c:pt>
                <c:pt idx="1">
                  <c:v>76000</c:v>
                </c:pt>
                <c:pt idx="2">
                  <c:v>56900</c:v>
                </c:pt>
                <c:pt idx="3">
                  <c:v>82840</c:v>
                </c:pt>
                <c:pt idx="4">
                  <c:v>70090</c:v>
                </c:pt>
                <c:pt idx="5">
                  <c:v>47790</c:v>
                </c:pt>
                <c:pt idx="6">
                  <c:v>53770</c:v>
                </c:pt>
              </c:numCache>
            </c:numRef>
          </c:val>
          <c:smooth val="0"/>
        </c:ser>
        <c:dLbls>
          <c:numFmt formatCode="#,##0" sourceLinked="0"/>
          <c:txPr>
            <a:bodyPr/>
            <a:lstStyle/>
            <a:p>
              <a:pPr>
                <a:defRPr b="0" i="0" strike="noStrike" sz="1000" u="none">
                  <a:solidFill>
                    <a:srgbClr val="1B2A2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10000"/>
          <c:min val="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20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0:15 min
SPRECHTEXT (Vorschlag – bitte in eigenen Worten anpassen):
Hallo zusammen, wir sind die Elbharz Getränke GbR aus der 11b, und das ist unsere Primatenbrause, Tamarinde-Limette. In den nächsten gut zehn Minuten zeigen wir euch, was aus unserer Idee im Planspiel geworden ist: von der Gründung über sechs Spielrunden bis zum Verkaufswert unseres Unternehmens.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0:45 min
SPRECHTEXT (Vorschlag – bitte in eigenen Worten anpassen):
Kurz zur Erinnerung, wer wir sind. Unsere Idee war ein Getränk, dessen Rückseite man zu Ende lesen kann. Hier seht ihr sie: sechs Zutaten, mehr nicht, Wasser, Kohlensäure, Tamarinde, Limettensaft, Meersalz und Magnesium. Wir sind vier Gesellschafter aus Hamburg. Unsere Zielgruppe sind 16- bis 25-Jährige wie unsere Persona Jasper, die im Laden die Flasche umdrehen und die Zutaten lesen. Verkaufen wollten wir zuerst online und über Social Media, dann regional im Handel.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0:45 min
SPRECHTEXT (Vorschlag – bitte in eigenen Worten anpassen):
Nachhaltigkeit hatten wir von Anfang an im Blick. Erstens Mehrweg: Glasflaschen im Pfandsystem statt Einweg. Zweitens regional: Mehrweg lohnt sich nur, wenn die Wege kurz sind, deshalb wollten wir in Norddeutschland brauen und abfüllen. Drittens nur eine Sorte, das spart bei Produktion, Lager und Transport. Ehrlich gesagt: Im Planspiel selbst spielte das keine Rolle, dort entschied nur der Preis über den Absatz. Darauf kommen wir am Ende beim Bezug zur Gründung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1:00 min
SPRECHTEXT (Vorschlag – bitte in eigenen Worten anpassen):
Hier seht ihr alle sechs Runden auf einen Blick. Jede Säule ist das, was wir produziert haben, darunter steht unser Preis pro Palette. Petrol ist, was wir am normalen Markt verkauft haben, orange ging für nur 1.000 Euro an den Schnäppchenmarkt. In Runde 1 haben wir zu 3.000 Euro alles verkauft. In Runde 2 haben wir den Preis auf 7.600 Euro erhöht, da blieb die Hälfte liegen. Mit 5.900 Euro in Runde 3 lief es am besten. In Runde 4 und 5 haben wir nur noch eine Palette produziert, und in Runde 6 noch einmal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1:15 min
SPRECHTEXT (Vorschlag – bitte in eigenen Worten anpassen):
Warum haben wir so entschieden? Das steht in unserem Entscheidungsprotokoll. In Runde 1 haben wir eine Economy-Maschine gekauft, weil sich Standard mit dem zusätzlichen Mitarbeiter nicht gelohnt hätte, und bewusst günstig angeboten. Weil alles weg war, dachten wir in Runde 2, die anderen sind teurer, und sind drastisch auf 7.600 Euro hoch. Wir haben eine zweite Maschine gekauft, hatten aber noch keinen Mitarbeiter dafür, sie lief also noch nicht. In Runde 3 haben wir knapp unter den vermuteten 6.000 Euro der Konkurrenz angeboten. In Runde 4 und 5 haben wir weniger Absatz erwartet und deshalb nur eine Palette produziert. In Runde 6 wollten wir zum Schluss noch einmal Umsatz 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0:45 min
SPRECHTEXT (Vorschlag – bitte in eigenen Worten anpassen):
Ab Runde 2 kamen die Meldungen des Wirtschaftsdienstes dazu. Bei uns tauchen sie im Kassenbuch als sonstige Kosten auf: insgesamt 34.000 Euro, am meisten in Runde 2 und 5 mit je 10.000 Euro. Das sind rund zwölf Prozent unserer gesamten Kosten. In Runde 4 war außerdem das Material teurer, 1.500 statt 1.000 Euro pro Palette. Rein rechnerisch hätten wir ohne diese Zusatzkosten 34.000 Euro mehr in der Kasse gehabt. [Wenn ihr den Wortlaut der Meldungen noch wisst: hier pro Runde ein Stichwort nennen.]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1:15 min
SPRECHTEXT (Vorschlag – bitte in eigenen Worten anpassen):
Für die Auswertung haben wir die Wirtschaftlichkeit berechnet: Leistungen geteilt durch Kosten. Die Leistungen sind unsere Umsatzerlöse, die Kosten sind alles aus dem Kassenbuch, also Maschinen, Personal, Miete, die Zusatzkosten vom Wirtschaftsdienst, Produktion und Material. Ein Beispiel: In Runde 3 hatten wir 79.940 Euro Umsatz und 54.000 Euro Kosten, das ergibt 1,48. Das heißt, für jeden Euro, den wir eingesetzt haben, kamen 1,48 Euro zurück. Alles über 1 bedeutet Gewinn, alles unter 1 Verlust. Grün sind nur Runde 3 und Runde 6. Aussagekraft: Die Kennzahl zeigt, wie effizient eine Runde war, aber Runde 1 und 2 sind durch die Maschinenkäufe belastet, die uns auch später noch genutzt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1:15 min
SPRECHTEXT (Vorschlag – bitte in eigenen Worten anpassen):
Links seht ihr die Wirtschaftlichkeit pro Runde, die Linie markiert 1, also den Punkt, ab dem sich eine Runde lohnt. Nur Runde 3 und Runde 6 liegen darüber. Runde 4 und 5 sind besonders schwach: Wir haben fast nichts verkauft, aber Personal und Miete liefen weiter. Rechts seht ihr, wie sich unser Startkapital entwickelt hat. Wir sind mit 100.000 Euro gestartet, hatten nach Runde 3 unseren besten Stand mit 82.840 Euro, den Tiefpunkt nach Runde 5 mit 47.790 Euro und am Ende 53.770 Euro.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0:45 min
SPRECHTEXT (Vorschlag – bitte in eigenen Worten anpassen):
Am Ende wird unser Unternehmen verkauft. Der Wert ist der Schlussbestand plus der Restwert der Maschinen. Der Schlussbestand nach Runde 6 sind 53.770 Euro. Jede Maschine verliert pro genutzter Runde zehn Prozent ihres Kaufpreises: Die erste Maschine lief sechs Runden und ist noch 12.000 Euro wert, die zweite lief vier Runden, weil sie in Runde 2 ohne Mitarbeiter stillstand, und ist noch 18.000 Euro wert. Zusammen ergibt das einen Verkaufswert von 83.770 Euro. Das sind 16.230 Euro weniger als unser Startkapital.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1:15 min
SPRECHTEXT (Vorschlag – bitte in eigenen Worten anpassen):
Im Nachhinein bewerten wir unsere Entscheidungen so. Gut war, dass wir vorsichtig mit nur einer Maschine gestartet sind, wie es die Spielanleitung empfiehlt, und dass wir nach Runde 2 schnell reagiert haben: Mit 5.900 Euro kam unsere beste Runde. Schlechter war, dass wir in Runde 2 eine Maschine für 30.000 Euro gekauft haben, die ohne Mitarbeiter gar nicht laufen konnte. Und in Runde 4 und 5 haben wir nur je eine Palette produziert, aber zwei Mitarbeiter und die Miete bezahlt, das waren jeweils 13.000 Euro Fixkosten. Besser wäre gewesen, Maschine und Personal immer zusammen zu planen und in schwachen Runden Personal zu reduzieren oder mit einem mittleren Preis weiter zu produzieren. Unser Fazit: Der Preis war unser stärkster Hebel, und Fixkosten laufen auch dann weiter, wenn man fast nichts verkauft.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1:15 min
SPRECHTEXT (Vorschlag – bitte in eigenen Worten anpassen):
Zum Schluss der Blick zurück auf unsere Gründung. Vieles, was uns wichtig war, kam im Spiel nicht vor: Mehrweg und Pfand, unsere Zielgruppe mit der Persona Jasper, Marketing über Social Media und den Onlineshop, und auch unsere besondere Sorte Tamarinde-Limette. Im Spiel war jede Brause gleich, nur der Preis zählte. Hätte Marketing eine Rolle gespielt, hätten wir in Runde 4 und 5, als kaum etwas verkauft wurde, gegensteuern können. Mehrweg hätte dagegen eher zusätzliche Kosten gebracht. Unser Vorschlag, um das Spiel zu erweitern, ohne es zu kompliziert zu machen: ein Marketingbudget als zusätzliche Entscheidung pro Runde. Man wählt zum Beispiel 0, 2.000 oder 5.000 Euro, und der Spielleiter erhöht dafür den Absatz. Das ist nur eine Zeile mehr im Kassenbuch.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0:15 min
SPRECHTEXT (Vorschlag – bitte in eigenen Worten anpassen):
Das war unser Weg mit der Primatenbrause, von der Idee bis zum Verkaufswert. Vielen Dank fürs Zuhören, wir freuen uns auf eure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Quellenfolie – wird nicht vorgetragen, steht für die Lehrkraft.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rtlCol="0"/>
          <a:lstStyle>
            <a:lvl1pPr algn="l" indent="0" marL="0">
              <a:buNone/>
              <a:defRPr lang="en-US" sz="3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Logo Elbharz">    </p:cNvPr>
          <p:cNvPicPr>
            <a:picLocks noChangeAspect="1"/>
          </p:cNvPicPr>
          <p:nvPr/>
        </p:nvPicPr>
        <p:blipFill>
          <a:blip r:embed="rId1"/>
          <a:stretch>
            <a:fillRect/>
          </a:stretch>
        </p:blipFill>
        <p:spPr>
          <a:xfrm>
            <a:off x="731520" y="411480"/>
            <a:ext cx="1371600" cy="1371600"/>
          </a:xfrm>
          <a:prstGeom prst="rect">
            <a:avLst/>
          </a:prstGeom>
        </p:spPr>
      </p:pic>
      <p:sp>
        <p:nvSpPr>
          <p:cNvPr id="3" name="Text 0"/>
          <p:cNvSpPr txBox="1"/>
          <p:nvPr/>
        </p:nvSpPr>
        <p:spPr>
          <a:xfrm>
            <a:off x="822960" y="2011680"/>
            <a:ext cx="603504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PLANSPIEL BERTIS BRAUSE · ENDPRÄSENTATION</a:t>
            </a:r>
            <a:endParaRPr lang="en-US" sz="1400" dirty="0"/>
          </a:p>
        </p:txBody>
      </p:sp>
      <p:sp>
        <p:nvSpPr>
          <p:cNvPr id="4" name="Text 1"/>
          <p:cNvSpPr txBox="1"/>
          <p:nvPr/>
        </p:nvSpPr>
        <p:spPr>
          <a:xfrm>
            <a:off x="822960" y="2468880"/>
            <a:ext cx="6583680" cy="118872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Primatenbrause</a:t>
            </a:r>
            <a:endParaRPr lang="en-US" sz="6000" dirty="0"/>
          </a:p>
        </p:txBody>
      </p:sp>
      <p:sp>
        <p:nvSpPr>
          <p:cNvPr id="5" name="Text 2"/>
          <p:cNvSpPr txBox="1"/>
          <p:nvPr/>
        </p:nvSpPr>
        <p:spPr>
          <a:xfrm>
            <a:off x="822960" y="3749040"/>
            <a:ext cx="5669280" cy="914400"/>
          </a:xfrm>
          <a:prstGeom prst="rect">
            <a:avLst/>
          </a:prstGeom>
          <a:noFill/>
          <a:ln/>
        </p:spPr>
        <p:txBody>
          <a:bodyPr wrap="square" lIns="0" tIns="0" rIns="0" bIns="0" rtlCol="0" anchor="ctr"/>
          <a:lstStyle/>
          <a:p>
            <a:pPr indent="0" marL="0">
              <a:buNone/>
            </a:pPr>
            <a:r>
              <a:rPr lang="en-US" sz="2200" dirty="0">
                <a:solidFill>
                  <a:schemeClr val="bg2"/>
                </a:solidFill>
              </a:rPr>
              <a:t>Von der Idee zum Verkaufswert – unser Weg durch sechs Spielrunden</a:t>
            </a:r>
            <a:endParaRPr lang="en-US" sz="2200" dirty="0"/>
          </a:p>
        </p:txBody>
      </p:sp>
      <p:sp>
        <p:nvSpPr>
          <p:cNvPr id="6" name="Text 3"/>
          <p:cNvSpPr txBox="1"/>
          <p:nvPr/>
        </p:nvSpPr>
        <p:spPr>
          <a:xfrm>
            <a:off x="822960" y="5760720"/>
            <a:ext cx="5486400" cy="365760"/>
          </a:xfrm>
          <a:prstGeom prst="rect">
            <a:avLst/>
          </a:prstGeom>
          <a:noFill/>
          <a:ln/>
        </p:spPr>
        <p:txBody>
          <a:bodyPr wrap="square" lIns="0" tIns="0" rIns="0" bIns="0" rtlCol="0" anchor="ctr"/>
          <a:lstStyle/>
          <a:p>
            <a:pPr indent="0" marL="0">
              <a:buNone/>
            </a:pPr>
            <a:r>
              <a:rPr lang="en-US" sz="1600" dirty="0">
                <a:solidFill>
                  <a:schemeClr val="accent3"/>
                </a:solidFill>
              </a:rPr>
              <a:t>Elbharz Getränke GbR · Klasse 11b</a:t>
            </a:r>
            <a:endParaRPr lang="en-US" sz="1600" dirty="0"/>
          </a:p>
        </p:txBody>
      </p:sp>
      <p:sp>
        <p:nvSpPr>
          <p:cNvPr id="7" name="Sonne"/>
          <p:cNvSpPr/>
          <p:nvPr/>
        </p:nvSpPr>
        <p:spPr>
          <a:xfrm>
            <a:off x="8001000" y="960120"/>
            <a:ext cx="3657600" cy="3657600"/>
          </a:xfrm>
          <a:prstGeom prst="ellipse">
            <a:avLst/>
          </a:prstGeom>
          <a:solidFill>
            <a:schemeClr val="accent2"/>
          </a:solidFill>
          <a:ln/>
        </p:spPr>
      </p:sp>
      <p:pic>
        <p:nvPicPr>
          <p:cNvPr id="8" name="Flasche" descr="Flasche Primatenbrause">    </p:cNvPr>
          <p:cNvPicPr>
            <a:picLocks noChangeAspect="1"/>
          </p:cNvPicPr>
          <p:nvPr/>
        </p:nvPicPr>
        <p:blipFill>
          <a:blip r:embed="rId2"/>
          <a:stretch>
            <a:fillRect/>
          </a:stretch>
        </p:blipFill>
        <p:spPr>
          <a:xfrm>
            <a:off x="8691733" y="502920"/>
            <a:ext cx="2276134" cy="5394960"/>
          </a:xfrm>
          <a:prstGeom prst="rect">
            <a:avLst/>
          </a:prstGeom>
        </p:spPr>
      </p:pic>
      <p:sp>
        <p:nvSpPr>
          <p:cNvPr id="9" name="Zutatenkreis"/>
          <p:cNvSpPr/>
          <p:nvPr/>
        </p:nvSpPr>
        <p:spPr>
          <a:xfrm>
            <a:off x="6720840" y="4160520"/>
            <a:ext cx="1920240" cy="1920240"/>
          </a:xfrm>
          <a:prstGeom prst="ellipse">
            <a:avLst/>
          </a:prstGeom>
          <a:solidFill>
            <a:schemeClr val="accent3"/>
          </a:solidFill>
          <a:ln/>
        </p:spPr>
      </p:sp>
      <p:pic>
        <p:nvPicPr>
          <p:cNvPr id="10" name="Tamarinde" descr="Tamarinde">    </p:cNvPr>
          <p:cNvPicPr>
            <a:picLocks noChangeAspect="1"/>
          </p:cNvPicPr>
          <p:nvPr/>
        </p:nvPicPr>
        <p:blipFill>
          <a:blip r:embed="rId3"/>
          <a:stretch>
            <a:fillRect/>
          </a:stretch>
        </p:blipFill>
        <p:spPr>
          <a:xfrm>
            <a:off x="6995160" y="4526280"/>
            <a:ext cx="1417320" cy="1417320"/>
          </a:xfrm>
          <a:prstGeom prst="rect">
            <a:avLst/>
          </a:prstGeom>
        </p:spPr>
      </p:pic>
      <p:pic>
        <p:nvPicPr>
          <p:cNvPr id="11" name="Limette" descr="Limette">    </p:cNvPr>
          <p:cNvPicPr>
            <a:picLocks noChangeAspect="1"/>
          </p:cNvPicPr>
          <p:nvPr/>
        </p:nvPicPr>
        <p:blipFill>
          <a:blip r:embed="rId4"/>
          <a:stretch>
            <a:fillRect/>
          </a:stretch>
        </p:blipFill>
        <p:spPr>
          <a:xfrm>
            <a:off x="6446520" y="4069080"/>
            <a:ext cx="13716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Wer wir sind – in 30 Sekunden</a:t>
            </a:r>
            <a:endParaRPr lang="en-US" sz="3600" dirty="0"/>
          </a:p>
        </p:txBody>
      </p:sp>
      <p:sp>
        <p:nvSpPr>
          <p:cNvPr id="3" name="Kapitelpunkt Einleitung"/>
          <p:cNvSpPr/>
          <p:nvPr/>
        </p:nvSpPr>
        <p:spPr>
          <a:xfrm>
            <a:off x="640080" y="6437376"/>
            <a:ext cx="109728" cy="109728"/>
          </a:xfrm>
          <a:prstGeom prst="ellipse">
            <a:avLst/>
          </a:prstGeom>
          <a:solidFill>
            <a:schemeClr val="accent2"/>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Leitgedanke"/>
          <p:cNvSpPr/>
          <p:nvPr/>
        </p:nvSpPr>
        <p:spPr>
          <a:xfrm>
            <a:off x="640080" y="1463040"/>
            <a:ext cx="3749040" cy="4480560"/>
          </a:xfrm>
          <a:prstGeom prst="roundRect">
            <a:avLst>
              <a:gd name="adj" fmla="val 2927"/>
            </a:avLst>
          </a:prstGeom>
          <a:solidFill>
            <a:schemeClr val="accent1"/>
          </a:solidFill>
          <a:ln/>
        </p:spPr>
      </p:sp>
      <p:sp>
        <p:nvSpPr>
          <p:cNvPr id="15" name="Text 12"/>
          <p:cNvSpPr txBox="1"/>
          <p:nvPr/>
        </p:nvSpPr>
        <p:spPr>
          <a:xfrm>
            <a:off x="960120" y="1737360"/>
            <a:ext cx="3108960" cy="3931920"/>
          </a:xfrm>
          <a:prstGeom prst="rect">
            <a:avLst/>
          </a:prstGeom>
          <a:noFill/>
          <a:ln/>
        </p:spPr>
        <p:txBody>
          <a:bodyPr wrap="square" lIns="0" tIns="0" rIns="0" bIns="0" rtlCol="0" anchor="ctr"/>
          <a:lstStyle/>
          <a:p>
            <a:pPr indent="0" marL="0">
              <a:spcAft>
                <a:spcPts val="1400"/>
              </a:spcAft>
              <a:buNone/>
            </a:pPr>
            <a:r>
              <a:rPr lang="en-US" sz="3000" b="1" dirty="0">
                <a:solidFill>
                  <a:schemeClr val="bg1"/>
                </a:solidFill>
                <a:latin typeface="Cambria" pitchFamily="34" charset="0"/>
                <a:ea typeface="Cambria" pitchFamily="34" charset="-122"/>
                <a:cs typeface="Cambria" pitchFamily="34" charset="-120"/>
              </a:rPr>
              <a:t>Ein Getränk, dessen Rückseite man zu Ende lesen kann.</a:t>
            </a:r>
            <a:endParaRPr lang="en-US" sz="3000" dirty="0"/>
          </a:p>
          <a:p>
            <a:pPr indent="0" marL="0">
              <a:buNone/>
            </a:pPr>
            <a:r>
              <a:rPr lang="en-US" sz="1600" dirty="0">
                <a:solidFill>
                  <a:schemeClr val="bg2"/>
                </a:solidFill>
              </a:rPr>
              <a:t>Daran haben wir jede Entscheidung bei der Gründung gemessen.</a:t>
            </a:r>
            <a:endParaRPr lang="en-US" sz="3000" dirty="0"/>
          </a:p>
        </p:txBody>
      </p:sp>
      <p:sp>
        <p:nvSpPr>
          <p:cNvPr id="16" name="Etikett Rückseite"/>
          <p:cNvSpPr/>
          <p:nvPr/>
        </p:nvSpPr>
        <p:spPr>
          <a:xfrm>
            <a:off x="4663440" y="1463040"/>
            <a:ext cx="3108960" cy="4480560"/>
          </a:xfrm>
          <a:prstGeom prst="roundRect">
            <a:avLst>
              <a:gd name="adj" fmla="val 2353"/>
            </a:avLst>
          </a:prstGeom>
          <a:solidFill>
            <a:schemeClr val="bg1"/>
          </a:solidFill>
          <a:ln w="25400">
            <a:solidFill>
              <a:schemeClr val="accent1"/>
            </a:solidFill>
            <a:prstDash val="solid"/>
          </a:ln>
          <a:effectLst>
            <a:outerShdw sx="100000" sy="100000" kx="0" ky="0" algn="bl" rotWithShape="0" blurRad="101600" dist="38100" dir="5400000">
              <a:srgbClr val="1B2A2F">
                <a:alpha val="18000"/>
              </a:srgbClr>
            </a:outerShdw>
          </a:effectLst>
        </p:spPr>
      </p:sp>
      <p:sp>
        <p:nvSpPr>
          <p:cNvPr id="17" name="Text 14"/>
          <p:cNvSpPr txBox="1"/>
          <p:nvPr/>
        </p:nvSpPr>
        <p:spPr>
          <a:xfrm>
            <a:off x="4937760" y="1691640"/>
            <a:ext cx="256032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RÜCKSEITE</a:t>
            </a:r>
            <a:endParaRPr lang="en-US" sz="1200" dirty="0"/>
          </a:p>
        </p:txBody>
      </p:sp>
      <p:sp>
        <p:nvSpPr>
          <p:cNvPr id="18" name="Text 15"/>
          <p:cNvSpPr txBox="1"/>
          <p:nvPr/>
        </p:nvSpPr>
        <p:spPr>
          <a:xfrm>
            <a:off x="4937760" y="1965960"/>
            <a:ext cx="256032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Zutaten</a:t>
            </a:r>
            <a:endParaRPr lang="en-US" sz="2200" dirty="0"/>
          </a:p>
        </p:txBody>
      </p:sp>
      <p:sp>
        <p:nvSpPr>
          <p:cNvPr id="19" name="Punkt Wasser"/>
          <p:cNvSpPr/>
          <p:nvPr/>
        </p:nvSpPr>
        <p:spPr>
          <a:xfrm>
            <a:off x="4956048" y="2660904"/>
            <a:ext cx="128016" cy="128016"/>
          </a:xfrm>
          <a:prstGeom prst="ellipse">
            <a:avLst/>
          </a:prstGeom>
          <a:solidFill>
            <a:schemeClr val="accent3"/>
          </a:solidFill>
          <a:ln/>
        </p:spPr>
      </p:sp>
      <p:sp>
        <p:nvSpPr>
          <p:cNvPr id="20" name="Text 17"/>
          <p:cNvSpPr txBox="1"/>
          <p:nvPr/>
        </p:nvSpPr>
        <p:spPr>
          <a:xfrm>
            <a:off x="5212080" y="2560320"/>
            <a:ext cx="2286000" cy="329184"/>
          </a:xfrm>
          <a:prstGeom prst="rect">
            <a:avLst/>
          </a:prstGeom>
          <a:noFill/>
          <a:ln/>
        </p:spPr>
        <p:txBody>
          <a:bodyPr wrap="square" lIns="0" tIns="0" rIns="0" bIns="0" rtlCol="0" anchor="ctr"/>
          <a:lstStyle/>
          <a:p>
            <a:pPr indent="0" marL="0">
              <a:buNone/>
            </a:pPr>
            <a:r>
              <a:rPr lang="en-US" sz="1600" dirty="0">
                <a:solidFill>
                  <a:schemeClr val="tx1"/>
                </a:solidFill>
              </a:rPr>
              <a:t>Wasser</a:t>
            </a:r>
            <a:endParaRPr lang="en-US" sz="1600" dirty="0"/>
          </a:p>
        </p:txBody>
      </p:sp>
      <p:sp>
        <p:nvSpPr>
          <p:cNvPr id="21" name="Punkt Kohlensäure"/>
          <p:cNvSpPr/>
          <p:nvPr/>
        </p:nvSpPr>
        <p:spPr>
          <a:xfrm>
            <a:off x="4956048" y="3044952"/>
            <a:ext cx="128016" cy="128016"/>
          </a:xfrm>
          <a:prstGeom prst="ellipse">
            <a:avLst/>
          </a:prstGeom>
          <a:solidFill>
            <a:schemeClr val="accent3"/>
          </a:solidFill>
          <a:ln/>
        </p:spPr>
      </p:sp>
      <p:sp>
        <p:nvSpPr>
          <p:cNvPr id="22" name="Text 19"/>
          <p:cNvSpPr txBox="1"/>
          <p:nvPr/>
        </p:nvSpPr>
        <p:spPr>
          <a:xfrm>
            <a:off x="5212080" y="2944368"/>
            <a:ext cx="2286000" cy="329184"/>
          </a:xfrm>
          <a:prstGeom prst="rect">
            <a:avLst/>
          </a:prstGeom>
          <a:noFill/>
          <a:ln/>
        </p:spPr>
        <p:txBody>
          <a:bodyPr wrap="square" lIns="0" tIns="0" rIns="0" bIns="0" rtlCol="0" anchor="ctr"/>
          <a:lstStyle/>
          <a:p>
            <a:pPr indent="0" marL="0">
              <a:buNone/>
            </a:pPr>
            <a:r>
              <a:rPr lang="en-US" sz="1600" dirty="0">
                <a:solidFill>
                  <a:schemeClr val="tx1"/>
                </a:solidFill>
              </a:rPr>
              <a:t>Kohlensäure</a:t>
            </a:r>
            <a:endParaRPr lang="en-US" sz="1600" dirty="0"/>
          </a:p>
        </p:txBody>
      </p:sp>
      <p:sp>
        <p:nvSpPr>
          <p:cNvPr id="23" name="Punkt Tamarinde"/>
          <p:cNvSpPr/>
          <p:nvPr/>
        </p:nvSpPr>
        <p:spPr>
          <a:xfrm>
            <a:off x="4956048" y="3429000"/>
            <a:ext cx="128016" cy="128016"/>
          </a:xfrm>
          <a:prstGeom prst="ellipse">
            <a:avLst/>
          </a:prstGeom>
          <a:solidFill>
            <a:schemeClr val="accent3"/>
          </a:solidFill>
          <a:ln/>
        </p:spPr>
      </p:sp>
      <p:sp>
        <p:nvSpPr>
          <p:cNvPr id="24" name="Text 21"/>
          <p:cNvSpPr txBox="1"/>
          <p:nvPr/>
        </p:nvSpPr>
        <p:spPr>
          <a:xfrm>
            <a:off x="5212080" y="3328416"/>
            <a:ext cx="2286000" cy="329184"/>
          </a:xfrm>
          <a:prstGeom prst="rect">
            <a:avLst/>
          </a:prstGeom>
          <a:noFill/>
          <a:ln/>
        </p:spPr>
        <p:txBody>
          <a:bodyPr wrap="square" lIns="0" tIns="0" rIns="0" bIns="0" rtlCol="0" anchor="ctr"/>
          <a:lstStyle/>
          <a:p>
            <a:pPr indent="0" marL="0">
              <a:buNone/>
            </a:pPr>
            <a:r>
              <a:rPr lang="en-US" sz="1600" dirty="0">
                <a:solidFill>
                  <a:schemeClr val="tx1"/>
                </a:solidFill>
              </a:rPr>
              <a:t>Tamarinde</a:t>
            </a:r>
            <a:endParaRPr lang="en-US" sz="1600" dirty="0"/>
          </a:p>
        </p:txBody>
      </p:sp>
      <p:sp>
        <p:nvSpPr>
          <p:cNvPr id="25" name="Punkt Limettensaft"/>
          <p:cNvSpPr/>
          <p:nvPr/>
        </p:nvSpPr>
        <p:spPr>
          <a:xfrm>
            <a:off x="4956048" y="3813048"/>
            <a:ext cx="128016" cy="128016"/>
          </a:xfrm>
          <a:prstGeom prst="ellipse">
            <a:avLst/>
          </a:prstGeom>
          <a:solidFill>
            <a:schemeClr val="accent3"/>
          </a:solidFill>
          <a:ln/>
        </p:spPr>
      </p:sp>
      <p:sp>
        <p:nvSpPr>
          <p:cNvPr id="26" name="Text 23"/>
          <p:cNvSpPr txBox="1"/>
          <p:nvPr/>
        </p:nvSpPr>
        <p:spPr>
          <a:xfrm>
            <a:off x="5212080" y="3712464"/>
            <a:ext cx="2286000" cy="329184"/>
          </a:xfrm>
          <a:prstGeom prst="rect">
            <a:avLst/>
          </a:prstGeom>
          <a:noFill/>
          <a:ln/>
        </p:spPr>
        <p:txBody>
          <a:bodyPr wrap="square" lIns="0" tIns="0" rIns="0" bIns="0" rtlCol="0" anchor="ctr"/>
          <a:lstStyle/>
          <a:p>
            <a:pPr indent="0" marL="0">
              <a:buNone/>
            </a:pPr>
            <a:r>
              <a:rPr lang="en-US" sz="1600" dirty="0">
                <a:solidFill>
                  <a:schemeClr val="tx1"/>
                </a:solidFill>
              </a:rPr>
              <a:t>Limettensaft</a:t>
            </a:r>
            <a:endParaRPr lang="en-US" sz="1600" dirty="0"/>
          </a:p>
        </p:txBody>
      </p:sp>
      <p:sp>
        <p:nvSpPr>
          <p:cNvPr id="27" name="Punkt Meersalz"/>
          <p:cNvSpPr/>
          <p:nvPr/>
        </p:nvSpPr>
        <p:spPr>
          <a:xfrm>
            <a:off x="4956048" y="4197096"/>
            <a:ext cx="128016" cy="128016"/>
          </a:xfrm>
          <a:prstGeom prst="ellipse">
            <a:avLst/>
          </a:prstGeom>
          <a:solidFill>
            <a:schemeClr val="accent3"/>
          </a:solidFill>
          <a:ln/>
        </p:spPr>
      </p:sp>
      <p:sp>
        <p:nvSpPr>
          <p:cNvPr id="28" name="Text 25"/>
          <p:cNvSpPr txBox="1"/>
          <p:nvPr/>
        </p:nvSpPr>
        <p:spPr>
          <a:xfrm>
            <a:off x="5212080" y="4096512"/>
            <a:ext cx="2286000" cy="329184"/>
          </a:xfrm>
          <a:prstGeom prst="rect">
            <a:avLst/>
          </a:prstGeom>
          <a:noFill/>
          <a:ln/>
        </p:spPr>
        <p:txBody>
          <a:bodyPr wrap="square" lIns="0" tIns="0" rIns="0" bIns="0" rtlCol="0" anchor="ctr"/>
          <a:lstStyle/>
          <a:p>
            <a:pPr indent="0" marL="0">
              <a:buNone/>
            </a:pPr>
            <a:r>
              <a:rPr lang="en-US" sz="1600" dirty="0">
                <a:solidFill>
                  <a:schemeClr val="tx1"/>
                </a:solidFill>
              </a:rPr>
              <a:t>Meersalz</a:t>
            </a:r>
            <a:endParaRPr lang="en-US" sz="1600" dirty="0"/>
          </a:p>
        </p:txBody>
      </p:sp>
      <p:sp>
        <p:nvSpPr>
          <p:cNvPr id="29" name="Punkt Magnesium"/>
          <p:cNvSpPr/>
          <p:nvPr/>
        </p:nvSpPr>
        <p:spPr>
          <a:xfrm>
            <a:off x="4956048" y="4581144"/>
            <a:ext cx="128016" cy="128016"/>
          </a:xfrm>
          <a:prstGeom prst="ellipse">
            <a:avLst/>
          </a:prstGeom>
          <a:solidFill>
            <a:schemeClr val="accent3"/>
          </a:solidFill>
          <a:ln/>
        </p:spPr>
      </p:sp>
      <p:sp>
        <p:nvSpPr>
          <p:cNvPr id="30" name="Text 27"/>
          <p:cNvSpPr txBox="1"/>
          <p:nvPr/>
        </p:nvSpPr>
        <p:spPr>
          <a:xfrm>
            <a:off x="5212080" y="4480560"/>
            <a:ext cx="2286000" cy="329184"/>
          </a:xfrm>
          <a:prstGeom prst="rect">
            <a:avLst/>
          </a:prstGeom>
          <a:noFill/>
          <a:ln/>
        </p:spPr>
        <p:txBody>
          <a:bodyPr wrap="square" lIns="0" tIns="0" rIns="0" bIns="0" rtlCol="0" anchor="ctr"/>
          <a:lstStyle/>
          <a:p>
            <a:pPr indent="0" marL="0">
              <a:buNone/>
            </a:pPr>
            <a:r>
              <a:rPr lang="en-US" sz="1600" dirty="0">
                <a:solidFill>
                  <a:schemeClr val="tx1"/>
                </a:solidFill>
              </a:rPr>
              <a:t>Magnesium</a:t>
            </a:r>
            <a:endParaRPr lang="en-US" sz="1600" dirty="0"/>
          </a:p>
        </p:txBody>
      </p:sp>
      <p:sp>
        <p:nvSpPr>
          <p:cNvPr id="31" name="Text 28"/>
          <p:cNvSpPr txBox="1"/>
          <p:nvPr/>
        </p:nvSpPr>
        <p:spPr>
          <a:xfrm>
            <a:off x="4937760" y="5074920"/>
            <a:ext cx="2560320" cy="457200"/>
          </a:xfrm>
          <a:prstGeom prst="rect">
            <a:avLst/>
          </a:prstGeom>
          <a:noFill/>
          <a:ln/>
        </p:spPr>
        <p:txBody>
          <a:bodyPr wrap="square" lIns="0" tIns="0" rIns="0" bIns="0" rtlCol="0" anchor="ctr"/>
          <a:lstStyle/>
          <a:p>
            <a:pPr indent="0" marL="0">
              <a:buNone/>
            </a:pPr>
            <a:r>
              <a:rPr lang="en-US" sz="1600" b="1" i="1" dirty="0">
                <a:solidFill>
                  <a:schemeClr val="accent2"/>
                </a:solidFill>
              </a:rPr>
              <a:t>6 Zutaten. Mehr nicht.</a:t>
            </a:r>
            <a:endParaRPr lang="en-US" sz="1600" dirty="0"/>
          </a:p>
        </p:txBody>
      </p:sp>
      <p:sp>
        <p:nvSpPr>
          <p:cNvPr id="32" name="Karte Unternehmen"/>
          <p:cNvSpPr/>
          <p:nvPr/>
        </p:nvSpPr>
        <p:spPr>
          <a:xfrm>
            <a:off x="8046720" y="1463040"/>
            <a:ext cx="3474720" cy="1371600"/>
          </a:xfrm>
          <a:prstGeom prst="roundRect">
            <a:avLst>
              <a:gd name="adj" fmla="val 8000"/>
            </a:avLst>
          </a:prstGeom>
          <a:solidFill>
            <a:schemeClr val="bg2"/>
          </a:solidFill>
          <a:ln/>
        </p:spPr>
      </p:sp>
      <p:sp>
        <p:nvSpPr>
          <p:cNvPr id="33" name="Icon-Kreis FaBuilding"/>
          <p:cNvSpPr/>
          <p:nvPr/>
        </p:nvSpPr>
        <p:spPr>
          <a:xfrm>
            <a:off x="8275320" y="1828800"/>
            <a:ext cx="640080" cy="640080"/>
          </a:xfrm>
          <a:prstGeom prst="ellipse">
            <a:avLst/>
          </a:prstGeom>
          <a:solidFill>
            <a:schemeClr val="accent1"/>
          </a:solidFill>
          <a:ln/>
        </p:spPr>
      </p:sp>
      <p:pic>
        <p:nvPicPr>
          <p:cNvPr id="34" name="Icon FaBuilding" descr="Symbol Building">    </p:cNvPr>
          <p:cNvPicPr>
            <a:picLocks noChangeAspect="1"/>
          </p:cNvPicPr>
          <p:nvPr/>
        </p:nvPicPr>
        <p:blipFill>
          <a:blip r:embed="rId1"/>
          <a:stretch>
            <a:fillRect/>
          </a:stretch>
        </p:blipFill>
        <p:spPr>
          <a:xfrm>
            <a:off x="8448142" y="2001622"/>
            <a:ext cx="294437" cy="294437"/>
          </a:xfrm>
          <a:prstGeom prst="rect">
            <a:avLst/>
          </a:prstGeom>
        </p:spPr>
      </p:pic>
      <p:sp>
        <p:nvSpPr>
          <p:cNvPr id="35" name="Text 31"/>
          <p:cNvSpPr txBox="1"/>
          <p:nvPr/>
        </p:nvSpPr>
        <p:spPr>
          <a:xfrm>
            <a:off x="9098280" y="146304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Unternehmen</a:t>
            </a:r>
            <a:endParaRPr lang="en-US" sz="1800" dirty="0"/>
          </a:p>
          <a:p>
            <a:pPr indent="0" marL="0">
              <a:buNone/>
            </a:pPr>
            <a:r>
              <a:rPr lang="en-US" sz="1400" dirty="0">
                <a:solidFill>
                  <a:schemeClr val="tx1"/>
                </a:solidFill>
              </a:rPr>
              <a:t>Elbharz Getränke GbR, Hamburg – 4 Gesellschafter</a:t>
            </a:r>
            <a:endParaRPr lang="en-US" sz="1800" dirty="0"/>
          </a:p>
        </p:txBody>
      </p:sp>
      <p:sp>
        <p:nvSpPr>
          <p:cNvPr id="36" name="Karte Zielgruppe"/>
          <p:cNvSpPr/>
          <p:nvPr/>
        </p:nvSpPr>
        <p:spPr>
          <a:xfrm>
            <a:off x="8046720" y="3017520"/>
            <a:ext cx="3474720" cy="1371600"/>
          </a:xfrm>
          <a:prstGeom prst="roundRect">
            <a:avLst>
              <a:gd name="adj" fmla="val 8000"/>
            </a:avLst>
          </a:prstGeom>
          <a:solidFill>
            <a:schemeClr val="bg2"/>
          </a:solidFill>
          <a:ln/>
        </p:spPr>
      </p:sp>
      <p:sp>
        <p:nvSpPr>
          <p:cNvPr id="37" name="Icon-Kreis FaUserAlt"/>
          <p:cNvSpPr/>
          <p:nvPr/>
        </p:nvSpPr>
        <p:spPr>
          <a:xfrm>
            <a:off x="8275320" y="3383280"/>
            <a:ext cx="640080" cy="640080"/>
          </a:xfrm>
          <a:prstGeom prst="ellipse">
            <a:avLst/>
          </a:prstGeom>
          <a:solidFill>
            <a:schemeClr val="accent2"/>
          </a:solidFill>
          <a:ln/>
        </p:spPr>
      </p:sp>
      <p:pic>
        <p:nvPicPr>
          <p:cNvPr id="38" name="Icon FaUserAlt" descr="Symbol UserAlt">    </p:cNvPr>
          <p:cNvPicPr>
            <a:picLocks noChangeAspect="1"/>
          </p:cNvPicPr>
          <p:nvPr/>
        </p:nvPicPr>
        <p:blipFill>
          <a:blip r:embed="rId2"/>
          <a:stretch>
            <a:fillRect/>
          </a:stretch>
        </p:blipFill>
        <p:spPr>
          <a:xfrm>
            <a:off x="8448142" y="3556102"/>
            <a:ext cx="294437" cy="294437"/>
          </a:xfrm>
          <a:prstGeom prst="rect">
            <a:avLst/>
          </a:prstGeom>
        </p:spPr>
      </p:pic>
      <p:sp>
        <p:nvSpPr>
          <p:cNvPr id="39" name="Text 34"/>
          <p:cNvSpPr txBox="1"/>
          <p:nvPr/>
        </p:nvSpPr>
        <p:spPr>
          <a:xfrm>
            <a:off x="9098280" y="301752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Zielgruppe</a:t>
            </a:r>
            <a:endParaRPr lang="en-US" sz="1800" dirty="0"/>
          </a:p>
          <a:p>
            <a:pPr indent="0" marL="0">
              <a:buNone/>
            </a:pPr>
            <a:r>
              <a:rPr lang="en-US" sz="1400" dirty="0">
                <a:solidFill>
                  <a:schemeClr val="tx1"/>
                </a:solidFill>
              </a:rPr>
              <a:t>16–25 Jahre, Persona Jasper (19): liest Zutatenlisten</a:t>
            </a:r>
            <a:endParaRPr lang="en-US" sz="1800" dirty="0"/>
          </a:p>
        </p:txBody>
      </p:sp>
      <p:sp>
        <p:nvSpPr>
          <p:cNvPr id="40" name="Karte Vertrieb"/>
          <p:cNvSpPr/>
          <p:nvPr/>
        </p:nvSpPr>
        <p:spPr>
          <a:xfrm>
            <a:off x="8046720" y="4572000"/>
            <a:ext cx="3474720" cy="1371600"/>
          </a:xfrm>
          <a:prstGeom prst="roundRect">
            <a:avLst>
              <a:gd name="adj" fmla="val 8000"/>
            </a:avLst>
          </a:prstGeom>
          <a:solidFill>
            <a:schemeClr val="bg2"/>
          </a:solidFill>
          <a:ln/>
        </p:spPr>
      </p:sp>
      <p:sp>
        <p:nvSpPr>
          <p:cNvPr id="41" name="Icon-Kreis FaStore"/>
          <p:cNvSpPr/>
          <p:nvPr/>
        </p:nvSpPr>
        <p:spPr>
          <a:xfrm>
            <a:off x="8275320" y="4937760"/>
            <a:ext cx="640080" cy="640080"/>
          </a:xfrm>
          <a:prstGeom prst="ellipse">
            <a:avLst/>
          </a:prstGeom>
          <a:solidFill>
            <a:schemeClr val="accent3"/>
          </a:solidFill>
          <a:ln/>
        </p:spPr>
      </p:sp>
      <p:pic>
        <p:nvPicPr>
          <p:cNvPr id="42" name="Icon FaStore" descr="Symbol Store">    </p:cNvPr>
          <p:cNvPicPr>
            <a:picLocks noChangeAspect="1"/>
          </p:cNvPicPr>
          <p:nvPr/>
        </p:nvPicPr>
        <p:blipFill>
          <a:blip r:embed="rId3"/>
          <a:stretch>
            <a:fillRect/>
          </a:stretch>
        </p:blipFill>
        <p:spPr>
          <a:xfrm>
            <a:off x="8448142" y="5110582"/>
            <a:ext cx="294437" cy="294437"/>
          </a:xfrm>
          <a:prstGeom prst="rect">
            <a:avLst/>
          </a:prstGeom>
        </p:spPr>
      </p:pic>
      <p:sp>
        <p:nvSpPr>
          <p:cNvPr id="43" name="Text 37"/>
          <p:cNvSpPr txBox="1"/>
          <p:nvPr/>
        </p:nvSpPr>
        <p:spPr>
          <a:xfrm>
            <a:off x="9098280" y="457200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Vertrieb</a:t>
            </a:r>
            <a:endParaRPr lang="en-US" sz="1800" dirty="0"/>
          </a:p>
          <a:p>
            <a:pPr indent="0" marL="0">
              <a:buNone/>
            </a:pPr>
            <a:r>
              <a:rPr lang="en-US" sz="1400" dirty="0">
                <a:solidFill>
                  <a:schemeClr val="tx1"/>
                </a:solidFill>
              </a:rPr>
              <a:t>Online &amp; Social Media, dann regionaler Handel</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Nachhaltigkeit war Teil der Idee</a:t>
            </a:r>
            <a:endParaRPr lang="en-US" sz="3600" dirty="0"/>
          </a:p>
        </p:txBody>
      </p:sp>
      <p:sp>
        <p:nvSpPr>
          <p:cNvPr id="3" name="Kapitelpunkt Einleitung"/>
          <p:cNvSpPr/>
          <p:nvPr/>
        </p:nvSpPr>
        <p:spPr>
          <a:xfrm>
            <a:off x="640080" y="6437376"/>
            <a:ext cx="109728" cy="109728"/>
          </a:xfrm>
          <a:prstGeom prst="ellipse">
            <a:avLst/>
          </a:prstGeom>
          <a:solidFill>
            <a:schemeClr val="accent2"/>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arte Mehrweg"/>
          <p:cNvSpPr/>
          <p:nvPr/>
        </p:nvSpPr>
        <p:spPr>
          <a:xfrm>
            <a:off x="640080" y="1463040"/>
            <a:ext cx="3520440" cy="3429000"/>
          </a:xfrm>
          <a:prstGeom prst="roundRect">
            <a:avLst>
              <a:gd name="adj" fmla="val 3200"/>
            </a:avLst>
          </a:prstGeom>
          <a:solidFill>
            <a:schemeClr val="bg2"/>
          </a:solidFill>
          <a:ln/>
        </p:spPr>
      </p:sp>
      <p:pic>
        <p:nvPicPr>
          <p:cNvPr id="15" name="Leere Flasche" descr="Leere Mehrwegflasche (Umriss)">    </p:cNvPr>
          <p:cNvPicPr>
            <a:picLocks noChangeAspect="1"/>
          </p:cNvPicPr>
          <p:nvPr/>
        </p:nvPicPr>
        <p:blipFill>
          <a:blip r:embed="rId1"/>
          <a:stretch>
            <a:fillRect/>
          </a:stretch>
        </p:blipFill>
        <p:spPr>
          <a:xfrm>
            <a:off x="2014514" y="1691640"/>
            <a:ext cx="771571" cy="1828800"/>
          </a:xfrm>
          <a:prstGeom prst="rect">
            <a:avLst/>
          </a:prstGeom>
        </p:spPr>
      </p:pic>
      <p:sp>
        <p:nvSpPr>
          <p:cNvPr id="16" name="Text 12"/>
          <p:cNvSpPr txBox="1"/>
          <p:nvPr/>
        </p:nvSpPr>
        <p:spPr>
          <a:xfrm>
            <a:off x="86868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Mehrweg-Glas</a:t>
            </a:r>
            <a:endParaRPr lang="en-US" sz="2000" dirty="0"/>
          </a:p>
          <a:p>
            <a:pPr indent="0" marL="0">
              <a:buNone/>
            </a:pPr>
            <a:r>
              <a:rPr lang="en-US" sz="1500" dirty="0">
                <a:solidFill>
                  <a:schemeClr val="tx1"/>
                </a:solidFill>
              </a:rPr>
              <a:t>Leere Flasche zurück, spülen, neu befüllen – Pfand statt Einweg</a:t>
            </a:r>
            <a:endParaRPr lang="en-US" sz="2000" dirty="0"/>
          </a:p>
        </p:txBody>
      </p:sp>
      <p:sp>
        <p:nvSpPr>
          <p:cNvPr id="17" name="Karte Regional"/>
          <p:cNvSpPr/>
          <p:nvPr/>
        </p:nvSpPr>
        <p:spPr>
          <a:xfrm>
            <a:off x="4320540" y="1463040"/>
            <a:ext cx="3520440" cy="3429000"/>
          </a:xfrm>
          <a:prstGeom prst="roundRect">
            <a:avLst>
              <a:gd name="adj" fmla="val 3200"/>
            </a:avLst>
          </a:prstGeom>
          <a:solidFill>
            <a:schemeClr val="bg2"/>
          </a:solidFill>
          <a:ln/>
        </p:spPr>
      </p:sp>
      <p:sp>
        <p:nvSpPr>
          <p:cNvPr id="18" name="Bildplatz Karte"/>
          <p:cNvSpPr/>
          <p:nvPr/>
        </p:nvSpPr>
        <p:spPr>
          <a:xfrm>
            <a:off x="4549140" y="1691640"/>
            <a:ext cx="3063240" cy="1828800"/>
          </a:xfrm>
          <a:prstGeom prst="roundRect">
            <a:avLst>
              <a:gd name="adj" fmla="val 6000"/>
            </a:avLst>
          </a:prstGeom>
          <a:solidFill>
            <a:schemeClr val="bg1"/>
          </a:solidFill>
          <a:ln w="15875">
            <a:solidFill>
              <a:schemeClr val="accent5"/>
            </a:solidFill>
            <a:prstDash val="dash"/>
          </a:ln>
        </p:spPr>
      </p:sp>
      <p:sp>
        <p:nvSpPr>
          <p:cNvPr id="19" name="Text 15"/>
          <p:cNvSpPr txBox="1"/>
          <p:nvPr/>
        </p:nvSpPr>
        <p:spPr>
          <a:xfrm>
            <a:off x="4686300" y="1691640"/>
            <a:ext cx="2788920" cy="1828800"/>
          </a:xfrm>
          <a:prstGeom prst="rect">
            <a:avLst/>
          </a:prstGeom>
          <a:noFill/>
          <a:ln/>
        </p:spPr>
        <p:txBody>
          <a:bodyPr wrap="square" lIns="0" tIns="0" rIns="0" bIns="0" rtlCol="0" anchor="ctr"/>
          <a:lstStyle/>
          <a:p>
            <a:pPr algn="ctr" indent="0" marL="0">
              <a:buNone/>
            </a:pPr>
            <a:r>
              <a:rPr lang="en-US" sz="1200" dirty="0">
                <a:solidFill>
                  <a:schemeClr val="accent4"/>
                </a:solidFill>
              </a:rPr>
              <a:t>BILD FOLGT: Karte Norddeutschland, Elbe rot markiert</a:t>
            </a:r>
            <a:endParaRPr lang="en-US" sz="1200" dirty="0"/>
          </a:p>
        </p:txBody>
      </p:sp>
      <p:sp>
        <p:nvSpPr>
          <p:cNvPr id="20" name="Text 16"/>
          <p:cNvSpPr txBox="1"/>
          <p:nvPr/>
        </p:nvSpPr>
        <p:spPr>
          <a:xfrm>
            <a:off x="454914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Regional</a:t>
            </a:r>
            <a:endParaRPr lang="en-US" sz="2000" dirty="0"/>
          </a:p>
          <a:p>
            <a:pPr indent="0" marL="0">
              <a:buNone/>
            </a:pPr>
            <a:r>
              <a:rPr lang="en-US" sz="1500" dirty="0">
                <a:solidFill>
                  <a:schemeClr val="tx1"/>
                </a:solidFill>
              </a:rPr>
              <a:t>Hier gebraut, hier abgefüllt – kurze Wege, damit Mehrweg sich lohnt</a:t>
            </a:r>
            <a:endParaRPr lang="en-US" sz="2000" dirty="0"/>
          </a:p>
        </p:txBody>
      </p:sp>
      <p:sp>
        <p:nvSpPr>
          <p:cNvPr id="21" name="Karte Eine Sorte"/>
          <p:cNvSpPr/>
          <p:nvPr/>
        </p:nvSpPr>
        <p:spPr>
          <a:xfrm>
            <a:off x="8001000" y="1463040"/>
            <a:ext cx="3520440" cy="3429000"/>
          </a:xfrm>
          <a:prstGeom prst="roundRect">
            <a:avLst>
              <a:gd name="adj" fmla="val 3200"/>
            </a:avLst>
          </a:prstGeom>
          <a:solidFill>
            <a:schemeClr val="bg2"/>
          </a:solidFill>
          <a:ln/>
        </p:spPr>
      </p:sp>
      <p:sp>
        <p:nvSpPr>
          <p:cNvPr id="22" name="Icon-Kreis FaIndustry"/>
          <p:cNvSpPr/>
          <p:nvPr/>
        </p:nvSpPr>
        <p:spPr>
          <a:xfrm>
            <a:off x="8321040" y="1783080"/>
            <a:ext cx="731520" cy="731520"/>
          </a:xfrm>
          <a:prstGeom prst="ellipse">
            <a:avLst/>
          </a:prstGeom>
          <a:solidFill>
            <a:schemeClr val="accent3"/>
          </a:solidFill>
          <a:ln/>
        </p:spPr>
      </p:sp>
      <p:pic>
        <p:nvPicPr>
          <p:cNvPr id="23" name="Icon FaIndustry" descr="Symbol Industry">    </p:cNvPr>
          <p:cNvPicPr>
            <a:picLocks noChangeAspect="1"/>
          </p:cNvPicPr>
          <p:nvPr/>
        </p:nvPicPr>
        <p:blipFill>
          <a:blip r:embed="rId2"/>
          <a:stretch>
            <a:fillRect/>
          </a:stretch>
        </p:blipFill>
        <p:spPr>
          <a:xfrm>
            <a:off x="8518550" y="1980590"/>
            <a:ext cx="336499" cy="336499"/>
          </a:xfrm>
          <a:prstGeom prst="rect">
            <a:avLst/>
          </a:prstGeom>
        </p:spPr>
      </p:pic>
      <p:sp>
        <p:nvSpPr>
          <p:cNvPr id="24" name="Text 19"/>
          <p:cNvSpPr txBox="1"/>
          <p:nvPr/>
        </p:nvSpPr>
        <p:spPr>
          <a:xfrm>
            <a:off x="813816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Produktion</a:t>
            </a:r>
            <a:endParaRPr lang="en-US" sz="1300" dirty="0"/>
          </a:p>
        </p:txBody>
      </p:sp>
      <p:sp>
        <p:nvSpPr>
          <p:cNvPr id="25" name="Text 20"/>
          <p:cNvSpPr txBox="1"/>
          <p:nvPr/>
        </p:nvSpPr>
        <p:spPr>
          <a:xfrm>
            <a:off x="9052560" y="187452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26" name="Icon-Kreis FaWarehouse"/>
          <p:cNvSpPr/>
          <p:nvPr/>
        </p:nvSpPr>
        <p:spPr>
          <a:xfrm>
            <a:off x="9372600" y="1783080"/>
            <a:ext cx="731520" cy="731520"/>
          </a:xfrm>
          <a:prstGeom prst="ellipse">
            <a:avLst/>
          </a:prstGeom>
          <a:solidFill>
            <a:schemeClr val="accent3"/>
          </a:solidFill>
          <a:ln/>
        </p:spPr>
      </p:sp>
      <p:pic>
        <p:nvPicPr>
          <p:cNvPr id="27" name="Icon FaWarehouse" descr="Symbol Warehouse">    </p:cNvPr>
          <p:cNvPicPr>
            <a:picLocks noChangeAspect="1"/>
          </p:cNvPicPr>
          <p:nvPr/>
        </p:nvPicPr>
        <p:blipFill>
          <a:blip r:embed="rId3"/>
          <a:stretch>
            <a:fillRect/>
          </a:stretch>
        </p:blipFill>
        <p:spPr>
          <a:xfrm>
            <a:off x="9570110" y="1980590"/>
            <a:ext cx="336499" cy="336499"/>
          </a:xfrm>
          <a:prstGeom prst="rect">
            <a:avLst/>
          </a:prstGeom>
        </p:spPr>
      </p:pic>
      <p:sp>
        <p:nvSpPr>
          <p:cNvPr id="28" name="Text 22"/>
          <p:cNvSpPr txBox="1"/>
          <p:nvPr/>
        </p:nvSpPr>
        <p:spPr>
          <a:xfrm>
            <a:off x="918972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Lager</a:t>
            </a:r>
            <a:endParaRPr lang="en-US" sz="1300" dirty="0"/>
          </a:p>
        </p:txBody>
      </p:sp>
      <p:sp>
        <p:nvSpPr>
          <p:cNvPr id="29" name="Text 23"/>
          <p:cNvSpPr txBox="1"/>
          <p:nvPr/>
        </p:nvSpPr>
        <p:spPr>
          <a:xfrm>
            <a:off x="10104120" y="187452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30" name="Icon-Kreis FaTruck"/>
          <p:cNvSpPr/>
          <p:nvPr/>
        </p:nvSpPr>
        <p:spPr>
          <a:xfrm>
            <a:off x="10424160" y="1783080"/>
            <a:ext cx="731520" cy="731520"/>
          </a:xfrm>
          <a:prstGeom prst="ellipse">
            <a:avLst/>
          </a:prstGeom>
          <a:solidFill>
            <a:schemeClr val="accent3"/>
          </a:solidFill>
          <a:ln/>
        </p:spPr>
      </p:sp>
      <p:pic>
        <p:nvPicPr>
          <p:cNvPr id="31" name="Icon FaTruck" descr="Symbol Truck">    </p:cNvPr>
          <p:cNvPicPr>
            <a:picLocks noChangeAspect="1"/>
          </p:cNvPicPr>
          <p:nvPr/>
        </p:nvPicPr>
        <p:blipFill>
          <a:blip r:embed="rId4"/>
          <a:stretch>
            <a:fillRect/>
          </a:stretch>
        </p:blipFill>
        <p:spPr>
          <a:xfrm>
            <a:off x="10621670" y="1980590"/>
            <a:ext cx="336499" cy="336499"/>
          </a:xfrm>
          <a:prstGeom prst="rect">
            <a:avLst/>
          </a:prstGeom>
        </p:spPr>
      </p:pic>
      <p:sp>
        <p:nvSpPr>
          <p:cNvPr id="32" name="Text 25"/>
          <p:cNvSpPr txBox="1"/>
          <p:nvPr/>
        </p:nvSpPr>
        <p:spPr>
          <a:xfrm>
            <a:off x="1024128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Transport</a:t>
            </a:r>
            <a:endParaRPr lang="en-US" sz="1300" dirty="0"/>
          </a:p>
        </p:txBody>
      </p:sp>
      <p:sp>
        <p:nvSpPr>
          <p:cNvPr id="33" name="Text 26"/>
          <p:cNvSpPr txBox="1"/>
          <p:nvPr/>
        </p:nvSpPr>
        <p:spPr>
          <a:xfrm>
            <a:off x="822960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Eine Sorte</a:t>
            </a:r>
            <a:endParaRPr lang="en-US" sz="2000" dirty="0"/>
          </a:p>
          <a:p>
            <a:pPr indent="0" marL="0">
              <a:buNone/>
            </a:pPr>
            <a:r>
              <a:rPr lang="en-US" sz="1500" dirty="0">
                <a:solidFill>
                  <a:schemeClr val="tx1"/>
                </a:solidFill>
              </a:rPr>
              <a:t>Weniger Aufwand in jedem dieser drei Schritte</a:t>
            </a:r>
            <a:endParaRPr lang="en-US" sz="2000" dirty="0"/>
          </a:p>
        </p:txBody>
      </p:sp>
      <p:sp>
        <p:nvSpPr>
          <p:cNvPr id="34" name="Hinweis Spiel"/>
          <p:cNvSpPr/>
          <p:nvPr/>
        </p:nvSpPr>
        <p:spPr>
          <a:xfrm>
            <a:off x="640080" y="5120640"/>
            <a:ext cx="10881360" cy="960120"/>
          </a:xfrm>
          <a:prstGeom prst="roundRect">
            <a:avLst>
              <a:gd name="adj" fmla="val 11429"/>
            </a:avLst>
          </a:prstGeom>
          <a:solidFill>
            <a:schemeClr val="accent1"/>
          </a:solidFill>
          <a:ln/>
        </p:spPr>
      </p:sp>
      <p:sp>
        <p:nvSpPr>
          <p:cNvPr id="35" name="Text 28"/>
          <p:cNvSpPr txBox="1"/>
          <p:nvPr/>
        </p:nvSpPr>
        <p:spPr>
          <a:xfrm>
            <a:off x="914400" y="5120640"/>
            <a:ext cx="10424160" cy="960120"/>
          </a:xfrm>
          <a:prstGeom prst="rect">
            <a:avLst/>
          </a:prstGeom>
          <a:noFill/>
          <a:ln/>
        </p:spPr>
        <p:txBody>
          <a:bodyPr wrap="square" lIns="0" tIns="0" rIns="0" bIns="0" rtlCol="0" anchor="ctr"/>
          <a:lstStyle/>
          <a:p>
            <a:pPr indent="0" marL="0">
              <a:buNone/>
            </a:pPr>
            <a:r>
              <a:rPr lang="en-US" sz="1700" b="1" dirty="0">
                <a:solidFill>
                  <a:schemeClr val="accent2"/>
                </a:solidFill>
              </a:rPr>
              <a:t>Und im Planspiel? </a:t>
            </a:r>
            <a:pPr indent="0" marL="0">
              <a:buNone/>
            </a:pPr>
            <a:r>
              <a:rPr lang="en-US" sz="1700" dirty="0">
                <a:solidFill>
                  <a:schemeClr val="bg1"/>
                </a:solidFill>
              </a:rPr>
              <a:t>Dort entschied nur der Preis über den Absatz – Nachhaltigkeit kam nicht vor. Mehr dazu am Ende.</a:t>
            </a:r>
            <a:endParaRPr lang="en-US" sz="17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Produziert, angeboten, verkauft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14" name="Chart 0" descr=""/>
          <p:cNvGraphicFramePr/>
          <p:nvPr/>
        </p:nvGraphicFramePr>
        <p:xfrm>
          <a:off x="640080" y="1371600"/>
          <a:ext cx="7223760" cy="4800600"/>
        </p:xfrm>
        <a:graphic xmlns:a="http://schemas.openxmlformats.org/drawingml/2006/main">
          <a:graphicData uri="http://schemas.openxmlformats.org/drawingml/2006/chart">
            <c:chart xmlns:c="http://schemas.openxmlformats.org/drawingml/2006/chart" r:id="rId1"/>
          </a:graphicData>
        </a:graphic>
      </p:graphicFrame>
      <p:sp>
        <p:nvSpPr>
          <p:cNvPr id="15" name="Fakt 100 %"/>
          <p:cNvSpPr/>
          <p:nvPr/>
        </p:nvSpPr>
        <p:spPr>
          <a:xfrm>
            <a:off x="8138160" y="1463040"/>
            <a:ext cx="3383280" cy="1417320"/>
          </a:xfrm>
          <a:prstGeom prst="roundRect">
            <a:avLst>
              <a:gd name="adj" fmla="val 7742"/>
            </a:avLst>
          </a:prstGeom>
          <a:solidFill>
            <a:schemeClr val="bg2"/>
          </a:solidFill>
          <a:ln/>
        </p:spPr>
      </p:sp>
      <p:sp>
        <p:nvSpPr>
          <p:cNvPr id="16" name="Text 12"/>
          <p:cNvSpPr txBox="1"/>
          <p:nvPr/>
        </p:nvSpPr>
        <p:spPr>
          <a:xfrm>
            <a:off x="8366760" y="1572768"/>
            <a:ext cx="3017520" cy="54864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100 %</a:t>
            </a:r>
            <a:endParaRPr lang="en-US" sz="2800" dirty="0"/>
          </a:p>
        </p:txBody>
      </p:sp>
      <p:sp>
        <p:nvSpPr>
          <p:cNvPr id="17" name="Text 13"/>
          <p:cNvSpPr txBox="1"/>
          <p:nvPr/>
        </p:nvSpPr>
        <p:spPr>
          <a:xfrm>
            <a:off x="8366760" y="2148840"/>
            <a:ext cx="3017520" cy="640080"/>
          </a:xfrm>
          <a:prstGeom prst="rect">
            <a:avLst/>
          </a:prstGeom>
          <a:noFill/>
          <a:ln/>
        </p:spPr>
        <p:txBody>
          <a:bodyPr wrap="square" lIns="0" tIns="0" rIns="0" bIns="0" rtlCol="0" anchor="ctr"/>
          <a:lstStyle/>
          <a:p>
            <a:pPr indent="0" marL="0">
              <a:buNone/>
            </a:pPr>
            <a:r>
              <a:rPr lang="en-US" sz="1400" dirty="0">
                <a:solidFill>
                  <a:schemeClr val="tx1"/>
                </a:solidFill>
              </a:rPr>
              <a:t>verkauft in R1 – zu 3.000 € ging alles weg</a:t>
            </a:r>
            <a:endParaRPr lang="en-US" sz="1400" dirty="0"/>
          </a:p>
        </p:txBody>
      </p:sp>
      <p:sp>
        <p:nvSpPr>
          <p:cNvPr id="18" name="Fakt 70 %"/>
          <p:cNvSpPr/>
          <p:nvPr/>
        </p:nvSpPr>
        <p:spPr>
          <a:xfrm>
            <a:off x="8138160" y="3063240"/>
            <a:ext cx="3383280" cy="1417320"/>
          </a:xfrm>
          <a:prstGeom prst="roundRect">
            <a:avLst>
              <a:gd name="adj" fmla="val 7742"/>
            </a:avLst>
          </a:prstGeom>
          <a:solidFill>
            <a:schemeClr val="bg2"/>
          </a:solidFill>
          <a:ln/>
        </p:spPr>
      </p:sp>
      <p:sp>
        <p:nvSpPr>
          <p:cNvPr id="19" name="Text 15"/>
          <p:cNvSpPr txBox="1"/>
          <p:nvPr/>
        </p:nvSpPr>
        <p:spPr>
          <a:xfrm>
            <a:off x="8366760" y="3172968"/>
            <a:ext cx="3017520" cy="548640"/>
          </a:xfrm>
          <a:prstGeom prst="rect">
            <a:avLst/>
          </a:prstGeom>
          <a:noFill/>
          <a:ln/>
        </p:spPr>
        <p:txBody>
          <a:bodyPr wrap="square" lIns="0" tIns="0" rIns="0" bIns="0" rtlCol="0" anchor="ctr"/>
          <a:lstStyle/>
          <a:p>
            <a:pPr indent="0" marL="0">
              <a:buNone/>
            </a:pPr>
            <a:r>
              <a:rPr lang="en-US" sz="2800" b="1" dirty="0">
                <a:solidFill>
                  <a:schemeClr val="accent3"/>
                </a:solidFill>
                <a:latin typeface="Cambria" pitchFamily="34" charset="0"/>
                <a:ea typeface="Cambria" pitchFamily="34" charset="-122"/>
                <a:cs typeface="Cambria" pitchFamily="34" charset="-120"/>
              </a:rPr>
              <a:t>70 %</a:t>
            </a:r>
            <a:endParaRPr lang="en-US" sz="2800" dirty="0"/>
          </a:p>
        </p:txBody>
      </p:sp>
      <p:sp>
        <p:nvSpPr>
          <p:cNvPr id="20" name="Text 16"/>
          <p:cNvSpPr txBox="1"/>
          <p:nvPr/>
        </p:nvSpPr>
        <p:spPr>
          <a:xfrm>
            <a:off x="8366760" y="3749040"/>
            <a:ext cx="3017520" cy="640080"/>
          </a:xfrm>
          <a:prstGeom prst="rect">
            <a:avLst/>
          </a:prstGeom>
          <a:noFill/>
          <a:ln/>
        </p:spPr>
        <p:txBody>
          <a:bodyPr wrap="square" lIns="0" tIns="0" rIns="0" bIns="0" rtlCol="0" anchor="ctr"/>
          <a:lstStyle/>
          <a:p>
            <a:pPr indent="0" marL="0">
              <a:buNone/>
            </a:pPr>
            <a:r>
              <a:rPr lang="en-US" sz="1400" dirty="0">
                <a:solidFill>
                  <a:schemeClr val="tx1"/>
                </a:solidFill>
              </a:rPr>
              <a:t>verkauft in R3 bei 5.900 € – unsere beste Runde</a:t>
            </a:r>
            <a:endParaRPr lang="en-US" sz="1400" dirty="0"/>
          </a:p>
        </p:txBody>
      </p:sp>
      <p:sp>
        <p:nvSpPr>
          <p:cNvPr id="21" name="Fakt 1 Palette"/>
          <p:cNvSpPr/>
          <p:nvPr/>
        </p:nvSpPr>
        <p:spPr>
          <a:xfrm>
            <a:off x="8138160" y="4663440"/>
            <a:ext cx="3383280" cy="1417320"/>
          </a:xfrm>
          <a:prstGeom prst="roundRect">
            <a:avLst>
              <a:gd name="adj" fmla="val 7742"/>
            </a:avLst>
          </a:prstGeom>
          <a:solidFill>
            <a:schemeClr val="bg2"/>
          </a:solidFill>
          <a:ln/>
        </p:spPr>
      </p:sp>
      <p:sp>
        <p:nvSpPr>
          <p:cNvPr id="22" name="Text 18"/>
          <p:cNvSpPr txBox="1"/>
          <p:nvPr/>
        </p:nvSpPr>
        <p:spPr>
          <a:xfrm>
            <a:off x="8366760" y="4773168"/>
            <a:ext cx="3017520" cy="54864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 Palette</a:t>
            </a:r>
            <a:endParaRPr lang="en-US" sz="2800" dirty="0"/>
          </a:p>
        </p:txBody>
      </p:sp>
      <p:sp>
        <p:nvSpPr>
          <p:cNvPr id="23" name="Text 19"/>
          <p:cNvSpPr txBox="1"/>
          <p:nvPr/>
        </p:nvSpPr>
        <p:spPr>
          <a:xfrm>
            <a:off x="8366760" y="5349240"/>
            <a:ext cx="3017520" cy="640080"/>
          </a:xfrm>
          <a:prstGeom prst="rect">
            <a:avLst/>
          </a:prstGeom>
          <a:noFill/>
          <a:ln/>
        </p:spPr>
        <p:txBody>
          <a:bodyPr wrap="square" lIns="0" tIns="0" rIns="0" bIns="0" rtlCol="0" anchor="ctr"/>
          <a:lstStyle/>
          <a:p>
            <a:pPr indent="0" marL="0">
              <a:buNone/>
            </a:pPr>
            <a:r>
              <a:rPr lang="en-US" sz="1400" dirty="0">
                <a:solidFill>
                  <a:schemeClr val="tx1"/>
                </a:solidFill>
              </a:rPr>
              <a:t>in R4 und R5 – wir erwarteten kaum Absatz</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Warum wir so entschieden haben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Runde 1"/>
          <p:cNvSpPr/>
          <p:nvPr/>
        </p:nvSpPr>
        <p:spPr>
          <a:xfrm>
            <a:off x="640080" y="1371600"/>
            <a:ext cx="3520440" cy="2286000"/>
          </a:xfrm>
          <a:prstGeom prst="roundRect">
            <a:avLst>
              <a:gd name="adj" fmla="val 4800"/>
            </a:avLst>
          </a:prstGeom>
          <a:solidFill>
            <a:schemeClr val="bg2"/>
          </a:solidFill>
          <a:ln/>
        </p:spPr>
      </p:sp>
      <p:sp>
        <p:nvSpPr>
          <p:cNvPr id="15" name="Nr R1"/>
          <p:cNvSpPr/>
          <p:nvPr/>
        </p:nvSpPr>
        <p:spPr>
          <a:xfrm>
            <a:off x="868680" y="1572768"/>
            <a:ext cx="502920" cy="502920"/>
          </a:xfrm>
          <a:prstGeom prst="ellipse">
            <a:avLst/>
          </a:prstGeom>
          <a:solidFill>
            <a:schemeClr val="accent1"/>
          </a:solidFill>
          <a:ln/>
        </p:spPr>
      </p:sp>
      <p:sp>
        <p:nvSpPr>
          <p:cNvPr id="16" name="Text 13"/>
          <p:cNvSpPr txBox="1"/>
          <p:nvPr/>
        </p:nvSpPr>
        <p:spPr>
          <a:xfrm>
            <a:off x="868680" y="15727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1508760" y="157276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Jan./Feb.</a:t>
            </a:r>
            <a:endParaRPr lang="en-US" sz="1300" dirty="0"/>
          </a:p>
        </p:txBody>
      </p:sp>
      <p:sp>
        <p:nvSpPr>
          <p:cNvPr id="18" name="Text 15"/>
          <p:cNvSpPr txBox="1"/>
          <p:nvPr/>
        </p:nvSpPr>
        <p:spPr>
          <a:xfrm>
            <a:off x="2468880" y="153619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3.000 €</a:t>
            </a:r>
            <a:endParaRPr lang="en-US" sz="2200" dirty="0"/>
          </a:p>
        </p:txBody>
      </p:sp>
      <p:sp>
        <p:nvSpPr>
          <p:cNvPr id="19" name="Text 16"/>
          <p:cNvSpPr txBox="1"/>
          <p:nvPr/>
        </p:nvSpPr>
        <p:spPr>
          <a:xfrm>
            <a:off x="868680" y="2148840"/>
            <a:ext cx="3063240" cy="868680"/>
          </a:xfrm>
          <a:prstGeom prst="rect">
            <a:avLst/>
          </a:prstGeom>
          <a:noFill/>
          <a:ln/>
        </p:spPr>
        <p:txBody>
          <a:bodyPr wrap="square" lIns="0" tIns="0" rIns="0" bIns="0" rtlCol="0" anchor="t"/>
          <a:lstStyle/>
          <a:p>
            <a:pPr indent="0" marL="0">
              <a:buNone/>
            </a:pPr>
            <a:r>
              <a:rPr lang="en-US" sz="1400" dirty="0">
                <a:solidFill>
                  <a:schemeClr val="tx1"/>
                </a:solidFill>
              </a:rPr>
              <a:t>Economy statt Standard. Günstig starten, alles verkaufen, Preise der anderen beobachten.</a:t>
            </a:r>
            <a:endParaRPr lang="en-US" sz="1400" dirty="0"/>
          </a:p>
        </p:txBody>
      </p:sp>
      <p:sp>
        <p:nvSpPr>
          <p:cNvPr id="20" name="Text 17"/>
          <p:cNvSpPr txBox="1"/>
          <p:nvPr/>
        </p:nvSpPr>
        <p:spPr>
          <a:xfrm>
            <a:off x="868680" y="3017520"/>
            <a:ext cx="3063240" cy="548640"/>
          </a:xfrm>
          <a:prstGeom prst="rect">
            <a:avLst/>
          </a:prstGeom>
          <a:noFill/>
          <a:ln/>
        </p:spPr>
        <p:txBody>
          <a:bodyPr wrap="square" lIns="0" tIns="0" rIns="0" bIns="0" rtlCol="0" anchor="t"/>
          <a:lstStyle/>
          <a:p>
            <a:pPr indent="0" marL="0">
              <a:buNone/>
            </a:pPr>
            <a:r>
              <a:rPr lang="en-US" sz="1300" dirty="0">
                <a:solidFill>
                  <a:schemeClr val="tx1"/>
                </a:solidFill>
              </a:rPr>
              <a:t>15 von 15 Paletten am Markt verkauft</a:t>
            </a:r>
            <a:endParaRPr lang="en-US" sz="1300" dirty="0"/>
          </a:p>
          <a:p>
            <a:pPr indent="0" marL="0">
              <a:buNone/>
            </a:pPr>
            <a:r>
              <a:rPr lang="en-US" sz="1300" b="1" dirty="0">
                <a:solidFill>
                  <a:schemeClr val="tx2"/>
                </a:solidFill>
              </a:rPr>
              <a:t>Ergebnis −24.000 € → Kasse 76.000 €</a:t>
            </a:r>
            <a:endParaRPr lang="en-US" sz="1300" dirty="0"/>
          </a:p>
        </p:txBody>
      </p:sp>
      <p:sp>
        <p:nvSpPr>
          <p:cNvPr id="21" name="Runde 2"/>
          <p:cNvSpPr/>
          <p:nvPr/>
        </p:nvSpPr>
        <p:spPr>
          <a:xfrm>
            <a:off x="4320540" y="1371600"/>
            <a:ext cx="3520440" cy="2286000"/>
          </a:xfrm>
          <a:prstGeom prst="roundRect">
            <a:avLst>
              <a:gd name="adj" fmla="val 4800"/>
            </a:avLst>
          </a:prstGeom>
          <a:solidFill>
            <a:schemeClr val="bg2"/>
          </a:solidFill>
          <a:ln/>
        </p:spPr>
      </p:sp>
      <p:sp>
        <p:nvSpPr>
          <p:cNvPr id="22" name="Nr R2"/>
          <p:cNvSpPr/>
          <p:nvPr/>
        </p:nvSpPr>
        <p:spPr>
          <a:xfrm>
            <a:off x="4549140" y="1572768"/>
            <a:ext cx="502920" cy="502920"/>
          </a:xfrm>
          <a:prstGeom prst="ellipse">
            <a:avLst/>
          </a:prstGeom>
          <a:solidFill>
            <a:schemeClr val="accent1"/>
          </a:solidFill>
          <a:ln/>
        </p:spPr>
      </p:sp>
      <p:sp>
        <p:nvSpPr>
          <p:cNvPr id="23" name="Text 20"/>
          <p:cNvSpPr txBox="1"/>
          <p:nvPr/>
        </p:nvSpPr>
        <p:spPr>
          <a:xfrm>
            <a:off x="4549140" y="15727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4" name="Text 21"/>
          <p:cNvSpPr txBox="1"/>
          <p:nvPr/>
        </p:nvSpPr>
        <p:spPr>
          <a:xfrm>
            <a:off x="5189220" y="157276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März/Apr.</a:t>
            </a:r>
            <a:endParaRPr lang="en-US" sz="1300" dirty="0"/>
          </a:p>
        </p:txBody>
      </p:sp>
      <p:sp>
        <p:nvSpPr>
          <p:cNvPr id="25" name="Text 22"/>
          <p:cNvSpPr txBox="1"/>
          <p:nvPr/>
        </p:nvSpPr>
        <p:spPr>
          <a:xfrm>
            <a:off x="6149340" y="153619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7.600 €</a:t>
            </a:r>
            <a:endParaRPr lang="en-US" sz="2200" dirty="0"/>
          </a:p>
        </p:txBody>
      </p:sp>
      <p:sp>
        <p:nvSpPr>
          <p:cNvPr id="26" name="Text 23"/>
          <p:cNvSpPr txBox="1"/>
          <p:nvPr/>
        </p:nvSpPr>
        <p:spPr>
          <a:xfrm>
            <a:off x="4549140" y="2148840"/>
            <a:ext cx="3063240" cy="868680"/>
          </a:xfrm>
          <a:prstGeom prst="rect">
            <a:avLst/>
          </a:prstGeom>
          <a:noFill/>
          <a:ln/>
        </p:spPr>
        <p:txBody>
          <a:bodyPr wrap="square" lIns="0" tIns="0" rIns="0" bIns="0" rtlCol="0" anchor="t"/>
          <a:lstStyle/>
          <a:p>
            <a:pPr indent="0" marL="0">
              <a:buNone/>
            </a:pPr>
            <a:r>
              <a:rPr lang="en-US" sz="1400" dirty="0">
                <a:solidFill>
                  <a:schemeClr val="tx1"/>
                </a:solidFill>
              </a:rPr>
              <a:t>Alles war weg – die anderen sind wohl teurer. Preis drastisch erhöht; 2. Maschine gekauft, aber noch ohne Personal.</a:t>
            </a:r>
            <a:endParaRPr lang="en-US" sz="1400" dirty="0"/>
          </a:p>
        </p:txBody>
      </p:sp>
      <p:sp>
        <p:nvSpPr>
          <p:cNvPr id="27" name="Text 24"/>
          <p:cNvSpPr txBox="1"/>
          <p:nvPr/>
        </p:nvSpPr>
        <p:spPr>
          <a:xfrm>
            <a:off x="4549140" y="3017520"/>
            <a:ext cx="3063240" cy="548640"/>
          </a:xfrm>
          <a:prstGeom prst="rect">
            <a:avLst/>
          </a:prstGeom>
          <a:noFill/>
          <a:ln/>
        </p:spPr>
        <p:txBody>
          <a:bodyPr wrap="square" lIns="0" tIns="0" rIns="0" bIns="0" rtlCol="0" anchor="t"/>
          <a:lstStyle/>
          <a:p>
            <a:pPr indent="0" marL="0">
              <a:buNone/>
            </a:pPr>
            <a:r>
              <a:rPr lang="en-US" sz="1300" dirty="0">
                <a:solidFill>
                  <a:schemeClr val="tx1"/>
                </a:solidFill>
              </a:rPr>
              <a:t>6,5 von 13 Paletten am Markt verkauft</a:t>
            </a:r>
            <a:endParaRPr lang="en-US" sz="1300" dirty="0"/>
          </a:p>
          <a:p>
            <a:pPr indent="0" marL="0">
              <a:buNone/>
            </a:pPr>
            <a:r>
              <a:rPr lang="en-US" sz="1300" b="1" dirty="0">
                <a:solidFill>
                  <a:schemeClr val="tx2"/>
                </a:solidFill>
              </a:rPr>
              <a:t>Ergebnis −19.100 € → Kasse 56.900 €</a:t>
            </a:r>
            <a:endParaRPr lang="en-US" sz="1300" dirty="0"/>
          </a:p>
        </p:txBody>
      </p:sp>
      <p:sp>
        <p:nvSpPr>
          <p:cNvPr id="28" name="Runde 3"/>
          <p:cNvSpPr/>
          <p:nvPr/>
        </p:nvSpPr>
        <p:spPr>
          <a:xfrm>
            <a:off x="8001000" y="1371600"/>
            <a:ext cx="3520440" cy="2286000"/>
          </a:xfrm>
          <a:prstGeom prst="roundRect">
            <a:avLst>
              <a:gd name="adj" fmla="val 4800"/>
            </a:avLst>
          </a:prstGeom>
          <a:solidFill>
            <a:schemeClr val="bg2"/>
          </a:solidFill>
          <a:ln/>
        </p:spPr>
      </p:sp>
      <p:sp>
        <p:nvSpPr>
          <p:cNvPr id="29" name="Nr R3"/>
          <p:cNvSpPr/>
          <p:nvPr/>
        </p:nvSpPr>
        <p:spPr>
          <a:xfrm>
            <a:off x="8229600" y="1572768"/>
            <a:ext cx="502920" cy="502920"/>
          </a:xfrm>
          <a:prstGeom prst="ellipse">
            <a:avLst/>
          </a:prstGeom>
          <a:solidFill>
            <a:schemeClr val="accent3"/>
          </a:solidFill>
          <a:ln/>
        </p:spPr>
      </p:sp>
      <p:sp>
        <p:nvSpPr>
          <p:cNvPr id="30" name="Text 27"/>
          <p:cNvSpPr txBox="1"/>
          <p:nvPr/>
        </p:nvSpPr>
        <p:spPr>
          <a:xfrm>
            <a:off x="8229600" y="15727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31" name="Text 28"/>
          <p:cNvSpPr txBox="1"/>
          <p:nvPr/>
        </p:nvSpPr>
        <p:spPr>
          <a:xfrm>
            <a:off x="8869680" y="157276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Mai/Juni</a:t>
            </a:r>
            <a:endParaRPr lang="en-US" sz="1300" dirty="0"/>
          </a:p>
        </p:txBody>
      </p:sp>
      <p:sp>
        <p:nvSpPr>
          <p:cNvPr id="32" name="Text 29"/>
          <p:cNvSpPr txBox="1"/>
          <p:nvPr/>
        </p:nvSpPr>
        <p:spPr>
          <a:xfrm>
            <a:off x="9829800" y="153619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5.900 €</a:t>
            </a:r>
            <a:endParaRPr lang="en-US" sz="2200" dirty="0"/>
          </a:p>
        </p:txBody>
      </p:sp>
      <p:sp>
        <p:nvSpPr>
          <p:cNvPr id="33" name="Text 30"/>
          <p:cNvSpPr txBox="1"/>
          <p:nvPr/>
        </p:nvSpPr>
        <p:spPr>
          <a:xfrm>
            <a:off x="8229600" y="2148840"/>
            <a:ext cx="3063240" cy="868680"/>
          </a:xfrm>
          <a:prstGeom prst="rect">
            <a:avLst/>
          </a:prstGeom>
          <a:noFill/>
          <a:ln/>
        </p:spPr>
        <p:txBody>
          <a:bodyPr wrap="square" lIns="0" tIns="0" rIns="0" bIns="0" rtlCol="0" anchor="t"/>
          <a:lstStyle/>
          <a:p>
            <a:pPr indent="0" marL="0">
              <a:buNone/>
            </a:pPr>
            <a:r>
              <a:rPr lang="en-US" sz="1400" dirty="0">
                <a:solidFill>
                  <a:schemeClr val="tx1"/>
                </a:solidFill>
              </a:rPr>
              <a:t>7.600 € war zu viel. Konkurrenz um 6.000 € vermutet – knapp darunter angeboten.</a:t>
            </a:r>
            <a:endParaRPr lang="en-US" sz="1400" dirty="0"/>
          </a:p>
        </p:txBody>
      </p:sp>
      <p:sp>
        <p:nvSpPr>
          <p:cNvPr id="34" name="Text 31"/>
          <p:cNvSpPr txBox="1"/>
          <p:nvPr/>
        </p:nvSpPr>
        <p:spPr>
          <a:xfrm>
            <a:off x="8229600" y="3017520"/>
            <a:ext cx="3063240" cy="548640"/>
          </a:xfrm>
          <a:prstGeom prst="rect">
            <a:avLst/>
          </a:prstGeom>
          <a:noFill/>
          <a:ln/>
        </p:spPr>
        <p:txBody>
          <a:bodyPr wrap="square" lIns="0" tIns="0" rIns="0" bIns="0" rtlCol="0" anchor="t"/>
          <a:lstStyle/>
          <a:p>
            <a:pPr indent="0" marL="0">
              <a:buNone/>
            </a:pPr>
            <a:r>
              <a:rPr lang="en-US" sz="1300" dirty="0">
                <a:solidFill>
                  <a:schemeClr val="tx1"/>
                </a:solidFill>
              </a:rPr>
              <a:t>12,6 von 18 Paletten am Markt verkauft</a:t>
            </a:r>
            <a:endParaRPr lang="en-US" sz="1300" dirty="0"/>
          </a:p>
          <a:p>
            <a:pPr indent="0" marL="0">
              <a:buNone/>
            </a:pPr>
            <a:r>
              <a:rPr lang="en-US" sz="1300" b="1" dirty="0">
                <a:solidFill>
                  <a:srgbClr val="3D6610"/>
                </a:solidFill>
              </a:rPr>
              <a:t>Ergebnis +25.940 € → Kasse 82.840 €</a:t>
            </a:r>
            <a:endParaRPr lang="en-US" sz="1300" dirty="0"/>
          </a:p>
        </p:txBody>
      </p:sp>
      <p:sp>
        <p:nvSpPr>
          <p:cNvPr id="35" name="Runde 4"/>
          <p:cNvSpPr/>
          <p:nvPr/>
        </p:nvSpPr>
        <p:spPr>
          <a:xfrm>
            <a:off x="640080" y="3794760"/>
            <a:ext cx="3520440" cy="2286000"/>
          </a:xfrm>
          <a:prstGeom prst="roundRect">
            <a:avLst>
              <a:gd name="adj" fmla="val 4800"/>
            </a:avLst>
          </a:prstGeom>
          <a:solidFill>
            <a:schemeClr val="bg2"/>
          </a:solidFill>
          <a:ln/>
        </p:spPr>
      </p:sp>
      <p:sp>
        <p:nvSpPr>
          <p:cNvPr id="36" name="Nr R4"/>
          <p:cNvSpPr/>
          <p:nvPr/>
        </p:nvSpPr>
        <p:spPr>
          <a:xfrm>
            <a:off x="868680" y="3995928"/>
            <a:ext cx="502920" cy="502920"/>
          </a:xfrm>
          <a:prstGeom prst="ellipse">
            <a:avLst/>
          </a:prstGeom>
          <a:solidFill>
            <a:schemeClr val="accent1"/>
          </a:solidFill>
          <a:ln/>
        </p:spPr>
      </p:sp>
      <p:sp>
        <p:nvSpPr>
          <p:cNvPr id="37" name="Text 34"/>
          <p:cNvSpPr txBox="1"/>
          <p:nvPr/>
        </p:nvSpPr>
        <p:spPr>
          <a:xfrm>
            <a:off x="868680" y="399592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8" name="Text 35"/>
          <p:cNvSpPr txBox="1"/>
          <p:nvPr/>
        </p:nvSpPr>
        <p:spPr>
          <a:xfrm>
            <a:off x="1508760" y="399592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Juli/Aug.</a:t>
            </a:r>
            <a:endParaRPr lang="en-US" sz="1300" dirty="0"/>
          </a:p>
        </p:txBody>
      </p:sp>
      <p:sp>
        <p:nvSpPr>
          <p:cNvPr id="39" name="Text 36"/>
          <p:cNvSpPr txBox="1"/>
          <p:nvPr/>
        </p:nvSpPr>
        <p:spPr>
          <a:xfrm>
            <a:off x="2468880" y="395935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9.500 €</a:t>
            </a:r>
            <a:endParaRPr lang="en-US" sz="2200" dirty="0"/>
          </a:p>
        </p:txBody>
      </p:sp>
      <p:sp>
        <p:nvSpPr>
          <p:cNvPr id="40" name="Text 37"/>
          <p:cNvSpPr txBox="1"/>
          <p:nvPr/>
        </p:nvSpPr>
        <p:spPr>
          <a:xfrm>
            <a:off x="868680" y="4572000"/>
            <a:ext cx="3063240" cy="868680"/>
          </a:xfrm>
          <a:prstGeom prst="rect">
            <a:avLst/>
          </a:prstGeom>
          <a:noFill/>
          <a:ln/>
        </p:spPr>
        <p:txBody>
          <a:bodyPr wrap="square" lIns="0" tIns="0" rIns="0" bIns="0" rtlCol="0" anchor="t"/>
          <a:lstStyle/>
          <a:p>
            <a:pPr indent="0" marL="0">
              <a:buNone/>
            </a:pPr>
            <a:r>
              <a:rPr lang="en-US" sz="1400" dirty="0">
                <a:solidFill>
                  <a:schemeClr val="tx1"/>
                </a:solidFill>
              </a:rPr>
              <a:t>Weniger Absatz erwartet („Beliebtheit nicht dauerhaft“). Nur 1 Palette, um kein Minus zu machen.</a:t>
            </a:r>
            <a:endParaRPr lang="en-US" sz="1400" dirty="0"/>
          </a:p>
        </p:txBody>
      </p:sp>
      <p:sp>
        <p:nvSpPr>
          <p:cNvPr id="41" name="Text 38"/>
          <p:cNvSpPr txBox="1"/>
          <p:nvPr/>
        </p:nvSpPr>
        <p:spPr>
          <a:xfrm>
            <a:off x="868680" y="5440680"/>
            <a:ext cx="3063240" cy="548640"/>
          </a:xfrm>
          <a:prstGeom prst="rect">
            <a:avLst/>
          </a:prstGeom>
          <a:noFill/>
          <a:ln/>
        </p:spPr>
        <p:txBody>
          <a:bodyPr wrap="square" lIns="0" tIns="0" rIns="0" bIns="0" rtlCol="0" anchor="t"/>
          <a:lstStyle/>
          <a:p>
            <a:pPr indent="0" marL="0">
              <a:buNone/>
            </a:pPr>
            <a:r>
              <a:rPr lang="en-US" sz="1300" dirty="0">
                <a:solidFill>
                  <a:schemeClr val="tx1"/>
                </a:solidFill>
              </a:rPr>
              <a:t>0,5 von 1 Palette am Markt verkauft</a:t>
            </a:r>
            <a:endParaRPr lang="en-US" sz="1300" dirty="0"/>
          </a:p>
          <a:p>
            <a:pPr indent="0" marL="0">
              <a:buNone/>
            </a:pPr>
            <a:r>
              <a:rPr lang="en-US" sz="1300" b="1" dirty="0">
                <a:solidFill>
                  <a:schemeClr val="tx2"/>
                </a:solidFill>
              </a:rPr>
              <a:t>Ergebnis −12.750 € → Kasse 70.090 €</a:t>
            </a:r>
            <a:endParaRPr lang="en-US" sz="1300" dirty="0"/>
          </a:p>
        </p:txBody>
      </p:sp>
      <p:sp>
        <p:nvSpPr>
          <p:cNvPr id="42" name="Runde 5"/>
          <p:cNvSpPr/>
          <p:nvPr/>
        </p:nvSpPr>
        <p:spPr>
          <a:xfrm>
            <a:off x="4320540" y="3794760"/>
            <a:ext cx="3520440" cy="2286000"/>
          </a:xfrm>
          <a:prstGeom prst="roundRect">
            <a:avLst>
              <a:gd name="adj" fmla="val 4800"/>
            </a:avLst>
          </a:prstGeom>
          <a:solidFill>
            <a:schemeClr val="bg2"/>
          </a:solidFill>
          <a:ln/>
        </p:spPr>
      </p:sp>
      <p:sp>
        <p:nvSpPr>
          <p:cNvPr id="43" name="Nr R5"/>
          <p:cNvSpPr/>
          <p:nvPr/>
        </p:nvSpPr>
        <p:spPr>
          <a:xfrm>
            <a:off x="4549140" y="3995928"/>
            <a:ext cx="502920" cy="502920"/>
          </a:xfrm>
          <a:prstGeom prst="ellipse">
            <a:avLst/>
          </a:prstGeom>
          <a:solidFill>
            <a:schemeClr val="accent1"/>
          </a:solidFill>
          <a:ln/>
        </p:spPr>
      </p:sp>
      <p:sp>
        <p:nvSpPr>
          <p:cNvPr id="44" name="Text 41"/>
          <p:cNvSpPr txBox="1"/>
          <p:nvPr/>
        </p:nvSpPr>
        <p:spPr>
          <a:xfrm>
            <a:off x="4549140" y="399592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45" name="Text 42"/>
          <p:cNvSpPr txBox="1"/>
          <p:nvPr/>
        </p:nvSpPr>
        <p:spPr>
          <a:xfrm>
            <a:off x="5189220" y="399592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Sep./Okt.</a:t>
            </a:r>
            <a:endParaRPr lang="en-US" sz="1300" dirty="0"/>
          </a:p>
        </p:txBody>
      </p:sp>
      <p:sp>
        <p:nvSpPr>
          <p:cNvPr id="46" name="Text 43"/>
          <p:cNvSpPr txBox="1"/>
          <p:nvPr/>
        </p:nvSpPr>
        <p:spPr>
          <a:xfrm>
            <a:off x="6149340" y="395935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9.500 €</a:t>
            </a:r>
            <a:endParaRPr lang="en-US" sz="2200" dirty="0"/>
          </a:p>
        </p:txBody>
      </p:sp>
      <p:sp>
        <p:nvSpPr>
          <p:cNvPr id="47" name="Text 44"/>
          <p:cNvSpPr txBox="1"/>
          <p:nvPr/>
        </p:nvSpPr>
        <p:spPr>
          <a:xfrm>
            <a:off x="4549140" y="4572000"/>
            <a:ext cx="3063240" cy="868680"/>
          </a:xfrm>
          <a:prstGeom prst="rect">
            <a:avLst/>
          </a:prstGeom>
          <a:noFill/>
          <a:ln/>
        </p:spPr>
        <p:txBody>
          <a:bodyPr wrap="square" lIns="0" tIns="0" rIns="0" bIns="0" rtlCol="0" anchor="t"/>
          <a:lstStyle/>
          <a:p>
            <a:pPr indent="0" marL="0">
              <a:buNone/>
            </a:pPr>
            <a:r>
              <a:rPr lang="en-US" sz="1400" dirty="0">
                <a:solidFill>
                  <a:schemeClr val="tx1"/>
                </a:solidFill>
              </a:rPr>
              <a:t>Marktanalyse sagte weniger Absatz voraus. Wieder nur 1 Palette.</a:t>
            </a:r>
            <a:endParaRPr lang="en-US" sz="1400" dirty="0"/>
          </a:p>
        </p:txBody>
      </p:sp>
      <p:sp>
        <p:nvSpPr>
          <p:cNvPr id="48" name="Text 45"/>
          <p:cNvSpPr txBox="1"/>
          <p:nvPr/>
        </p:nvSpPr>
        <p:spPr>
          <a:xfrm>
            <a:off x="4549140" y="5440680"/>
            <a:ext cx="3063240" cy="548640"/>
          </a:xfrm>
          <a:prstGeom prst="rect">
            <a:avLst/>
          </a:prstGeom>
          <a:noFill/>
          <a:ln/>
        </p:spPr>
        <p:txBody>
          <a:bodyPr wrap="square" lIns="0" tIns="0" rIns="0" bIns="0" rtlCol="0" anchor="t"/>
          <a:lstStyle/>
          <a:p>
            <a:pPr indent="0" marL="0">
              <a:buNone/>
            </a:pPr>
            <a:r>
              <a:rPr lang="en-US" sz="1300" dirty="0">
                <a:solidFill>
                  <a:schemeClr val="tx1"/>
                </a:solidFill>
              </a:rPr>
              <a:t>0,2 von 1 Palette am Markt verkauft</a:t>
            </a:r>
            <a:endParaRPr lang="en-US" sz="1300" dirty="0"/>
          </a:p>
          <a:p>
            <a:pPr indent="0" marL="0">
              <a:buNone/>
            </a:pPr>
            <a:r>
              <a:rPr lang="en-US" sz="1300" b="1" dirty="0">
                <a:solidFill>
                  <a:schemeClr val="tx2"/>
                </a:solidFill>
              </a:rPr>
              <a:t>Ergebnis −22.300 € → Kasse 47.790 €</a:t>
            </a:r>
            <a:endParaRPr lang="en-US" sz="1300" dirty="0"/>
          </a:p>
        </p:txBody>
      </p:sp>
      <p:sp>
        <p:nvSpPr>
          <p:cNvPr id="49" name="Runde 6"/>
          <p:cNvSpPr/>
          <p:nvPr/>
        </p:nvSpPr>
        <p:spPr>
          <a:xfrm>
            <a:off x="8001000" y="3794760"/>
            <a:ext cx="3520440" cy="2286000"/>
          </a:xfrm>
          <a:prstGeom prst="roundRect">
            <a:avLst>
              <a:gd name="adj" fmla="val 4800"/>
            </a:avLst>
          </a:prstGeom>
          <a:solidFill>
            <a:schemeClr val="bg2"/>
          </a:solidFill>
          <a:ln/>
        </p:spPr>
      </p:sp>
      <p:sp>
        <p:nvSpPr>
          <p:cNvPr id="50" name="Nr R6"/>
          <p:cNvSpPr/>
          <p:nvPr/>
        </p:nvSpPr>
        <p:spPr>
          <a:xfrm>
            <a:off x="8229600" y="3995928"/>
            <a:ext cx="502920" cy="502920"/>
          </a:xfrm>
          <a:prstGeom prst="ellipse">
            <a:avLst/>
          </a:prstGeom>
          <a:solidFill>
            <a:schemeClr val="accent3"/>
          </a:solidFill>
          <a:ln/>
        </p:spPr>
      </p:sp>
      <p:sp>
        <p:nvSpPr>
          <p:cNvPr id="51" name="Text 48"/>
          <p:cNvSpPr txBox="1"/>
          <p:nvPr/>
        </p:nvSpPr>
        <p:spPr>
          <a:xfrm>
            <a:off x="8229600" y="399592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52" name="Text 49"/>
          <p:cNvSpPr txBox="1"/>
          <p:nvPr/>
        </p:nvSpPr>
        <p:spPr>
          <a:xfrm>
            <a:off x="8869680" y="3995928"/>
            <a:ext cx="1280160" cy="502920"/>
          </a:xfrm>
          <a:prstGeom prst="rect">
            <a:avLst/>
          </a:prstGeom>
          <a:noFill/>
          <a:ln/>
        </p:spPr>
        <p:txBody>
          <a:bodyPr wrap="square" lIns="0" tIns="0" rIns="0" bIns="0" rtlCol="0" anchor="ctr"/>
          <a:lstStyle/>
          <a:p>
            <a:pPr indent="0" marL="0">
              <a:buNone/>
            </a:pPr>
            <a:r>
              <a:rPr lang="en-US" sz="1300" dirty="0">
                <a:solidFill>
                  <a:schemeClr val="accent4"/>
                </a:solidFill>
              </a:rPr>
              <a:t>Nov./Dez.</a:t>
            </a:r>
            <a:endParaRPr lang="en-US" sz="1300" dirty="0"/>
          </a:p>
        </p:txBody>
      </p:sp>
      <p:sp>
        <p:nvSpPr>
          <p:cNvPr id="53" name="Text 50"/>
          <p:cNvSpPr txBox="1"/>
          <p:nvPr/>
        </p:nvSpPr>
        <p:spPr>
          <a:xfrm>
            <a:off x="9829800" y="3959352"/>
            <a:ext cx="1463040" cy="566928"/>
          </a:xfrm>
          <a:prstGeom prst="rect">
            <a:avLst/>
          </a:prstGeom>
          <a:noFill/>
          <a:ln/>
        </p:spPr>
        <p:txBody>
          <a:bodyPr wrap="square" lIns="0" tIns="0" rIns="0" bIns="0" rtlCol="0" anchor="ctr"/>
          <a:lstStyle/>
          <a:p>
            <a:pPr algn="r" indent="0" marL="0">
              <a:buNone/>
            </a:pPr>
            <a:r>
              <a:rPr lang="en-US" sz="2200" b="1" dirty="0">
                <a:solidFill>
                  <a:schemeClr val="tx2"/>
                </a:solidFill>
                <a:latin typeface="Cambria" pitchFamily="34" charset="0"/>
                <a:ea typeface="Cambria" pitchFamily="34" charset="-122"/>
                <a:cs typeface="Cambria" pitchFamily="34" charset="-120"/>
              </a:rPr>
              <a:t>8.400 €</a:t>
            </a:r>
            <a:endParaRPr lang="en-US" sz="2200" dirty="0"/>
          </a:p>
        </p:txBody>
      </p:sp>
      <p:sp>
        <p:nvSpPr>
          <p:cNvPr id="54" name="Text 51"/>
          <p:cNvSpPr txBox="1"/>
          <p:nvPr/>
        </p:nvSpPr>
        <p:spPr>
          <a:xfrm>
            <a:off x="8229600" y="4572000"/>
            <a:ext cx="3063240" cy="868680"/>
          </a:xfrm>
          <a:prstGeom prst="rect">
            <a:avLst/>
          </a:prstGeom>
          <a:noFill/>
          <a:ln/>
        </p:spPr>
        <p:txBody>
          <a:bodyPr wrap="square" lIns="0" tIns="0" rIns="0" bIns="0" rtlCol="0" anchor="t"/>
          <a:lstStyle/>
          <a:p>
            <a:pPr indent="0" marL="0">
              <a:buNone/>
            </a:pPr>
            <a:r>
              <a:rPr lang="en-US" sz="1400" dirty="0">
                <a:solidFill>
                  <a:schemeClr val="tx1"/>
                </a:solidFill>
              </a:rPr>
              <a:t>Letzte Runde: noch einmal produzieren und Umsatz machen.</a:t>
            </a:r>
            <a:endParaRPr lang="en-US" sz="1400" dirty="0"/>
          </a:p>
        </p:txBody>
      </p:sp>
      <p:sp>
        <p:nvSpPr>
          <p:cNvPr id="55" name="Text 52"/>
          <p:cNvSpPr txBox="1"/>
          <p:nvPr/>
        </p:nvSpPr>
        <p:spPr>
          <a:xfrm>
            <a:off x="8229600" y="5440680"/>
            <a:ext cx="3063240" cy="548640"/>
          </a:xfrm>
          <a:prstGeom prst="rect">
            <a:avLst/>
          </a:prstGeom>
          <a:noFill/>
          <a:ln/>
        </p:spPr>
        <p:txBody>
          <a:bodyPr wrap="square" lIns="0" tIns="0" rIns="0" bIns="0" rtlCol="0" anchor="t"/>
          <a:lstStyle/>
          <a:p>
            <a:pPr indent="0" marL="0">
              <a:buNone/>
            </a:pPr>
            <a:r>
              <a:rPr lang="en-US" sz="1300" dirty="0">
                <a:solidFill>
                  <a:schemeClr val="tx1"/>
                </a:solidFill>
              </a:rPr>
              <a:t>5,2 von 13 Paletten am Markt verkauft</a:t>
            </a:r>
            <a:endParaRPr lang="en-US" sz="1300" dirty="0"/>
          </a:p>
          <a:p>
            <a:pPr indent="0" marL="0">
              <a:buNone/>
            </a:pPr>
            <a:r>
              <a:rPr lang="en-US" sz="1300" b="1" dirty="0">
                <a:solidFill>
                  <a:srgbClr val="3D6610"/>
                </a:solidFill>
              </a:rPr>
              <a:t>Ergebnis +5.980 € → Kasse 53.770 €</a:t>
            </a:r>
            <a:endParaRPr lang="en-US" sz="13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Wirtschaftsdienst: Kosten von außen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ennzahl Zusatzkosten"/>
          <p:cNvSpPr/>
          <p:nvPr/>
        </p:nvSpPr>
        <p:spPr>
          <a:xfrm>
            <a:off x="640080" y="1463040"/>
            <a:ext cx="3291840" cy="2148840"/>
          </a:xfrm>
          <a:prstGeom prst="roundRect">
            <a:avLst>
              <a:gd name="adj" fmla="val 5106"/>
            </a:avLst>
          </a:prstGeom>
          <a:solidFill>
            <a:schemeClr val="accent1"/>
          </a:solidFill>
          <a:ln/>
        </p:spPr>
      </p:sp>
      <p:sp>
        <p:nvSpPr>
          <p:cNvPr id="15" name="Icon-Kreis FaNewspaper"/>
          <p:cNvSpPr/>
          <p:nvPr/>
        </p:nvSpPr>
        <p:spPr>
          <a:xfrm>
            <a:off x="868680" y="1691640"/>
            <a:ext cx="594360" cy="594360"/>
          </a:xfrm>
          <a:prstGeom prst="ellipse">
            <a:avLst/>
          </a:prstGeom>
          <a:solidFill>
            <a:schemeClr val="accent2"/>
          </a:solidFill>
          <a:ln/>
        </p:spPr>
      </p:sp>
      <p:pic>
        <p:nvPicPr>
          <p:cNvPr id="16" name="Icon FaNewspaper" descr="Symbol Newspaper">    </p:cNvPr>
          <p:cNvPicPr>
            <a:picLocks noChangeAspect="1"/>
          </p:cNvPicPr>
          <p:nvPr/>
        </p:nvPicPr>
        <p:blipFill>
          <a:blip r:embed="rId1"/>
          <a:stretch>
            <a:fillRect/>
          </a:stretch>
        </p:blipFill>
        <p:spPr>
          <a:xfrm>
            <a:off x="1029157" y="1852117"/>
            <a:ext cx="273406" cy="273406"/>
          </a:xfrm>
          <a:prstGeom prst="rect">
            <a:avLst/>
          </a:prstGeom>
        </p:spPr>
      </p:pic>
      <p:sp>
        <p:nvSpPr>
          <p:cNvPr id="17" name="Text 13"/>
          <p:cNvSpPr txBox="1"/>
          <p:nvPr/>
        </p:nvSpPr>
        <p:spPr>
          <a:xfrm>
            <a:off x="868680" y="2331720"/>
            <a:ext cx="292608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34.000 €</a:t>
            </a:r>
            <a:endParaRPr lang="en-US" sz="4000" dirty="0"/>
          </a:p>
        </p:txBody>
      </p:sp>
      <p:sp>
        <p:nvSpPr>
          <p:cNvPr id="18" name="Text 14"/>
          <p:cNvSpPr txBox="1"/>
          <p:nvPr/>
        </p:nvSpPr>
        <p:spPr>
          <a:xfrm>
            <a:off x="868680" y="3017520"/>
            <a:ext cx="2926080" cy="411480"/>
          </a:xfrm>
          <a:prstGeom prst="rect">
            <a:avLst/>
          </a:prstGeom>
          <a:noFill/>
          <a:ln/>
        </p:spPr>
        <p:txBody>
          <a:bodyPr wrap="square" lIns="0" tIns="0" rIns="0" bIns="0" rtlCol="0" anchor="ctr"/>
          <a:lstStyle/>
          <a:p>
            <a:pPr indent="0" marL="0">
              <a:buNone/>
            </a:pPr>
            <a:r>
              <a:rPr lang="en-US" sz="1500" dirty="0">
                <a:solidFill>
                  <a:schemeClr val="bg2"/>
                </a:solidFill>
              </a:rPr>
              <a:t>Zusatzkosten in Runde 2–6</a:t>
            </a:r>
            <a:endParaRPr lang="en-US" sz="1500" dirty="0"/>
          </a:p>
        </p:txBody>
      </p:sp>
      <p:sp>
        <p:nvSpPr>
          <p:cNvPr id="19" name="Einordnung Zusatzkosten"/>
          <p:cNvSpPr/>
          <p:nvPr/>
        </p:nvSpPr>
        <p:spPr>
          <a:xfrm>
            <a:off x="640080" y="3794760"/>
            <a:ext cx="3291840" cy="2286000"/>
          </a:xfrm>
          <a:prstGeom prst="roundRect">
            <a:avLst>
              <a:gd name="adj" fmla="val 4800"/>
            </a:avLst>
          </a:prstGeom>
          <a:solidFill>
            <a:schemeClr val="bg2"/>
          </a:solidFill>
          <a:ln/>
        </p:spPr>
      </p:sp>
      <p:sp>
        <p:nvSpPr>
          <p:cNvPr id="20" name="Text 16"/>
          <p:cNvSpPr txBox="1"/>
          <p:nvPr/>
        </p:nvSpPr>
        <p:spPr>
          <a:xfrm>
            <a:off x="868680" y="3931920"/>
            <a:ext cx="2926080" cy="2011680"/>
          </a:xfrm>
          <a:prstGeom prst="rect">
            <a:avLst/>
          </a:prstGeom>
          <a:noFill/>
          <a:ln/>
        </p:spPr>
        <p:txBody>
          <a:bodyPr wrap="square" lIns="0" tIns="0" rIns="0" bIns="0" rtlCol="0" anchor="ctr"/>
          <a:lstStyle/>
          <a:p>
            <a:pPr marL="203200" indent="-203200">
              <a:spcAft>
                <a:spcPts val="800"/>
              </a:spcAft>
              <a:buSzPct val="100000"/>
              <a:buChar char="•"/>
            </a:pPr>
            <a:r>
              <a:rPr lang="en-US" sz="1500" dirty="0">
                <a:solidFill>
                  <a:schemeClr val="tx1"/>
                </a:solidFill>
              </a:rPr>
              <a:t>≈ 12 % unserer Gesamtkosten</a:t>
            </a:r>
            <a:endParaRPr lang="en-US" sz="1500" dirty="0"/>
          </a:p>
          <a:p>
            <a:pPr marL="203200" indent="-203200">
              <a:spcAft>
                <a:spcPts val="800"/>
              </a:spcAft>
              <a:buSzPct val="100000"/>
              <a:buChar char="•"/>
            </a:pPr>
            <a:r>
              <a:rPr lang="en-US" sz="1500" dirty="0">
                <a:solidFill>
                  <a:schemeClr val="tx1"/>
                </a:solidFill>
              </a:rPr>
              <a:t>R4: Material 1.500 € statt 1.000 € je Palette</a:t>
            </a:r>
            <a:endParaRPr lang="en-US" sz="1500" dirty="0"/>
          </a:p>
          <a:p>
            <a:pPr marL="203200" indent="-203200">
              <a:spcAft>
                <a:spcPts val="800"/>
              </a:spcAft>
              <a:buSzPct val="100000"/>
              <a:buChar char="•"/>
            </a:pPr>
            <a:r>
              <a:rPr lang="en-US" sz="1500" dirty="0">
                <a:solidFill>
                  <a:schemeClr val="tx1"/>
                </a:solidFill>
              </a:rPr>
              <a:t>Ohne Zusatzkosten: 34.000 € mehr in der Kasse</a:t>
            </a:r>
            <a:endParaRPr lang="en-US" sz="1500" dirty="0"/>
          </a:p>
        </p:txBody>
      </p:sp>
      <p:graphicFrame>
        <p:nvGraphicFramePr>
          <p:cNvPr id="21" name="Chart 0" descr=""/>
          <p:cNvGraphicFramePr/>
          <p:nvPr/>
        </p:nvGraphicFramePr>
        <p:xfrm>
          <a:off x="4206240" y="1371600"/>
          <a:ext cx="7315200" cy="475488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Kennzahl Wirtschaftlichkeit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8" name="Tabelle Wirtschaftlichkeit"/>
          <p:cNvGraphicFramePr>
            <a:graphicFrameLocks noGrp="1"/>
          </p:cNvGraphicFramePr>
          <p:nvPr>
            <p:extLst>
              <p:ext uri="{D42A27DB-BD31-4B8C-83A1-F6EECF244321}">
                <p14:modId xmlns:p14="http://schemas.microsoft.com/office/powerpoint/2010/main" val="1579011935"/>
              </p:ext>
            </p:extLst>
          </p:nvPr>
        </p:nvGraphicFramePr>
        <p:xfrm>
          <a:off x="640080" y="1417320"/>
          <a:ext cx="7589520" cy="914400"/>
        </p:xfrm>
        <a:graphic>
          <a:graphicData uri="http://schemas.openxmlformats.org/drawingml/2006/table">
            <a:tbl>
              <a:tblPr/>
              <a:tblGrid>
                <a:gridCol w="2103120"/>
                <a:gridCol w="914400"/>
                <a:gridCol w="914400"/>
                <a:gridCol w="914400"/>
                <a:gridCol w="914400"/>
                <a:gridCol w="914400"/>
                <a:gridCol w="914400"/>
              </a:tblGrid>
              <a:tr h="420624">
                <a:tc>
                  <a:txBody>
                    <a:bodyPr/>
                    <a:lstStyle/>
                    <a:p>
                      <a:pPr algn="ctr" indent="0" marL="0">
                        <a:buNone/>
                      </a:pPr>
                      <a:r>
                        <a:rPr lang="en-US" sz="1300" b="1" dirty="0">
                          <a:solidFill>
                            <a:srgbClr val="FFFFFF"/>
                          </a:solidFill>
                        </a:rPr>
                        <a:t>in €</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300" b="1" dirty="0">
                          <a:solidFill>
                            <a:srgbClr val="FFFFFF"/>
                          </a:solidFill>
                        </a:rPr>
                        <a:t>R1</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300" b="1" dirty="0">
                          <a:solidFill>
                            <a:srgbClr val="FFFFFF"/>
                          </a:solidFill>
                        </a:rPr>
                        <a:t>R2</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300" b="1" dirty="0">
                          <a:solidFill>
                            <a:srgbClr val="FFFFFF"/>
                          </a:solidFill>
                        </a:rPr>
                        <a:t>R3</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300" b="1" dirty="0">
                          <a:solidFill>
                            <a:srgbClr val="FFFFFF"/>
                          </a:solidFill>
                        </a:rPr>
                        <a:t>R4</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300" b="1" dirty="0">
                          <a:solidFill>
                            <a:srgbClr val="FFFFFF"/>
                          </a:solidFill>
                        </a:rPr>
                        <a:t>R5</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300" b="1" dirty="0">
                          <a:solidFill>
                            <a:srgbClr val="FFFFFF"/>
                          </a:solidFill>
                        </a:rPr>
                        <a:t>R6</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r>
              <a:tr h="420624">
                <a:tc>
                  <a:txBody>
                    <a:bodyPr/>
                    <a:lstStyle/>
                    <a:p>
                      <a:pPr indent="0" marL="0">
                        <a:buNone/>
                      </a:pPr>
                      <a:r>
                        <a:rPr lang="en-US" sz="1300" dirty="0">
                          <a:solidFill>
                            <a:srgbClr val="1B2A2F"/>
                          </a:solidFill>
                        </a:rPr>
                        <a:t>– Maschinen</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30.000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30.000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dirty="0">
                          <a:solidFill>
                            <a:srgbClr val="1B2A2F"/>
                          </a:solidFill>
                        </a:rPr>
                        <a:t>– Personal</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4.000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4.000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8.000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8.000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8.000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8.000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dirty="0">
                          <a:solidFill>
                            <a:srgbClr val="1B2A2F"/>
                          </a:solidFill>
                        </a:rPr>
                        <a:t>– Miete</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dirty="0">
                          <a:solidFill>
                            <a:srgbClr val="1B2A2F"/>
                          </a:solidFill>
                        </a:rPr>
                        <a:t>– Wirtschaftsdienst</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10.000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2.500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10.000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6.500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dirty="0">
                          <a:solidFill>
                            <a:srgbClr val="1B2A2F"/>
                          </a:solidFill>
                        </a:rPr>
                        <a:t>– Produktion</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13.000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18.000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13.000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dirty="0">
                          <a:solidFill>
                            <a:srgbClr val="1B2A2F"/>
                          </a:solidFill>
                        </a:rPr>
                        <a:t>– Material</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13.000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18.000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1.500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dirty="0">
                          <a:solidFill>
                            <a:srgbClr val="1B2A2F"/>
                          </a:solidFill>
                        </a:rPr>
                        <a:t>13.000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b="1" dirty="0">
                          <a:solidFill>
                            <a:srgbClr val="1B2A2F"/>
                          </a:solidFill>
                        </a:rPr>
                        <a:t>= Kosten gesamt</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69.000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75.000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54.000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18.000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25.000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45.500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b="1" dirty="0">
                          <a:solidFill>
                            <a:srgbClr val="1B2A2F"/>
                          </a:solidFill>
                        </a:rPr>
                        <a:t>Umsatzerlöse</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45.000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55.900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79.940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5.250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2.700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300" b="1" dirty="0">
                          <a:solidFill>
                            <a:srgbClr val="1B2A2F"/>
                          </a:solidFill>
                        </a:rPr>
                        <a:t>51.480</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420624">
                <a:tc>
                  <a:txBody>
                    <a:bodyPr/>
                    <a:lstStyle/>
                    <a:p>
                      <a:pPr indent="0" marL="0">
                        <a:buNone/>
                      </a:pPr>
                      <a:r>
                        <a:rPr lang="en-US" sz="1300" b="1" dirty="0">
                          <a:solidFill>
                            <a:srgbClr val="FFFFFF"/>
                          </a:solidFill>
                        </a:rPr>
                        <a:t>Wirtschaftlichkeit</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300" b="1" dirty="0">
                          <a:solidFill>
                            <a:srgbClr val="8A4A12"/>
                          </a:solidFill>
                        </a:rPr>
                        <a:t>0,65</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300" b="1" dirty="0">
                          <a:solidFill>
                            <a:srgbClr val="8A4A12"/>
                          </a:solidFill>
                        </a:rPr>
                        <a:t>0,75</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300" b="1" dirty="0">
                          <a:solidFill>
                            <a:srgbClr val="3D6610"/>
                          </a:solidFill>
                        </a:rPr>
                        <a:t>1,48</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3EFCF"/>
                    </a:solidFill>
                  </a:tcPr>
                </a:tc>
                <a:tc>
                  <a:txBody>
                    <a:bodyPr/>
                    <a:lstStyle/>
                    <a:p>
                      <a:pPr algn="ctr" indent="0" marL="0">
                        <a:buNone/>
                      </a:pPr>
                      <a:r>
                        <a:rPr lang="en-US" sz="1300" b="1" dirty="0">
                          <a:solidFill>
                            <a:srgbClr val="8A4A12"/>
                          </a:solidFill>
                        </a:rPr>
                        <a:t>0,29</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300" b="1" dirty="0">
                          <a:solidFill>
                            <a:srgbClr val="8A4A12"/>
                          </a:solidFill>
                        </a:rPr>
                        <a:t>0,11</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300" b="1" dirty="0">
                          <a:solidFill>
                            <a:srgbClr val="3D6610"/>
                          </a:solidFill>
                        </a:rPr>
                        <a:t>1,13</a:t>
                      </a:r>
                      <a:endParaRPr lang="en-US" sz="13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3EFCF"/>
                    </a:solidFill>
                  </a:tcPr>
                </a:tc>
              </a:tr>
            </a:tbl>
          </a:graphicData>
        </a:graphic>
      </p:graphicFrame>
      <p:sp>
        <p:nvSpPr>
          <p:cNvPr id="15" name="Formel"/>
          <p:cNvSpPr/>
          <p:nvPr/>
        </p:nvSpPr>
        <p:spPr>
          <a:xfrm>
            <a:off x="8503920" y="1417320"/>
            <a:ext cx="3017520" cy="4709160"/>
          </a:xfrm>
          <a:prstGeom prst="roundRect">
            <a:avLst>
              <a:gd name="adj" fmla="val 3636"/>
            </a:avLst>
          </a:prstGeom>
          <a:solidFill>
            <a:schemeClr val="bg2"/>
          </a:solidFill>
          <a:ln/>
        </p:spPr>
      </p:sp>
      <p:sp>
        <p:nvSpPr>
          <p:cNvPr id="16" name="Icon-Kreis FaBalanceScale"/>
          <p:cNvSpPr/>
          <p:nvPr/>
        </p:nvSpPr>
        <p:spPr>
          <a:xfrm>
            <a:off x="8732520" y="1645920"/>
            <a:ext cx="640080" cy="640080"/>
          </a:xfrm>
          <a:prstGeom prst="ellipse">
            <a:avLst/>
          </a:prstGeom>
          <a:solidFill>
            <a:schemeClr val="accent1"/>
          </a:solidFill>
          <a:ln/>
        </p:spPr>
      </p:sp>
      <p:pic>
        <p:nvPicPr>
          <p:cNvPr id="17" name="Icon FaBalanceScale" descr="Symbol BalanceScale">    </p:cNvPr>
          <p:cNvPicPr>
            <a:picLocks noChangeAspect="1"/>
          </p:cNvPicPr>
          <p:nvPr/>
        </p:nvPicPr>
        <p:blipFill>
          <a:blip r:embed="rId1"/>
          <a:stretch>
            <a:fillRect/>
          </a:stretch>
        </p:blipFill>
        <p:spPr>
          <a:xfrm>
            <a:off x="8905342" y="1818742"/>
            <a:ext cx="294437" cy="294437"/>
          </a:xfrm>
          <a:prstGeom prst="rect">
            <a:avLst/>
          </a:prstGeom>
        </p:spPr>
      </p:pic>
      <p:sp>
        <p:nvSpPr>
          <p:cNvPr id="18" name="Text 13"/>
          <p:cNvSpPr txBox="1"/>
          <p:nvPr/>
        </p:nvSpPr>
        <p:spPr>
          <a:xfrm>
            <a:off x="9509760" y="1645920"/>
            <a:ext cx="1920240" cy="640080"/>
          </a:xfrm>
          <a:prstGeom prst="rect">
            <a:avLst/>
          </a:prstGeom>
          <a:noFill/>
          <a:ln/>
        </p:spPr>
        <p:txBody>
          <a:bodyPr wrap="square" lIns="0" tIns="0" rIns="0" bIns="0" rtlCol="0" anchor="ctr"/>
          <a:lstStyle/>
          <a:p>
            <a:pPr indent="0" marL="0">
              <a:buNone/>
            </a:pPr>
            <a:r>
              <a:rPr lang="en-US" sz="1800" b="1" dirty="0">
                <a:solidFill>
                  <a:schemeClr val="tx2"/>
                </a:solidFill>
              </a:rPr>
              <a:t>So rechnen wir</a:t>
            </a:r>
            <a:endParaRPr lang="en-US" sz="1800" dirty="0"/>
          </a:p>
        </p:txBody>
      </p:sp>
      <p:sp>
        <p:nvSpPr>
          <p:cNvPr id="19" name="Text 14"/>
          <p:cNvSpPr txBox="1"/>
          <p:nvPr/>
        </p:nvSpPr>
        <p:spPr>
          <a:xfrm>
            <a:off x="8732520" y="2423160"/>
            <a:ext cx="2606040" cy="3611880"/>
          </a:xfrm>
          <a:prstGeom prst="rect">
            <a:avLst/>
          </a:prstGeom>
          <a:noFill/>
          <a:ln/>
        </p:spPr>
        <p:txBody>
          <a:bodyPr wrap="square" lIns="0" tIns="0" rIns="0" bIns="0" rtlCol="0" anchor="t"/>
          <a:lstStyle/>
          <a:p>
            <a:pPr indent="0" marL="0">
              <a:buNone/>
            </a:pPr>
            <a:r>
              <a:rPr lang="en-US" sz="1500" b="1" dirty="0">
                <a:solidFill>
                  <a:schemeClr val="tx1"/>
                </a:solidFill>
              </a:rPr>
              <a:t>Wirtschaftlichkeit =</a:t>
            </a:r>
            <a:endParaRPr lang="en-US" sz="1500" dirty="0"/>
          </a:p>
          <a:p>
            <a:pPr indent="0" marL="0">
              <a:spcAft>
                <a:spcPts val="1400"/>
              </a:spcAft>
              <a:buNone/>
            </a:pPr>
            <a:r>
              <a:rPr lang="en-US" sz="1500" dirty="0">
                <a:solidFill>
                  <a:schemeClr val="tx1"/>
                </a:solidFill>
              </a:rPr>
              <a:t>Umsatzerlöse ÷ Kosten</a:t>
            </a:r>
            <a:endParaRPr lang="en-US" sz="1500" dirty="0"/>
          </a:p>
          <a:p>
            <a:pPr indent="0" marL="0">
              <a:buNone/>
            </a:pPr>
            <a:r>
              <a:rPr lang="en-US" sz="1400" b="1" dirty="0">
                <a:solidFill>
                  <a:schemeClr val="tx1"/>
                </a:solidFill>
              </a:rPr>
              <a:t>Beispiel R3:</a:t>
            </a:r>
            <a:endParaRPr lang="en-US" sz="1500" dirty="0"/>
          </a:p>
          <a:p>
            <a:pPr indent="0" marL="0">
              <a:spcAft>
                <a:spcPts val="1400"/>
              </a:spcAft>
              <a:buNone/>
            </a:pPr>
            <a:r>
              <a:rPr lang="en-US" sz="1400" dirty="0">
                <a:solidFill>
                  <a:schemeClr val="tx1"/>
                </a:solidFill>
              </a:rPr>
              <a:t>79.940 € ÷ 54.000 € = 1,48</a:t>
            </a:r>
            <a:endParaRPr lang="en-US" sz="1500" dirty="0"/>
          </a:p>
          <a:p>
            <a:pPr indent="0" marL="0">
              <a:buNone/>
            </a:pPr>
            <a:r>
              <a:rPr lang="en-US" sz="1400" b="1" dirty="0">
                <a:solidFill>
                  <a:srgbClr val="3D6610"/>
                </a:solidFill>
              </a:rPr>
              <a:t>über 1 = Gewinn</a:t>
            </a:r>
            <a:endParaRPr lang="en-US" sz="1500" dirty="0"/>
          </a:p>
          <a:p>
            <a:pPr indent="0" marL="0">
              <a:spcAft>
                <a:spcPts val="1400"/>
              </a:spcAft>
              <a:buNone/>
            </a:pPr>
            <a:r>
              <a:rPr lang="en-US" sz="1400" b="1" dirty="0">
                <a:solidFill>
                  <a:srgbClr val="8A4A12"/>
                </a:solidFill>
              </a:rPr>
              <a:t>unter 1 = Verlust</a:t>
            </a:r>
            <a:endParaRPr lang="en-US" sz="1500" dirty="0"/>
          </a:p>
          <a:p>
            <a:pPr indent="0" marL="0">
              <a:buNone/>
            </a:pPr>
            <a:r>
              <a:rPr lang="en-US" sz="1300" b="1" dirty="0">
                <a:solidFill>
                  <a:schemeClr val="tx1"/>
                </a:solidFill>
              </a:rPr>
              <a:t>Aussagekraft: </a:t>
            </a:r>
            <a:pPr indent="0" marL="0">
              <a:buNone/>
            </a:pPr>
            <a:r>
              <a:rPr lang="en-US" sz="1300" dirty="0">
                <a:solidFill>
                  <a:schemeClr val="tx1"/>
                </a:solidFill>
              </a:rPr>
              <a:t>zeigt, ob der Umsatz einer Runde ihre Kosten deckt. R1 und R2 tragen die Maschinenkäufe, die später mitgenutzt wurden.</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Wirtschaftlichkeit und Kassenbestand</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14" name="Chart 0" descr=""/>
          <p:cNvGraphicFramePr/>
          <p:nvPr/>
        </p:nvGraphicFramePr>
        <p:xfrm>
          <a:off x="640080" y="137160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Chart 1" descr=""/>
          <p:cNvGraphicFramePr/>
          <p:nvPr/>
        </p:nvGraphicFramePr>
        <p:xfrm>
          <a:off x="6309360" y="1371600"/>
          <a:ext cx="5212080" cy="4206240"/>
        </p:xfrm>
        <a:graphic xmlns:a="http://schemas.openxmlformats.org/drawingml/2006/main">
          <a:graphicData uri="http://schemas.openxmlformats.org/drawingml/2006/chart">
            <c:chart xmlns:c="http://schemas.openxmlformats.org/drawingml/2006/chart" r:id="rId2"/>
          </a:graphicData>
        </a:graphic>
      </p:graphicFrame>
      <p:sp>
        <p:nvSpPr>
          <p:cNvPr id="16" name="Kernaussage"/>
          <p:cNvSpPr/>
          <p:nvPr/>
        </p:nvSpPr>
        <p:spPr>
          <a:xfrm>
            <a:off x="640080" y="5669280"/>
            <a:ext cx="10881360" cy="548640"/>
          </a:xfrm>
          <a:prstGeom prst="roundRect">
            <a:avLst>
              <a:gd name="adj" fmla="val 20000"/>
            </a:avLst>
          </a:prstGeom>
          <a:solidFill>
            <a:schemeClr val="bg2"/>
          </a:solidFill>
          <a:ln/>
        </p:spPr>
      </p:sp>
      <p:sp>
        <p:nvSpPr>
          <p:cNvPr id="17" name="Text 12"/>
          <p:cNvSpPr txBox="1"/>
          <p:nvPr/>
        </p:nvSpPr>
        <p:spPr>
          <a:xfrm>
            <a:off x="868680" y="5669280"/>
            <a:ext cx="10424160" cy="548640"/>
          </a:xfrm>
          <a:prstGeom prst="rect">
            <a:avLst/>
          </a:prstGeom>
          <a:noFill/>
          <a:ln/>
        </p:spPr>
        <p:txBody>
          <a:bodyPr wrap="square" lIns="0" tIns="0" rIns="0" bIns="0" rtlCol="0" anchor="ctr"/>
          <a:lstStyle/>
          <a:p>
            <a:pPr indent="0" marL="0">
              <a:buNone/>
            </a:pPr>
            <a:r>
              <a:rPr lang="en-US" sz="1600" b="1" dirty="0">
                <a:solidFill>
                  <a:schemeClr val="accent2"/>
                </a:solidFill>
              </a:rPr>
              <a:t>Kernaussage: </a:t>
            </a:r>
            <a:pPr indent="0" marL="0">
              <a:buNone/>
            </a:pPr>
            <a:r>
              <a:rPr lang="en-US" sz="1600" dirty="0">
                <a:solidFill>
                  <a:schemeClr val="tx1"/>
                </a:solidFill>
              </a:rPr>
              <a:t>Nur zwei von sechs Runden waren wirtschaftlich – vom Startkapital bleiben 53.770 €.</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Was unser Unternehmen am Ende wert ist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Baustein Schlussbestand nach R6"/>
          <p:cNvSpPr/>
          <p:nvPr/>
        </p:nvSpPr>
        <p:spPr>
          <a:xfrm>
            <a:off x="640080" y="1463040"/>
            <a:ext cx="2331720" cy="2514600"/>
          </a:xfrm>
          <a:prstGeom prst="roundRect">
            <a:avLst>
              <a:gd name="adj" fmla="val 4706"/>
            </a:avLst>
          </a:prstGeom>
          <a:solidFill>
            <a:schemeClr val="bg2"/>
          </a:solidFill>
          <a:ln/>
        </p:spPr>
      </p:sp>
      <p:sp>
        <p:nvSpPr>
          <p:cNvPr id="15" name="Icon-Kreis FaCoins"/>
          <p:cNvSpPr/>
          <p:nvPr/>
        </p:nvSpPr>
        <p:spPr>
          <a:xfrm>
            <a:off x="1440180" y="1691640"/>
            <a:ext cx="731520" cy="731520"/>
          </a:xfrm>
          <a:prstGeom prst="ellipse">
            <a:avLst/>
          </a:prstGeom>
          <a:solidFill>
            <a:schemeClr val="accent1"/>
          </a:solidFill>
          <a:ln/>
        </p:spPr>
      </p:sp>
      <p:pic>
        <p:nvPicPr>
          <p:cNvPr id="16" name="Icon FaCoins" descr="Symbol Coins">    </p:cNvPr>
          <p:cNvPicPr>
            <a:picLocks noChangeAspect="1"/>
          </p:cNvPicPr>
          <p:nvPr/>
        </p:nvPicPr>
        <p:blipFill>
          <a:blip r:embed="rId1"/>
          <a:stretch>
            <a:fillRect/>
          </a:stretch>
        </p:blipFill>
        <p:spPr>
          <a:xfrm>
            <a:off x="1637690" y="1889150"/>
            <a:ext cx="336499" cy="336499"/>
          </a:xfrm>
          <a:prstGeom prst="rect">
            <a:avLst/>
          </a:prstGeom>
        </p:spPr>
      </p:pic>
      <p:sp>
        <p:nvSpPr>
          <p:cNvPr id="17" name="Text 13"/>
          <p:cNvSpPr txBox="1"/>
          <p:nvPr/>
        </p:nvSpPr>
        <p:spPr>
          <a:xfrm>
            <a:off x="64008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53.770 €</a:t>
            </a:r>
            <a:endParaRPr lang="en-US" sz="3000" dirty="0"/>
          </a:p>
        </p:txBody>
      </p:sp>
      <p:sp>
        <p:nvSpPr>
          <p:cNvPr id="18" name="Text 14"/>
          <p:cNvSpPr txBox="1"/>
          <p:nvPr/>
        </p:nvSpPr>
        <p:spPr>
          <a:xfrm>
            <a:off x="77724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Schlussbestand nach R6</a:t>
            </a:r>
            <a:endParaRPr lang="en-US" sz="1400" dirty="0"/>
          </a:p>
        </p:txBody>
      </p:sp>
      <p:sp>
        <p:nvSpPr>
          <p:cNvPr id="19" name="Text 15"/>
          <p:cNvSpPr txBox="1"/>
          <p:nvPr/>
        </p:nvSpPr>
        <p:spPr>
          <a:xfrm>
            <a:off x="297180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20" name="Baustein Maschine 1 (6 Runden genutzt)"/>
          <p:cNvSpPr/>
          <p:nvPr/>
        </p:nvSpPr>
        <p:spPr>
          <a:xfrm>
            <a:off x="3474720" y="1463040"/>
            <a:ext cx="2331720" cy="2514600"/>
          </a:xfrm>
          <a:prstGeom prst="roundRect">
            <a:avLst>
              <a:gd name="adj" fmla="val 4706"/>
            </a:avLst>
          </a:prstGeom>
          <a:solidFill>
            <a:schemeClr val="bg2"/>
          </a:solidFill>
          <a:ln/>
        </p:spPr>
      </p:sp>
      <p:sp>
        <p:nvSpPr>
          <p:cNvPr id="21" name="Icon-Kreis FaCogs"/>
          <p:cNvSpPr/>
          <p:nvPr/>
        </p:nvSpPr>
        <p:spPr>
          <a:xfrm>
            <a:off x="4274820" y="1691640"/>
            <a:ext cx="731520" cy="731520"/>
          </a:xfrm>
          <a:prstGeom prst="ellipse">
            <a:avLst/>
          </a:prstGeom>
          <a:solidFill>
            <a:schemeClr val="accent1"/>
          </a:solidFill>
          <a:ln/>
        </p:spPr>
      </p:sp>
      <p:pic>
        <p:nvPicPr>
          <p:cNvPr id="22" name="Icon FaCogs" descr="Symbol Cogs">    </p:cNvPr>
          <p:cNvPicPr>
            <a:picLocks noChangeAspect="1"/>
          </p:cNvPicPr>
          <p:nvPr/>
        </p:nvPicPr>
        <p:blipFill>
          <a:blip r:embed="rId2"/>
          <a:stretch>
            <a:fillRect/>
          </a:stretch>
        </p:blipFill>
        <p:spPr>
          <a:xfrm>
            <a:off x="4472330" y="1889150"/>
            <a:ext cx="336499" cy="336499"/>
          </a:xfrm>
          <a:prstGeom prst="rect">
            <a:avLst/>
          </a:prstGeom>
        </p:spPr>
      </p:pic>
      <p:sp>
        <p:nvSpPr>
          <p:cNvPr id="23" name="Text 18"/>
          <p:cNvSpPr txBox="1"/>
          <p:nvPr/>
        </p:nvSpPr>
        <p:spPr>
          <a:xfrm>
            <a:off x="347472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12.000 €</a:t>
            </a:r>
            <a:endParaRPr lang="en-US" sz="3000" dirty="0"/>
          </a:p>
        </p:txBody>
      </p:sp>
      <p:sp>
        <p:nvSpPr>
          <p:cNvPr id="24" name="Text 19"/>
          <p:cNvSpPr txBox="1"/>
          <p:nvPr/>
        </p:nvSpPr>
        <p:spPr>
          <a:xfrm>
            <a:off x="361188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Maschine 1 (6 Runden genutzt)</a:t>
            </a:r>
            <a:endParaRPr lang="en-US" sz="1400" dirty="0"/>
          </a:p>
        </p:txBody>
      </p:sp>
      <p:sp>
        <p:nvSpPr>
          <p:cNvPr id="25" name="Text 20"/>
          <p:cNvSpPr txBox="1"/>
          <p:nvPr/>
        </p:nvSpPr>
        <p:spPr>
          <a:xfrm>
            <a:off x="580644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26" name="Baustein Maschine 2 (4 Runden genutzt)"/>
          <p:cNvSpPr/>
          <p:nvPr/>
        </p:nvSpPr>
        <p:spPr>
          <a:xfrm>
            <a:off x="6309360" y="1463040"/>
            <a:ext cx="2331720" cy="2514600"/>
          </a:xfrm>
          <a:prstGeom prst="roundRect">
            <a:avLst>
              <a:gd name="adj" fmla="val 4706"/>
            </a:avLst>
          </a:prstGeom>
          <a:solidFill>
            <a:schemeClr val="bg2"/>
          </a:solidFill>
          <a:ln/>
        </p:spPr>
      </p:sp>
      <p:sp>
        <p:nvSpPr>
          <p:cNvPr id="27" name="Icon-Kreis FaCogs"/>
          <p:cNvSpPr/>
          <p:nvPr/>
        </p:nvSpPr>
        <p:spPr>
          <a:xfrm>
            <a:off x="7109460" y="1691640"/>
            <a:ext cx="731520" cy="731520"/>
          </a:xfrm>
          <a:prstGeom prst="ellipse">
            <a:avLst/>
          </a:prstGeom>
          <a:solidFill>
            <a:schemeClr val="accent1"/>
          </a:solidFill>
          <a:ln/>
        </p:spPr>
      </p:sp>
      <p:pic>
        <p:nvPicPr>
          <p:cNvPr id="28" name="Icon FaCogs" descr="Symbol Cogs">    </p:cNvPr>
          <p:cNvPicPr>
            <a:picLocks noChangeAspect="1"/>
          </p:cNvPicPr>
          <p:nvPr/>
        </p:nvPicPr>
        <p:blipFill>
          <a:blip r:embed="rId3"/>
          <a:stretch>
            <a:fillRect/>
          </a:stretch>
        </p:blipFill>
        <p:spPr>
          <a:xfrm>
            <a:off x="7306970" y="1889150"/>
            <a:ext cx="336499" cy="336499"/>
          </a:xfrm>
          <a:prstGeom prst="rect">
            <a:avLst/>
          </a:prstGeom>
        </p:spPr>
      </p:pic>
      <p:sp>
        <p:nvSpPr>
          <p:cNvPr id="29" name="Text 23"/>
          <p:cNvSpPr txBox="1"/>
          <p:nvPr/>
        </p:nvSpPr>
        <p:spPr>
          <a:xfrm>
            <a:off x="630936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18.000 €</a:t>
            </a:r>
            <a:endParaRPr lang="en-US" sz="3000" dirty="0"/>
          </a:p>
        </p:txBody>
      </p:sp>
      <p:sp>
        <p:nvSpPr>
          <p:cNvPr id="30" name="Text 24"/>
          <p:cNvSpPr txBox="1"/>
          <p:nvPr/>
        </p:nvSpPr>
        <p:spPr>
          <a:xfrm>
            <a:off x="644652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Maschine 2 (4 Runden genutzt)</a:t>
            </a:r>
            <a:endParaRPr lang="en-US" sz="1400" dirty="0"/>
          </a:p>
        </p:txBody>
      </p:sp>
      <p:sp>
        <p:nvSpPr>
          <p:cNvPr id="31" name="Text 25"/>
          <p:cNvSpPr txBox="1"/>
          <p:nvPr/>
        </p:nvSpPr>
        <p:spPr>
          <a:xfrm>
            <a:off x="864108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32" name="Baustein Unternehmens­verkaufswert"/>
          <p:cNvSpPr/>
          <p:nvPr/>
        </p:nvSpPr>
        <p:spPr>
          <a:xfrm>
            <a:off x="9144000" y="1463040"/>
            <a:ext cx="2331720" cy="2514600"/>
          </a:xfrm>
          <a:prstGeom prst="roundRect">
            <a:avLst>
              <a:gd name="adj" fmla="val 4706"/>
            </a:avLst>
          </a:prstGeom>
          <a:solidFill>
            <a:schemeClr val="accent1"/>
          </a:solidFill>
          <a:ln/>
        </p:spPr>
      </p:sp>
      <p:sp>
        <p:nvSpPr>
          <p:cNvPr id="33" name="Icon-Kreis FaBuilding"/>
          <p:cNvSpPr/>
          <p:nvPr/>
        </p:nvSpPr>
        <p:spPr>
          <a:xfrm>
            <a:off x="9944100" y="1691640"/>
            <a:ext cx="731520" cy="731520"/>
          </a:xfrm>
          <a:prstGeom prst="ellipse">
            <a:avLst/>
          </a:prstGeom>
          <a:solidFill>
            <a:schemeClr val="accent2"/>
          </a:solidFill>
          <a:ln/>
        </p:spPr>
      </p:sp>
      <p:pic>
        <p:nvPicPr>
          <p:cNvPr id="34" name="Icon FaBuilding" descr="Symbol Building">    </p:cNvPr>
          <p:cNvPicPr>
            <a:picLocks noChangeAspect="1"/>
          </p:cNvPicPr>
          <p:nvPr/>
        </p:nvPicPr>
        <p:blipFill>
          <a:blip r:embed="rId4"/>
          <a:stretch>
            <a:fillRect/>
          </a:stretch>
        </p:blipFill>
        <p:spPr>
          <a:xfrm>
            <a:off x="10141610" y="1889150"/>
            <a:ext cx="336499" cy="336499"/>
          </a:xfrm>
          <a:prstGeom prst="rect">
            <a:avLst/>
          </a:prstGeom>
        </p:spPr>
      </p:pic>
      <p:sp>
        <p:nvSpPr>
          <p:cNvPr id="35" name="Text 28"/>
          <p:cNvSpPr txBox="1"/>
          <p:nvPr/>
        </p:nvSpPr>
        <p:spPr>
          <a:xfrm>
            <a:off x="9144000" y="2514600"/>
            <a:ext cx="233172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83.770 €</a:t>
            </a:r>
            <a:endParaRPr lang="en-US" sz="3000" dirty="0"/>
          </a:p>
        </p:txBody>
      </p:sp>
      <p:sp>
        <p:nvSpPr>
          <p:cNvPr id="36" name="Text 29"/>
          <p:cNvSpPr txBox="1"/>
          <p:nvPr/>
        </p:nvSpPr>
        <p:spPr>
          <a:xfrm>
            <a:off x="9281160" y="3154680"/>
            <a:ext cx="2057400" cy="640080"/>
          </a:xfrm>
          <a:prstGeom prst="rect">
            <a:avLst/>
          </a:prstGeom>
          <a:noFill/>
          <a:ln/>
        </p:spPr>
        <p:txBody>
          <a:bodyPr wrap="square" lIns="0" tIns="0" rIns="0" bIns="0" rtlCol="0" anchor="ctr"/>
          <a:lstStyle/>
          <a:p>
            <a:pPr algn="ctr" indent="0" marL="0">
              <a:buNone/>
            </a:pPr>
            <a:r>
              <a:rPr lang="en-US" sz="1400" dirty="0">
                <a:solidFill>
                  <a:schemeClr val="bg2"/>
                </a:solidFill>
              </a:rPr>
              <a:t>Unternehmens­verkaufswert</a:t>
            </a:r>
            <a:endParaRPr lang="en-US" sz="1400" dirty="0"/>
          </a:p>
        </p:txBody>
      </p:sp>
      <p:sp>
        <p:nvSpPr>
          <p:cNvPr id="37" name="Text 30"/>
          <p:cNvSpPr txBox="1"/>
          <p:nvPr/>
        </p:nvSpPr>
        <p:spPr>
          <a:xfrm>
            <a:off x="640080" y="4251960"/>
            <a:ext cx="5486400" cy="365760"/>
          </a:xfrm>
          <a:prstGeom prst="rect">
            <a:avLst/>
          </a:prstGeom>
          <a:noFill/>
          <a:ln/>
        </p:spPr>
        <p:txBody>
          <a:bodyPr wrap="square" lIns="0" tIns="0" rIns="0" bIns="0" rtlCol="0" anchor="ctr"/>
          <a:lstStyle/>
          <a:p>
            <a:pPr indent="0" marL="0">
              <a:buNone/>
            </a:pPr>
            <a:r>
              <a:rPr lang="en-US" sz="1800" b="1" dirty="0">
                <a:solidFill>
                  <a:schemeClr val="tx2"/>
                </a:solidFill>
              </a:rPr>
              <a:t>Vergleich mit dem Startkapital</a:t>
            </a:r>
            <a:endParaRPr lang="en-US" sz="1800" dirty="0"/>
          </a:p>
        </p:txBody>
      </p:sp>
      <p:sp>
        <p:nvSpPr>
          <p:cNvPr id="38" name="Text 31"/>
          <p:cNvSpPr txBox="1"/>
          <p:nvPr/>
        </p:nvSpPr>
        <p:spPr>
          <a:xfrm>
            <a:off x="640080" y="4709160"/>
            <a:ext cx="1554480" cy="411480"/>
          </a:xfrm>
          <a:prstGeom prst="rect">
            <a:avLst/>
          </a:prstGeom>
          <a:noFill/>
          <a:ln/>
        </p:spPr>
        <p:txBody>
          <a:bodyPr wrap="square" lIns="0" tIns="0" rIns="0" bIns="0" rtlCol="0" anchor="ctr"/>
          <a:lstStyle/>
          <a:p>
            <a:pPr indent="0" marL="0">
              <a:buNone/>
            </a:pPr>
            <a:r>
              <a:rPr lang="en-US" sz="1400" dirty="0">
                <a:solidFill>
                  <a:schemeClr val="tx1"/>
                </a:solidFill>
              </a:rPr>
              <a:t>Startkapital</a:t>
            </a:r>
            <a:endParaRPr lang="en-US" sz="1400" dirty="0"/>
          </a:p>
        </p:txBody>
      </p:sp>
      <p:sp>
        <p:nvSpPr>
          <p:cNvPr id="39" name="Balken Startkapital"/>
          <p:cNvSpPr/>
          <p:nvPr/>
        </p:nvSpPr>
        <p:spPr>
          <a:xfrm>
            <a:off x="2194560" y="4709160"/>
            <a:ext cx="8229600" cy="411480"/>
          </a:xfrm>
          <a:prstGeom prst="roundRect">
            <a:avLst>
              <a:gd name="adj" fmla="val 13333"/>
            </a:avLst>
          </a:prstGeom>
          <a:solidFill>
            <a:schemeClr val="accent5"/>
          </a:solidFill>
          <a:ln/>
        </p:spPr>
      </p:sp>
      <p:sp>
        <p:nvSpPr>
          <p:cNvPr id="40" name="Text 33"/>
          <p:cNvSpPr txBox="1"/>
          <p:nvPr/>
        </p:nvSpPr>
        <p:spPr>
          <a:xfrm>
            <a:off x="2286000" y="4709160"/>
            <a:ext cx="1828800" cy="411480"/>
          </a:xfrm>
          <a:prstGeom prst="rect">
            <a:avLst/>
          </a:prstGeom>
          <a:noFill/>
          <a:ln/>
        </p:spPr>
        <p:txBody>
          <a:bodyPr wrap="square" lIns="0" tIns="0" rIns="0" bIns="0" rtlCol="0" anchor="ctr"/>
          <a:lstStyle/>
          <a:p>
            <a:pPr indent="0" marL="0">
              <a:buNone/>
            </a:pPr>
            <a:r>
              <a:rPr lang="en-US" sz="1400" b="1" dirty="0">
                <a:solidFill>
                  <a:schemeClr val="tx1"/>
                </a:solidFill>
              </a:rPr>
              <a:t>100.000 €</a:t>
            </a:r>
            <a:endParaRPr lang="en-US" sz="1400" dirty="0"/>
          </a:p>
        </p:txBody>
      </p:sp>
      <p:sp>
        <p:nvSpPr>
          <p:cNvPr id="41" name="Text 34"/>
          <p:cNvSpPr txBox="1"/>
          <p:nvPr/>
        </p:nvSpPr>
        <p:spPr>
          <a:xfrm>
            <a:off x="640080" y="5257800"/>
            <a:ext cx="1554480" cy="411480"/>
          </a:xfrm>
          <a:prstGeom prst="rect">
            <a:avLst/>
          </a:prstGeom>
          <a:noFill/>
          <a:ln/>
        </p:spPr>
        <p:txBody>
          <a:bodyPr wrap="square" lIns="0" tIns="0" rIns="0" bIns="0" rtlCol="0" anchor="ctr"/>
          <a:lstStyle/>
          <a:p>
            <a:pPr indent="0" marL="0">
              <a:buNone/>
            </a:pPr>
            <a:r>
              <a:rPr lang="en-US" sz="1400" dirty="0">
                <a:solidFill>
                  <a:schemeClr val="tx1"/>
                </a:solidFill>
              </a:rPr>
              <a:t>Verkaufswert</a:t>
            </a:r>
            <a:endParaRPr lang="en-US" sz="1400" dirty="0"/>
          </a:p>
        </p:txBody>
      </p:sp>
      <p:sp>
        <p:nvSpPr>
          <p:cNvPr id="42" name="Balken Verkaufswert"/>
          <p:cNvSpPr/>
          <p:nvPr/>
        </p:nvSpPr>
        <p:spPr>
          <a:xfrm>
            <a:off x="2194560" y="5257800"/>
            <a:ext cx="6893936" cy="411480"/>
          </a:xfrm>
          <a:prstGeom prst="roundRect">
            <a:avLst>
              <a:gd name="adj" fmla="val 13333"/>
            </a:avLst>
          </a:prstGeom>
          <a:solidFill>
            <a:schemeClr val="accent2"/>
          </a:solidFill>
          <a:ln/>
        </p:spPr>
      </p:sp>
      <p:sp>
        <p:nvSpPr>
          <p:cNvPr id="43" name="Text 36"/>
          <p:cNvSpPr txBox="1"/>
          <p:nvPr/>
        </p:nvSpPr>
        <p:spPr>
          <a:xfrm>
            <a:off x="2286000" y="5257800"/>
            <a:ext cx="1828800" cy="411480"/>
          </a:xfrm>
          <a:prstGeom prst="rect">
            <a:avLst/>
          </a:prstGeom>
          <a:noFill/>
          <a:ln/>
        </p:spPr>
        <p:txBody>
          <a:bodyPr wrap="square" lIns="0" tIns="0" rIns="0" bIns="0" rtlCol="0" anchor="ctr"/>
          <a:lstStyle/>
          <a:p>
            <a:pPr indent="0" marL="0">
              <a:buNone/>
            </a:pPr>
            <a:r>
              <a:rPr lang="en-US" sz="1400" b="1" dirty="0">
                <a:solidFill>
                  <a:schemeClr val="bg1"/>
                </a:solidFill>
              </a:rPr>
              <a:t>83.770 €</a:t>
            </a:r>
            <a:endParaRPr lang="en-US" sz="1400" dirty="0"/>
          </a:p>
        </p:txBody>
      </p:sp>
      <p:sp>
        <p:nvSpPr>
          <p:cNvPr id="44" name="Text 37"/>
          <p:cNvSpPr txBox="1"/>
          <p:nvPr/>
        </p:nvSpPr>
        <p:spPr>
          <a:xfrm>
            <a:off x="10515600" y="4663440"/>
            <a:ext cx="1188720" cy="105156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−16.230 €</a:t>
            </a:r>
            <a:endParaRPr lang="en-US" sz="2200" dirty="0"/>
          </a:p>
          <a:p>
            <a:pPr algn="ctr" indent="0" marL="0">
              <a:buNone/>
            </a:pPr>
            <a:r>
              <a:rPr lang="en-US" sz="1400" dirty="0">
                <a:solidFill>
                  <a:schemeClr val="tx1"/>
                </a:solidFill>
              </a:rPr>
              <a:t>(−16,2 %)</a:t>
            </a:r>
            <a:endParaRPr lang="en-US" sz="22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Reflexion: Würden wir wieder so entscheiden?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2"/>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arte Das lief gut"/>
          <p:cNvSpPr/>
          <p:nvPr/>
        </p:nvSpPr>
        <p:spPr>
          <a:xfrm>
            <a:off x="640080" y="1463040"/>
            <a:ext cx="3520440" cy="3520440"/>
          </a:xfrm>
          <a:prstGeom prst="roundRect">
            <a:avLst>
              <a:gd name="adj" fmla="val 3117"/>
            </a:avLst>
          </a:prstGeom>
          <a:solidFill>
            <a:schemeClr val="bg2"/>
          </a:solidFill>
          <a:ln/>
        </p:spPr>
      </p:sp>
      <p:sp>
        <p:nvSpPr>
          <p:cNvPr id="15" name="Icon-Kreis FaThumbsUp"/>
          <p:cNvSpPr/>
          <p:nvPr/>
        </p:nvSpPr>
        <p:spPr>
          <a:xfrm>
            <a:off x="914400" y="1691640"/>
            <a:ext cx="640080" cy="640080"/>
          </a:xfrm>
          <a:prstGeom prst="ellipse">
            <a:avLst/>
          </a:prstGeom>
          <a:solidFill>
            <a:schemeClr val="accent3"/>
          </a:solidFill>
          <a:ln/>
        </p:spPr>
      </p:sp>
      <p:pic>
        <p:nvPicPr>
          <p:cNvPr id="16" name="Icon FaThumbsUp" descr="Symbol ThumbsUp">    </p:cNvPr>
          <p:cNvPicPr>
            <a:picLocks noChangeAspect="1"/>
          </p:cNvPicPr>
          <p:nvPr/>
        </p:nvPicPr>
        <p:blipFill>
          <a:blip r:embed="rId1"/>
          <a:stretch>
            <a:fillRect/>
          </a:stretch>
        </p:blipFill>
        <p:spPr>
          <a:xfrm>
            <a:off x="1087222" y="1864462"/>
            <a:ext cx="294437" cy="294437"/>
          </a:xfrm>
          <a:prstGeom prst="rect">
            <a:avLst/>
          </a:prstGeom>
        </p:spPr>
      </p:pic>
      <p:sp>
        <p:nvSpPr>
          <p:cNvPr id="17" name="Text 13"/>
          <p:cNvSpPr txBox="1"/>
          <p:nvPr/>
        </p:nvSpPr>
        <p:spPr>
          <a:xfrm>
            <a:off x="173736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lief gut</a:t>
            </a:r>
            <a:endParaRPr lang="en-US" sz="1900" dirty="0"/>
          </a:p>
        </p:txBody>
      </p:sp>
      <p:sp>
        <p:nvSpPr>
          <p:cNvPr id="18" name="Text 14"/>
          <p:cNvSpPr txBox="1"/>
          <p:nvPr/>
        </p:nvSpPr>
        <p:spPr>
          <a:xfrm>
            <a:off x="91440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Vorsichtiger Start mit 1 Maschine – wie empfohlen</a:t>
            </a:r>
            <a:endParaRPr lang="en-US" sz="1600" dirty="0"/>
          </a:p>
          <a:p>
            <a:pPr marL="203200" indent="-203200">
              <a:spcAft>
                <a:spcPts val="800"/>
              </a:spcAft>
              <a:buSzPct val="100000"/>
              <a:buChar char="•"/>
            </a:pPr>
            <a:r>
              <a:rPr lang="en-US" sz="1600" dirty="0">
                <a:solidFill>
                  <a:schemeClr val="tx1"/>
                </a:solidFill>
              </a:rPr>
              <a:t>Nach R2 schnell reagiert: 5.900 € → beste Runde (1,48)</a:t>
            </a:r>
            <a:endParaRPr lang="en-US" sz="1600" dirty="0"/>
          </a:p>
        </p:txBody>
      </p:sp>
      <p:sp>
        <p:nvSpPr>
          <p:cNvPr id="19" name="Karte Das lief schlechter"/>
          <p:cNvSpPr/>
          <p:nvPr/>
        </p:nvSpPr>
        <p:spPr>
          <a:xfrm>
            <a:off x="4320540" y="1463040"/>
            <a:ext cx="3520440" cy="3520440"/>
          </a:xfrm>
          <a:prstGeom prst="roundRect">
            <a:avLst>
              <a:gd name="adj" fmla="val 3117"/>
            </a:avLst>
          </a:prstGeom>
          <a:solidFill>
            <a:schemeClr val="bg2"/>
          </a:solidFill>
          <a:ln/>
        </p:spPr>
      </p:sp>
      <p:sp>
        <p:nvSpPr>
          <p:cNvPr id="20" name="Icon-Kreis FaThumbsDown"/>
          <p:cNvSpPr/>
          <p:nvPr/>
        </p:nvSpPr>
        <p:spPr>
          <a:xfrm>
            <a:off x="4594860" y="1691640"/>
            <a:ext cx="640080" cy="640080"/>
          </a:xfrm>
          <a:prstGeom prst="ellipse">
            <a:avLst/>
          </a:prstGeom>
          <a:solidFill>
            <a:schemeClr val="accent2"/>
          </a:solidFill>
          <a:ln/>
        </p:spPr>
      </p:sp>
      <p:pic>
        <p:nvPicPr>
          <p:cNvPr id="21" name="Icon FaThumbsDown" descr="Symbol ThumbsDown">    </p:cNvPr>
          <p:cNvPicPr>
            <a:picLocks noChangeAspect="1"/>
          </p:cNvPicPr>
          <p:nvPr/>
        </p:nvPicPr>
        <p:blipFill>
          <a:blip r:embed="rId2"/>
          <a:stretch>
            <a:fillRect/>
          </a:stretch>
        </p:blipFill>
        <p:spPr>
          <a:xfrm>
            <a:off x="4767682" y="1864462"/>
            <a:ext cx="294437" cy="294437"/>
          </a:xfrm>
          <a:prstGeom prst="rect">
            <a:avLst/>
          </a:prstGeom>
        </p:spPr>
      </p:pic>
      <p:sp>
        <p:nvSpPr>
          <p:cNvPr id="22" name="Text 17"/>
          <p:cNvSpPr txBox="1"/>
          <p:nvPr/>
        </p:nvSpPr>
        <p:spPr>
          <a:xfrm>
            <a:off x="541782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lief schlechter</a:t>
            </a:r>
            <a:endParaRPr lang="en-US" sz="1900" dirty="0"/>
          </a:p>
        </p:txBody>
      </p:sp>
      <p:sp>
        <p:nvSpPr>
          <p:cNvPr id="23" name="Text 18"/>
          <p:cNvSpPr txBox="1"/>
          <p:nvPr/>
        </p:nvSpPr>
        <p:spPr>
          <a:xfrm>
            <a:off x="459486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R2: Maschine für 30.000 € gekauft, ohne Personal ungenutzt</a:t>
            </a:r>
            <a:endParaRPr lang="en-US" sz="1600" dirty="0"/>
          </a:p>
          <a:p>
            <a:pPr marL="203200" indent="-203200">
              <a:spcAft>
                <a:spcPts val="800"/>
              </a:spcAft>
              <a:buSzPct val="100000"/>
              <a:buChar char="•"/>
            </a:pPr>
            <a:r>
              <a:rPr lang="en-US" sz="1600" dirty="0">
                <a:solidFill>
                  <a:schemeClr val="tx1"/>
                </a:solidFill>
              </a:rPr>
              <a:t>R4/R5: 1 Palette, aber je 13.000 € Fixkosten</a:t>
            </a:r>
            <a:endParaRPr lang="en-US" sz="1600" dirty="0"/>
          </a:p>
          <a:p>
            <a:pPr marL="203200" indent="-203200">
              <a:spcAft>
                <a:spcPts val="800"/>
              </a:spcAft>
              <a:buSzPct val="100000"/>
              <a:buChar char="•"/>
            </a:pPr>
            <a:r>
              <a:rPr lang="en-US" sz="1600" dirty="0">
                <a:solidFill>
                  <a:schemeClr val="tx1"/>
                </a:solidFill>
              </a:rPr>
              <a:t>R1: 100 % verkauft – Preis vermutlich zu niedrig</a:t>
            </a:r>
            <a:endParaRPr lang="en-US" sz="1600" dirty="0"/>
          </a:p>
        </p:txBody>
      </p:sp>
      <p:sp>
        <p:nvSpPr>
          <p:cNvPr id="24" name="Karte Das machen wir anders"/>
          <p:cNvSpPr/>
          <p:nvPr/>
        </p:nvSpPr>
        <p:spPr>
          <a:xfrm>
            <a:off x="8001000" y="1463040"/>
            <a:ext cx="3520440" cy="3520440"/>
          </a:xfrm>
          <a:prstGeom prst="roundRect">
            <a:avLst>
              <a:gd name="adj" fmla="val 3117"/>
            </a:avLst>
          </a:prstGeom>
          <a:solidFill>
            <a:schemeClr val="bg2"/>
          </a:solidFill>
          <a:ln/>
        </p:spPr>
      </p:sp>
      <p:sp>
        <p:nvSpPr>
          <p:cNvPr id="25" name="Icon-Kreis FaExchangeAlt"/>
          <p:cNvSpPr/>
          <p:nvPr/>
        </p:nvSpPr>
        <p:spPr>
          <a:xfrm>
            <a:off x="8275320" y="1691640"/>
            <a:ext cx="640080" cy="640080"/>
          </a:xfrm>
          <a:prstGeom prst="ellipse">
            <a:avLst/>
          </a:prstGeom>
          <a:solidFill>
            <a:schemeClr val="accent1"/>
          </a:solidFill>
          <a:ln/>
        </p:spPr>
      </p:sp>
      <p:pic>
        <p:nvPicPr>
          <p:cNvPr id="26" name="Icon FaExchangeAlt" descr="Symbol ExchangeAlt">    </p:cNvPr>
          <p:cNvPicPr>
            <a:picLocks noChangeAspect="1"/>
          </p:cNvPicPr>
          <p:nvPr/>
        </p:nvPicPr>
        <p:blipFill>
          <a:blip r:embed="rId3"/>
          <a:stretch>
            <a:fillRect/>
          </a:stretch>
        </p:blipFill>
        <p:spPr>
          <a:xfrm>
            <a:off x="8448142" y="1864462"/>
            <a:ext cx="294437" cy="294437"/>
          </a:xfrm>
          <a:prstGeom prst="rect">
            <a:avLst/>
          </a:prstGeom>
        </p:spPr>
      </p:pic>
      <p:sp>
        <p:nvSpPr>
          <p:cNvPr id="27" name="Text 21"/>
          <p:cNvSpPr txBox="1"/>
          <p:nvPr/>
        </p:nvSpPr>
        <p:spPr>
          <a:xfrm>
            <a:off x="909828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machen wir anders</a:t>
            </a:r>
            <a:endParaRPr lang="en-US" sz="1900" dirty="0"/>
          </a:p>
        </p:txBody>
      </p:sp>
      <p:sp>
        <p:nvSpPr>
          <p:cNvPr id="28" name="Text 22"/>
          <p:cNvSpPr txBox="1"/>
          <p:nvPr/>
        </p:nvSpPr>
        <p:spPr>
          <a:xfrm>
            <a:off x="827532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Maschine und Personal immer zusammen planen</a:t>
            </a:r>
            <a:endParaRPr lang="en-US" sz="1600" dirty="0"/>
          </a:p>
          <a:p>
            <a:pPr marL="203200" indent="-203200">
              <a:spcAft>
                <a:spcPts val="800"/>
              </a:spcAft>
              <a:buSzPct val="100000"/>
              <a:buChar char="•"/>
            </a:pPr>
            <a:r>
              <a:rPr lang="en-US" sz="1600" dirty="0">
                <a:solidFill>
                  <a:schemeClr val="tx1"/>
                </a:solidFill>
              </a:rPr>
              <a:t>Schwache Runden: Personal reduzieren (spart 4.000 € je Person) oder mit mittlerem Preis weiter produzieren</a:t>
            </a:r>
            <a:endParaRPr lang="en-US" sz="1600" dirty="0"/>
          </a:p>
        </p:txBody>
      </p:sp>
      <p:sp>
        <p:nvSpPr>
          <p:cNvPr id="29" name="Fazit"/>
          <p:cNvSpPr/>
          <p:nvPr/>
        </p:nvSpPr>
        <p:spPr>
          <a:xfrm>
            <a:off x="640080" y="5166360"/>
            <a:ext cx="10881360" cy="914400"/>
          </a:xfrm>
          <a:prstGeom prst="roundRect">
            <a:avLst>
              <a:gd name="adj" fmla="val 12000"/>
            </a:avLst>
          </a:prstGeom>
          <a:solidFill>
            <a:schemeClr val="accent1"/>
          </a:solidFill>
          <a:ln/>
        </p:spPr>
      </p:sp>
      <p:sp>
        <p:nvSpPr>
          <p:cNvPr id="30" name="Text 24"/>
          <p:cNvSpPr txBox="1"/>
          <p:nvPr/>
        </p:nvSpPr>
        <p:spPr>
          <a:xfrm>
            <a:off x="914400" y="5166360"/>
            <a:ext cx="10424160" cy="914400"/>
          </a:xfrm>
          <a:prstGeom prst="rect">
            <a:avLst/>
          </a:prstGeom>
          <a:noFill/>
          <a:ln/>
        </p:spPr>
        <p:txBody>
          <a:bodyPr wrap="square" lIns="0" tIns="0" rIns="0" bIns="0" rtlCol="0" anchor="ctr"/>
          <a:lstStyle/>
          <a:p>
            <a:pPr indent="0" marL="0">
              <a:buNone/>
            </a:pPr>
            <a:r>
              <a:rPr lang="en-US" sz="1700" b="1" dirty="0">
                <a:solidFill>
                  <a:schemeClr val="accent2"/>
                </a:solidFill>
              </a:rPr>
              <a:t>Unser Fazit: </a:t>
            </a:r>
            <a:pPr indent="0" marL="0">
              <a:buNone/>
            </a:pPr>
            <a:r>
              <a:rPr lang="en-US" sz="1700" dirty="0">
                <a:solidFill>
                  <a:schemeClr val="bg1"/>
                </a:solidFill>
              </a:rPr>
              <a:t>Der Preis war unser stärkster Hebel – und Fixkosten laufen weiter, auch wenn man kaum verkauft.</a:t>
            </a:r>
            <a:endParaRPr lang="en-US" sz="17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Bezug zur Gründung: Was im Spiel fehlte</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2"/>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Gründung</a:t>
            </a:r>
            <a:endParaRPr lang="en-US" sz="1100" dirty="0"/>
          </a:p>
        </p:txBody>
      </p:sp>
      <p:sp>
        <p:nvSpPr>
          <p:cNvPr id="14" name="Text 11"/>
          <p:cNvSpPr txBox="1"/>
          <p:nvPr/>
        </p:nvSpPr>
        <p:spPr>
          <a:xfrm>
            <a:off x="640080" y="1417320"/>
            <a:ext cx="3840480" cy="365760"/>
          </a:xfrm>
          <a:prstGeom prst="rect">
            <a:avLst/>
          </a:prstGeom>
          <a:noFill/>
          <a:ln/>
        </p:spPr>
        <p:txBody>
          <a:bodyPr wrap="square" lIns="0" tIns="0" rIns="0" bIns="0" rtlCol="0" anchor="ctr"/>
          <a:lstStyle/>
          <a:p>
            <a:pPr indent="0" marL="0">
              <a:buNone/>
            </a:pPr>
            <a:r>
              <a:rPr lang="en-US" sz="1600" b="1" dirty="0">
                <a:solidFill>
                  <a:schemeClr val="accent4"/>
                </a:solidFill>
              </a:rPr>
              <a:t>Nicht im Spiel berücksichtigt</a:t>
            </a:r>
            <a:endParaRPr lang="en-US" sz="1600" dirty="0"/>
          </a:p>
        </p:txBody>
      </p:sp>
      <p:sp>
        <p:nvSpPr>
          <p:cNvPr id="15" name="Fehlt Mehrweg &amp; Pfand"/>
          <p:cNvSpPr/>
          <p:nvPr/>
        </p:nvSpPr>
        <p:spPr>
          <a:xfrm>
            <a:off x="640080" y="1874520"/>
            <a:ext cx="3840480" cy="868680"/>
          </a:xfrm>
          <a:prstGeom prst="roundRect">
            <a:avLst>
              <a:gd name="adj" fmla="val 12632"/>
            </a:avLst>
          </a:prstGeom>
          <a:solidFill>
            <a:schemeClr val="bg2"/>
          </a:solidFill>
          <a:ln/>
        </p:spPr>
      </p:sp>
      <p:sp>
        <p:nvSpPr>
          <p:cNvPr id="16" name="Icon-Kreis FaRecycle"/>
          <p:cNvSpPr/>
          <p:nvPr/>
        </p:nvSpPr>
        <p:spPr>
          <a:xfrm>
            <a:off x="822960" y="2011680"/>
            <a:ext cx="594360" cy="594360"/>
          </a:xfrm>
          <a:prstGeom prst="ellipse">
            <a:avLst/>
          </a:prstGeom>
          <a:solidFill>
            <a:schemeClr val="accent1"/>
          </a:solidFill>
          <a:ln/>
        </p:spPr>
      </p:sp>
      <p:pic>
        <p:nvPicPr>
          <p:cNvPr id="17" name="Icon FaRecycle" descr="Symbol Recycle">    </p:cNvPr>
          <p:cNvPicPr>
            <a:picLocks noChangeAspect="1"/>
          </p:cNvPicPr>
          <p:nvPr/>
        </p:nvPicPr>
        <p:blipFill>
          <a:blip r:embed="rId1"/>
          <a:stretch>
            <a:fillRect/>
          </a:stretch>
        </p:blipFill>
        <p:spPr>
          <a:xfrm>
            <a:off x="983437" y="2172157"/>
            <a:ext cx="273406" cy="273406"/>
          </a:xfrm>
          <a:prstGeom prst="rect">
            <a:avLst/>
          </a:prstGeom>
        </p:spPr>
      </p:pic>
      <p:sp>
        <p:nvSpPr>
          <p:cNvPr id="18" name="Text 14"/>
          <p:cNvSpPr txBox="1"/>
          <p:nvPr/>
        </p:nvSpPr>
        <p:spPr>
          <a:xfrm>
            <a:off x="1600200" y="1874520"/>
            <a:ext cx="2743200" cy="868680"/>
          </a:xfrm>
          <a:prstGeom prst="rect">
            <a:avLst/>
          </a:prstGeom>
          <a:noFill/>
          <a:ln/>
        </p:spPr>
        <p:txBody>
          <a:bodyPr wrap="square" lIns="0" tIns="0" rIns="0" bIns="0" rtlCol="0" anchor="ctr"/>
          <a:lstStyle/>
          <a:p>
            <a:pPr indent="0" marL="0">
              <a:buNone/>
            </a:pPr>
            <a:r>
              <a:rPr lang="en-US" sz="1600" b="1" dirty="0">
                <a:solidFill>
                  <a:schemeClr val="tx2"/>
                </a:solidFill>
              </a:rPr>
              <a:t>Mehrweg &amp; Pfand</a:t>
            </a:r>
            <a:endParaRPr lang="en-US" sz="1600" dirty="0"/>
          </a:p>
        </p:txBody>
      </p:sp>
      <p:sp>
        <p:nvSpPr>
          <p:cNvPr id="19" name="Fehlt Zielgruppe &amp; Persona Jasper"/>
          <p:cNvSpPr/>
          <p:nvPr/>
        </p:nvSpPr>
        <p:spPr>
          <a:xfrm>
            <a:off x="640080" y="2898648"/>
            <a:ext cx="3840480" cy="868680"/>
          </a:xfrm>
          <a:prstGeom prst="roundRect">
            <a:avLst>
              <a:gd name="adj" fmla="val 12632"/>
            </a:avLst>
          </a:prstGeom>
          <a:solidFill>
            <a:schemeClr val="bg2"/>
          </a:solidFill>
          <a:ln/>
        </p:spPr>
      </p:sp>
      <p:sp>
        <p:nvSpPr>
          <p:cNvPr id="20" name="Icon-Kreis FaUserAlt"/>
          <p:cNvSpPr/>
          <p:nvPr/>
        </p:nvSpPr>
        <p:spPr>
          <a:xfrm>
            <a:off x="822960" y="3035808"/>
            <a:ext cx="594360" cy="594360"/>
          </a:xfrm>
          <a:prstGeom prst="ellipse">
            <a:avLst/>
          </a:prstGeom>
          <a:solidFill>
            <a:schemeClr val="accent1"/>
          </a:solidFill>
          <a:ln/>
        </p:spPr>
      </p:sp>
      <p:pic>
        <p:nvPicPr>
          <p:cNvPr id="21" name="Icon FaUserAlt" descr="Symbol UserAlt">    </p:cNvPr>
          <p:cNvPicPr>
            <a:picLocks noChangeAspect="1"/>
          </p:cNvPicPr>
          <p:nvPr/>
        </p:nvPicPr>
        <p:blipFill>
          <a:blip r:embed="rId2"/>
          <a:stretch>
            <a:fillRect/>
          </a:stretch>
        </p:blipFill>
        <p:spPr>
          <a:xfrm>
            <a:off x="983437" y="3196285"/>
            <a:ext cx="273406" cy="273406"/>
          </a:xfrm>
          <a:prstGeom prst="rect">
            <a:avLst/>
          </a:prstGeom>
        </p:spPr>
      </p:pic>
      <p:sp>
        <p:nvSpPr>
          <p:cNvPr id="22" name="Text 17"/>
          <p:cNvSpPr txBox="1"/>
          <p:nvPr/>
        </p:nvSpPr>
        <p:spPr>
          <a:xfrm>
            <a:off x="1600200" y="2898648"/>
            <a:ext cx="2743200" cy="868680"/>
          </a:xfrm>
          <a:prstGeom prst="rect">
            <a:avLst/>
          </a:prstGeom>
          <a:noFill/>
          <a:ln/>
        </p:spPr>
        <p:txBody>
          <a:bodyPr wrap="square" lIns="0" tIns="0" rIns="0" bIns="0" rtlCol="0" anchor="ctr"/>
          <a:lstStyle/>
          <a:p>
            <a:pPr indent="0" marL="0">
              <a:buNone/>
            </a:pPr>
            <a:r>
              <a:rPr lang="en-US" sz="1600" b="1" dirty="0">
                <a:solidFill>
                  <a:schemeClr val="tx2"/>
                </a:solidFill>
              </a:rPr>
              <a:t>Zielgruppe &amp; Persona Jasper</a:t>
            </a:r>
            <a:endParaRPr lang="en-US" sz="1600" dirty="0"/>
          </a:p>
        </p:txBody>
      </p:sp>
      <p:sp>
        <p:nvSpPr>
          <p:cNvPr id="23" name="Fehlt Social Media &amp; Onlineshop"/>
          <p:cNvSpPr/>
          <p:nvPr/>
        </p:nvSpPr>
        <p:spPr>
          <a:xfrm>
            <a:off x="640080" y="3922776"/>
            <a:ext cx="3840480" cy="868680"/>
          </a:xfrm>
          <a:prstGeom prst="roundRect">
            <a:avLst>
              <a:gd name="adj" fmla="val 12632"/>
            </a:avLst>
          </a:prstGeom>
          <a:solidFill>
            <a:schemeClr val="bg2"/>
          </a:solidFill>
          <a:ln/>
        </p:spPr>
      </p:sp>
      <p:sp>
        <p:nvSpPr>
          <p:cNvPr id="24" name="Icon-Kreis FaBullhorn"/>
          <p:cNvSpPr/>
          <p:nvPr/>
        </p:nvSpPr>
        <p:spPr>
          <a:xfrm>
            <a:off x="822960" y="4059936"/>
            <a:ext cx="594360" cy="594360"/>
          </a:xfrm>
          <a:prstGeom prst="ellipse">
            <a:avLst/>
          </a:prstGeom>
          <a:solidFill>
            <a:schemeClr val="accent1"/>
          </a:solidFill>
          <a:ln/>
        </p:spPr>
      </p:sp>
      <p:pic>
        <p:nvPicPr>
          <p:cNvPr id="25" name="Icon FaBullhorn" descr="Symbol Bullhorn">    </p:cNvPr>
          <p:cNvPicPr>
            <a:picLocks noChangeAspect="1"/>
          </p:cNvPicPr>
          <p:nvPr/>
        </p:nvPicPr>
        <p:blipFill>
          <a:blip r:embed="rId3"/>
          <a:stretch>
            <a:fillRect/>
          </a:stretch>
        </p:blipFill>
        <p:spPr>
          <a:xfrm>
            <a:off x="983437" y="4220413"/>
            <a:ext cx="273406" cy="273406"/>
          </a:xfrm>
          <a:prstGeom prst="rect">
            <a:avLst/>
          </a:prstGeom>
        </p:spPr>
      </p:pic>
      <p:sp>
        <p:nvSpPr>
          <p:cNvPr id="26" name="Text 20"/>
          <p:cNvSpPr txBox="1"/>
          <p:nvPr/>
        </p:nvSpPr>
        <p:spPr>
          <a:xfrm>
            <a:off x="1600200" y="3922776"/>
            <a:ext cx="2743200" cy="868680"/>
          </a:xfrm>
          <a:prstGeom prst="rect">
            <a:avLst/>
          </a:prstGeom>
          <a:noFill/>
          <a:ln/>
        </p:spPr>
        <p:txBody>
          <a:bodyPr wrap="square" lIns="0" tIns="0" rIns="0" bIns="0" rtlCol="0" anchor="ctr"/>
          <a:lstStyle/>
          <a:p>
            <a:pPr indent="0" marL="0">
              <a:buNone/>
            </a:pPr>
            <a:r>
              <a:rPr lang="en-US" sz="1600" b="1" dirty="0">
                <a:solidFill>
                  <a:schemeClr val="tx2"/>
                </a:solidFill>
              </a:rPr>
              <a:t>Social Media &amp; Onlineshop</a:t>
            </a:r>
            <a:endParaRPr lang="en-US" sz="1600" dirty="0"/>
          </a:p>
        </p:txBody>
      </p:sp>
      <p:sp>
        <p:nvSpPr>
          <p:cNvPr id="27" name="Fehlt Besondere Sorte Tamarinde"/>
          <p:cNvSpPr/>
          <p:nvPr/>
        </p:nvSpPr>
        <p:spPr>
          <a:xfrm>
            <a:off x="640080" y="4946904"/>
            <a:ext cx="3840480" cy="868680"/>
          </a:xfrm>
          <a:prstGeom prst="roundRect">
            <a:avLst>
              <a:gd name="adj" fmla="val 12632"/>
            </a:avLst>
          </a:prstGeom>
          <a:solidFill>
            <a:schemeClr val="bg2"/>
          </a:solidFill>
          <a:ln/>
        </p:spPr>
      </p:sp>
      <p:sp>
        <p:nvSpPr>
          <p:cNvPr id="28" name="Icon-Kreis FaLeaf"/>
          <p:cNvSpPr/>
          <p:nvPr/>
        </p:nvSpPr>
        <p:spPr>
          <a:xfrm>
            <a:off x="822960" y="5084064"/>
            <a:ext cx="594360" cy="594360"/>
          </a:xfrm>
          <a:prstGeom prst="ellipse">
            <a:avLst/>
          </a:prstGeom>
          <a:solidFill>
            <a:schemeClr val="accent1"/>
          </a:solidFill>
          <a:ln/>
        </p:spPr>
      </p:sp>
      <p:pic>
        <p:nvPicPr>
          <p:cNvPr id="29" name="Icon FaLeaf" descr="Symbol Leaf">    </p:cNvPr>
          <p:cNvPicPr>
            <a:picLocks noChangeAspect="1"/>
          </p:cNvPicPr>
          <p:nvPr/>
        </p:nvPicPr>
        <p:blipFill>
          <a:blip r:embed="rId4"/>
          <a:stretch>
            <a:fillRect/>
          </a:stretch>
        </p:blipFill>
        <p:spPr>
          <a:xfrm>
            <a:off x="983437" y="5244541"/>
            <a:ext cx="273406" cy="273406"/>
          </a:xfrm>
          <a:prstGeom prst="rect">
            <a:avLst/>
          </a:prstGeom>
        </p:spPr>
      </p:pic>
      <p:sp>
        <p:nvSpPr>
          <p:cNvPr id="30" name="Text 23"/>
          <p:cNvSpPr txBox="1"/>
          <p:nvPr/>
        </p:nvSpPr>
        <p:spPr>
          <a:xfrm>
            <a:off x="1600200" y="4946904"/>
            <a:ext cx="2743200" cy="868680"/>
          </a:xfrm>
          <a:prstGeom prst="rect">
            <a:avLst/>
          </a:prstGeom>
          <a:noFill/>
          <a:ln/>
        </p:spPr>
        <p:txBody>
          <a:bodyPr wrap="square" lIns="0" tIns="0" rIns="0" bIns="0" rtlCol="0" anchor="ctr"/>
          <a:lstStyle/>
          <a:p>
            <a:pPr indent="0" marL="0">
              <a:buNone/>
            </a:pPr>
            <a:r>
              <a:rPr lang="en-US" sz="1600" b="1" dirty="0">
                <a:solidFill>
                  <a:schemeClr val="tx2"/>
                </a:solidFill>
              </a:rPr>
              <a:t>Besondere Sorte Tamarinde</a:t>
            </a:r>
            <a:endParaRPr lang="en-US" sz="1600" dirty="0"/>
          </a:p>
        </p:txBody>
      </p:sp>
      <p:sp>
        <p:nvSpPr>
          <p:cNvPr id="31" name="Text 24"/>
          <p:cNvSpPr txBox="1"/>
          <p:nvPr/>
        </p:nvSpPr>
        <p:spPr>
          <a:xfrm>
            <a:off x="4526280" y="3017520"/>
            <a:ext cx="457200" cy="914400"/>
          </a:xfrm>
          <a:prstGeom prst="rect">
            <a:avLst/>
          </a:prstGeom>
          <a:noFill/>
          <a:ln/>
        </p:spPr>
        <p:txBody>
          <a:bodyPr wrap="square" lIns="0" tIns="0" rIns="0" bIns="0" rtlCol="0" anchor="ctr"/>
          <a:lstStyle/>
          <a:p>
            <a:pPr algn="ctr" indent="0" marL="0">
              <a:buNone/>
            </a:pPr>
            <a:r>
              <a:rPr lang="en-US" sz="4400" b="1" dirty="0">
                <a:solidFill>
                  <a:schemeClr val="accent2"/>
                </a:solidFill>
              </a:rPr>
              <a:t>›</a:t>
            </a:r>
            <a:endParaRPr lang="en-US" sz="4400" dirty="0"/>
          </a:p>
        </p:txBody>
      </p:sp>
      <p:sp>
        <p:nvSpPr>
          <p:cNvPr id="32" name="Karte Auswirkung"/>
          <p:cNvSpPr/>
          <p:nvPr/>
        </p:nvSpPr>
        <p:spPr>
          <a:xfrm>
            <a:off x="5029200" y="1874520"/>
            <a:ext cx="3108960" cy="3931920"/>
          </a:xfrm>
          <a:prstGeom prst="roundRect">
            <a:avLst>
              <a:gd name="adj" fmla="val 3529"/>
            </a:avLst>
          </a:prstGeom>
          <a:solidFill>
            <a:schemeClr val="bg2"/>
          </a:solidFill>
          <a:ln/>
        </p:spPr>
      </p:sp>
      <p:sp>
        <p:nvSpPr>
          <p:cNvPr id="33" name="Icon-Kreis FaChartLine"/>
          <p:cNvSpPr/>
          <p:nvPr/>
        </p:nvSpPr>
        <p:spPr>
          <a:xfrm>
            <a:off x="5303520" y="2148840"/>
            <a:ext cx="640080" cy="640080"/>
          </a:xfrm>
          <a:prstGeom prst="ellipse">
            <a:avLst/>
          </a:prstGeom>
          <a:solidFill>
            <a:schemeClr val="accent1"/>
          </a:solidFill>
          <a:ln/>
        </p:spPr>
      </p:sp>
      <p:pic>
        <p:nvPicPr>
          <p:cNvPr id="34" name="Icon FaChartLine" descr="Symbol ChartLine">    </p:cNvPr>
          <p:cNvPicPr>
            <a:picLocks noChangeAspect="1"/>
          </p:cNvPicPr>
          <p:nvPr/>
        </p:nvPicPr>
        <p:blipFill>
          <a:blip r:embed="rId5"/>
          <a:stretch>
            <a:fillRect/>
          </a:stretch>
        </p:blipFill>
        <p:spPr>
          <a:xfrm>
            <a:off x="5476342" y="2321662"/>
            <a:ext cx="294437" cy="294437"/>
          </a:xfrm>
          <a:prstGeom prst="rect">
            <a:avLst/>
          </a:prstGeom>
        </p:spPr>
      </p:pic>
      <p:sp>
        <p:nvSpPr>
          <p:cNvPr id="35" name="Text 27"/>
          <p:cNvSpPr txBox="1"/>
          <p:nvPr/>
        </p:nvSpPr>
        <p:spPr>
          <a:xfrm>
            <a:off x="6126480" y="2148840"/>
            <a:ext cx="1783080" cy="640080"/>
          </a:xfrm>
          <a:prstGeom prst="rect">
            <a:avLst/>
          </a:prstGeom>
          <a:noFill/>
          <a:ln/>
        </p:spPr>
        <p:txBody>
          <a:bodyPr wrap="square" lIns="0" tIns="0" rIns="0" bIns="0" rtlCol="0" anchor="ctr"/>
          <a:lstStyle/>
          <a:p>
            <a:pPr indent="0" marL="0">
              <a:buNone/>
            </a:pPr>
            <a:r>
              <a:rPr lang="en-US" sz="2000" b="1" dirty="0">
                <a:solidFill>
                  <a:schemeClr val="tx2"/>
                </a:solidFill>
              </a:rPr>
              <a:t>Auswirkung</a:t>
            </a:r>
            <a:endParaRPr lang="en-US" sz="2000" dirty="0"/>
          </a:p>
        </p:txBody>
      </p:sp>
      <p:sp>
        <p:nvSpPr>
          <p:cNvPr id="36" name="Text 28"/>
          <p:cNvSpPr txBox="1"/>
          <p:nvPr/>
        </p:nvSpPr>
        <p:spPr>
          <a:xfrm>
            <a:off x="5303520" y="2971800"/>
            <a:ext cx="2560320" cy="2651760"/>
          </a:xfrm>
          <a:prstGeom prst="rect">
            <a:avLst/>
          </a:prstGeom>
          <a:noFill/>
          <a:ln/>
        </p:spPr>
        <p:txBody>
          <a:bodyPr wrap="square" lIns="0" tIns="0" rIns="0" bIns="0" rtlCol="0" anchor="t"/>
          <a:lstStyle/>
          <a:p>
            <a:pPr indent="0" marL="0">
              <a:buNone/>
            </a:pPr>
            <a:endParaRPr lang="en-US" sz="1600" dirty="0"/>
          </a:p>
        </p:txBody>
      </p:sp>
      <p:sp>
        <p:nvSpPr>
          <p:cNvPr id="37" name="Text 29"/>
          <p:cNvSpPr txBox="1"/>
          <p:nvPr/>
        </p:nvSpPr>
        <p:spPr>
          <a:xfrm>
            <a:off x="5303520" y="2971800"/>
            <a:ext cx="2606040" cy="27432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Im Spiel war jede Brause gleich – nur der Preis zählte</a:t>
            </a:r>
            <a:endParaRPr lang="en-US" sz="1400" dirty="0"/>
          </a:p>
          <a:p>
            <a:pPr marL="203200" indent="-203200">
              <a:spcAft>
                <a:spcPts val="800"/>
              </a:spcAft>
              <a:buSzPct val="100000"/>
              <a:buChar char="•"/>
            </a:pPr>
            <a:r>
              <a:rPr lang="en-US" sz="1400" dirty="0">
                <a:solidFill>
                  <a:schemeClr val="tx1"/>
                </a:solidFill>
              </a:rPr>
              <a:t>Mit Marketing hätten wir in R4/R5 gegen den Absatzeinbruch arbeiten können</a:t>
            </a:r>
            <a:endParaRPr lang="en-US" sz="1400" dirty="0"/>
          </a:p>
          <a:p>
            <a:pPr marL="203200" indent="-203200">
              <a:spcAft>
                <a:spcPts val="800"/>
              </a:spcAft>
              <a:buSzPct val="100000"/>
              <a:buChar char="•"/>
            </a:pPr>
            <a:r>
              <a:rPr lang="en-US" sz="1400" dirty="0">
                <a:solidFill>
                  <a:schemeClr val="tx1"/>
                </a:solidFill>
              </a:rPr>
              <a:t>Mehrweg hätte eher Kosten gebracht (Pfand, Spülen)</a:t>
            </a:r>
            <a:endParaRPr lang="en-US" sz="1400" dirty="0"/>
          </a:p>
        </p:txBody>
      </p:sp>
      <p:sp>
        <p:nvSpPr>
          <p:cNvPr id="38" name="Text 30"/>
          <p:cNvSpPr txBox="1"/>
          <p:nvPr/>
        </p:nvSpPr>
        <p:spPr>
          <a:xfrm>
            <a:off x="8183880" y="3017520"/>
            <a:ext cx="457200" cy="914400"/>
          </a:xfrm>
          <a:prstGeom prst="rect">
            <a:avLst/>
          </a:prstGeom>
          <a:noFill/>
          <a:ln/>
        </p:spPr>
        <p:txBody>
          <a:bodyPr wrap="square" lIns="0" tIns="0" rIns="0" bIns="0" rtlCol="0" anchor="ctr"/>
          <a:lstStyle/>
          <a:p>
            <a:pPr algn="ctr" indent="0" marL="0">
              <a:buNone/>
            </a:pPr>
            <a:r>
              <a:rPr lang="en-US" sz="4400" b="1" dirty="0">
                <a:solidFill>
                  <a:schemeClr val="accent2"/>
                </a:solidFill>
              </a:rPr>
              <a:t>›</a:t>
            </a:r>
            <a:endParaRPr lang="en-US" sz="4400" dirty="0"/>
          </a:p>
        </p:txBody>
      </p:sp>
      <p:sp>
        <p:nvSpPr>
          <p:cNvPr id="39" name="Spielerweiterung"/>
          <p:cNvSpPr/>
          <p:nvPr/>
        </p:nvSpPr>
        <p:spPr>
          <a:xfrm>
            <a:off x="8686800" y="1874520"/>
            <a:ext cx="2834640" cy="3931920"/>
          </a:xfrm>
          <a:prstGeom prst="roundRect">
            <a:avLst>
              <a:gd name="adj" fmla="val 3871"/>
            </a:avLst>
          </a:prstGeom>
          <a:solidFill>
            <a:schemeClr val="accent1"/>
          </a:solidFill>
          <a:ln/>
        </p:spPr>
      </p:sp>
      <p:sp>
        <p:nvSpPr>
          <p:cNvPr id="40" name="Icon-Kreis FaLightbulb"/>
          <p:cNvSpPr/>
          <p:nvPr/>
        </p:nvSpPr>
        <p:spPr>
          <a:xfrm>
            <a:off x="8915400" y="2103120"/>
            <a:ext cx="640080" cy="640080"/>
          </a:xfrm>
          <a:prstGeom prst="ellipse">
            <a:avLst/>
          </a:prstGeom>
          <a:solidFill>
            <a:schemeClr val="accent2"/>
          </a:solidFill>
          <a:ln/>
        </p:spPr>
      </p:sp>
      <p:pic>
        <p:nvPicPr>
          <p:cNvPr id="41" name="Icon FaLightbulb" descr="Symbol Lightbulb">    </p:cNvPr>
          <p:cNvPicPr>
            <a:picLocks noChangeAspect="1"/>
          </p:cNvPicPr>
          <p:nvPr/>
        </p:nvPicPr>
        <p:blipFill>
          <a:blip r:embed="rId6"/>
          <a:stretch>
            <a:fillRect/>
          </a:stretch>
        </p:blipFill>
        <p:spPr>
          <a:xfrm>
            <a:off x="9088222" y="2275942"/>
            <a:ext cx="294437" cy="294437"/>
          </a:xfrm>
          <a:prstGeom prst="rect">
            <a:avLst/>
          </a:prstGeom>
        </p:spPr>
      </p:pic>
      <p:sp>
        <p:nvSpPr>
          <p:cNvPr id="42" name="Text 33"/>
          <p:cNvSpPr txBox="1"/>
          <p:nvPr/>
        </p:nvSpPr>
        <p:spPr>
          <a:xfrm>
            <a:off x="9692640" y="2103120"/>
            <a:ext cx="1737360" cy="640080"/>
          </a:xfrm>
          <a:prstGeom prst="rect">
            <a:avLst/>
          </a:prstGeom>
          <a:noFill/>
          <a:ln/>
        </p:spPr>
        <p:txBody>
          <a:bodyPr wrap="square" lIns="0" tIns="0" rIns="0" bIns="0" rtlCol="0" anchor="ctr"/>
          <a:lstStyle/>
          <a:p>
            <a:pPr indent="0" marL="0">
              <a:buNone/>
            </a:pPr>
            <a:r>
              <a:rPr lang="en-US" sz="1900" b="1" dirty="0">
                <a:solidFill>
                  <a:schemeClr val="bg1"/>
                </a:solidFill>
              </a:rPr>
              <a:t>Unsere Idee</a:t>
            </a:r>
            <a:endParaRPr lang="en-US" sz="1900" dirty="0"/>
          </a:p>
        </p:txBody>
      </p:sp>
      <p:sp>
        <p:nvSpPr>
          <p:cNvPr id="43" name="Text 34"/>
          <p:cNvSpPr txBox="1"/>
          <p:nvPr/>
        </p:nvSpPr>
        <p:spPr>
          <a:xfrm>
            <a:off x="8915400" y="2926080"/>
            <a:ext cx="2423160" cy="2743200"/>
          </a:xfrm>
          <a:prstGeom prst="rect">
            <a:avLst/>
          </a:prstGeom>
          <a:noFill/>
          <a:ln/>
        </p:spPr>
        <p:txBody>
          <a:bodyPr wrap="square" lIns="0" tIns="0" rIns="0" bIns="0" rtlCol="0" anchor="t"/>
          <a:lstStyle/>
          <a:p>
            <a:pPr indent="0" marL="0">
              <a:spcAft>
                <a:spcPts val="800"/>
              </a:spcAft>
              <a:buNone/>
            </a:pPr>
            <a:r>
              <a:rPr lang="en-US" sz="1600" b="1" dirty="0">
                <a:solidFill>
                  <a:schemeClr val="accent2"/>
                </a:solidFill>
              </a:rPr>
              <a:t>Marketingbudget pro Runde</a:t>
            </a:r>
            <a:endParaRPr lang="en-US" sz="1600" dirty="0"/>
          </a:p>
          <a:p>
            <a:pPr indent="0" marL="0">
              <a:spcAft>
                <a:spcPts val="800"/>
              </a:spcAft>
              <a:buNone/>
            </a:pPr>
            <a:r>
              <a:rPr lang="en-US" sz="1400" dirty="0">
                <a:solidFill>
                  <a:schemeClr val="bg1"/>
                </a:solidFill>
              </a:rPr>
              <a:t>0 / 2.000 / 5.000 € wählen – der Spielleiter erhöht dafür den Absatz.</a:t>
            </a:r>
            <a:endParaRPr lang="en-US" sz="1600" dirty="0"/>
          </a:p>
          <a:p>
            <a:pPr indent="0" marL="0">
              <a:buNone/>
            </a:pPr>
            <a:r>
              <a:rPr lang="en-US" sz="1400" i="1" dirty="0">
                <a:solidFill>
                  <a:schemeClr val="bg2"/>
                </a:solidFill>
              </a:rPr>
              <a:t>Nur eine Zeile mehr im Kassenbuch.</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22960" y="2011680"/>
            <a:ext cx="5943600" cy="118872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Vielen Dank!</a:t>
            </a:r>
            <a:endParaRPr lang="en-US" sz="6000" dirty="0"/>
          </a:p>
        </p:txBody>
      </p:sp>
      <p:sp>
        <p:nvSpPr>
          <p:cNvPr id="3" name="Text 1"/>
          <p:cNvSpPr txBox="1"/>
          <p:nvPr/>
        </p:nvSpPr>
        <p:spPr>
          <a:xfrm>
            <a:off x="822960" y="3291840"/>
            <a:ext cx="5760720" cy="914400"/>
          </a:xfrm>
          <a:prstGeom prst="rect">
            <a:avLst/>
          </a:prstGeom>
          <a:noFill/>
          <a:ln/>
        </p:spPr>
        <p:txBody>
          <a:bodyPr wrap="square" lIns="0" tIns="0" rIns="0" bIns="0" rtlCol="0" anchor="ctr"/>
          <a:lstStyle/>
          <a:p>
            <a:pPr indent="0" marL="0">
              <a:buNone/>
            </a:pPr>
            <a:r>
              <a:rPr lang="en-US" sz="2000" dirty="0">
                <a:solidFill>
                  <a:schemeClr val="bg2"/>
                </a:solidFill>
              </a:rPr>
              <a:t>Was dein Körper schon immer wollte – und was wir im Planspiel gelernt haben.</a:t>
            </a:r>
            <a:endParaRPr lang="en-US" sz="2000" dirty="0"/>
          </a:p>
        </p:txBody>
      </p:sp>
      <p:sp>
        <p:nvSpPr>
          <p:cNvPr id="4" name="Text 2"/>
          <p:cNvSpPr txBox="1"/>
          <p:nvPr/>
        </p:nvSpPr>
        <p:spPr>
          <a:xfrm>
            <a:off x="822960" y="4389120"/>
            <a:ext cx="5760720" cy="457200"/>
          </a:xfrm>
          <a:prstGeom prst="rect">
            <a:avLst/>
          </a:prstGeom>
          <a:noFill/>
          <a:ln/>
        </p:spPr>
        <p:txBody>
          <a:bodyPr wrap="square" lIns="0" tIns="0" rIns="0" bIns="0" rtlCol="0" anchor="ctr"/>
          <a:lstStyle/>
          <a:p>
            <a:pPr indent="0" marL="0">
              <a:buNone/>
            </a:pPr>
            <a:r>
              <a:rPr lang="en-US" sz="2000" b="1" dirty="0">
                <a:solidFill>
                  <a:schemeClr val="accent2"/>
                </a:solidFill>
              </a:rPr>
              <a:t>Wir freuen uns auf eure Fragen.</a:t>
            </a:r>
            <a:endParaRPr lang="en-US" sz="2000" dirty="0"/>
          </a:p>
        </p:txBody>
      </p:sp>
      <p:pic>
        <p:nvPicPr>
          <p:cNvPr id="5" name="Logo" descr="Logo Elbharz">    </p:cNvPr>
          <p:cNvPicPr>
            <a:picLocks noChangeAspect="1"/>
          </p:cNvPicPr>
          <p:nvPr/>
        </p:nvPicPr>
        <p:blipFill>
          <a:blip r:embed="rId1"/>
          <a:stretch>
            <a:fillRect/>
          </a:stretch>
        </p:blipFill>
        <p:spPr>
          <a:xfrm>
            <a:off x="731520" y="5257800"/>
            <a:ext cx="1005840" cy="1005840"/>
          </a:xfrm>
          <a:prstGeom prst="rect">
            <a:avLst/>
          </a:prstGeom>
        </p:spPr>
      </p:pic>
      <p:sp>
        <p:nvSpPr>
          <p:cNvPr id="6" name="Sonne"/>
          <p:cNvSpPr/>
          <p:nvPr/>
        </p:nvSpPr>
        <p:spPr>
          <a:xfrm>
            <a:off x="8138160" y="1097280"/>
            <a:ext cx="3474720" cy="3474720"/>
          </a:xfrm>
          <a:prstGeom prst="ellipse">
            <a:avLst/>
          </a:prstGeom>
          <a:solidFill>
            <a:schemeClr val="accent2"/>
          </a:solidFill>
          <a:ln/>
        </p:spPr>
      </p:sp>
      <p:pic>
        <p:nvPicPr>
          <p:cNvPr id="7" name="Flasche" descr="Flasche Primatenbrause">    </p:cNvPr>
          <p:cNvPicPr>
            <a:picLocks noChangeAspect="1"/>
          </p:cNvPicPr>
          <p:nvPr/>
        </p:nvPicPr>
        <p:blipFill>
          <a:blip r:embed="rId2"/>
          <a:stretch>
            <a:fillRect/>
          </a:stretch>
        </p:blipFill>
        <p:spPr>
          <a:xfrm>
            <a:off x="8833899" y="685800"/>
            <a:ext cx="2083242" cy="4937760"/>
          </a:xfrm>
          <a:prstGeom prst="rect">
            <a:avLst/>
          </a:prstGeom>
        </p:spPr>
      </p:pic>
      <p:sp>
        <p:nvSpPr>
          <p:cNvPr id="8" name="Platz KI-Teambild"/>
          <p:cNvSpPr/>
          <p:nvPr/>
        </p:nvSpPr>
        <p:spPr>
          <a:xfrm>
            <a:off x="6400800" y="3931920"/>
            <a:ext cx="2194560" cy="2194560"/>
          </a:xfrm>
          <a:prstGeom prst="ellipse">
            <a:avLst/>
          </a:prstGeom>
          <a:solidFill>
            <a:schemeClr val="accent3">
              <a:alpha val="85000"/>
            </a:schemeClr>
          </a:solidFill>
          <a:ln w="19050">
            <a:solidFill>
              <a:schemeClr val="bg1"/>
            </a:solidFill>
            <a:prstDash val="dash"/>
          </a:ln>
        </p:spPr>
      </p:sp>
      <p:sp>
        <p:nvSpPr>
          <p:cNvPr id="9" name="Text 5"/>
          <p:cNvSpPr txBox="1"/>
          <p:nvPr/>
        </p:nvSpPr>
        <p:spPr>
          <a:xfrm>
            <a:off x="6492240" y="3931920"/>
            <a:ext cx="2011680" cy="2194560"/>
          </a:xfrm>
          <a:prstGeom prst="rect">
            <a:avLst/>
          </a:prstGeom>
          <a:noFill/>
          <a:ln/>
        </p:spPr>
        <p:txBody>
          <a:bodyPr wrap="square" lIns="0" tIns="0" rIns="0" bIns="0" rtlCol="0" anchor="ctr"/>
          <a:lstStyle/>
          <a:p>
            <a:pPr algn="ctr" indent="0" marL="0">
              <a:buNone/>
            </a:pPr>
            <a:r>
              <a:rPr lang="en-US" sz="1200" b="1" dirty="0">
                <a:solidFill>
                  <a:schemeClr val="bg1"/>
                </a:solidFill>
              </a:rPr>
              <a:t>BILD FOLGT: KI-Teambild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Quellen</a:t>
            </a:r>
            <a:endParaRPr lang="en-US" sz="3600" dirty="0"/>
          </a:p>
        </p:txBody>
      </p:sp>
      <p:sp>
        <p:nvSpPr>
          <p:cNvPr id="4" name="Quellen Spielmaterial"/>
          <p:cNvSpPr/>
          <p:nvPr/>
        </p:nvSpPr>
        <p:spPr>
          <a:xfrm>
            <a:off x="640080" y="1463040"/>
            <a:ext cx="3520440" cy="3383280"/>
          </a:xfrm>
          <a:prstGeom prst="roundRect">
            <a:avLst>
              <a:gd name="adj" fmla="val 3243"/>
            </a:avLst>
          </a:prstGeom>
          <a:solidFill>
            <a:schemeClr val="bg2"/>
          </a:solidFill>
          <a:ln/>
        </p:spPr>
      </p:sp>
      <p:sp>
        <p:nvSpPr>
          <p:cNvPr id="5" name="Text 2"/>
          <p:cNvSpPr txBox="1"/>
          <p:nvPr/>
        </p:nvSpPr>
        <p:spPr>
          <a:xfrm>
            <a:off x="91440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Spielmaterial</a:t>
            </a:r>
            <a:endParaRPr lang="en-US" sz="1900" dirty="0"/>
          </a:p>
        </p:txBody>
      </p:sp>
      <p:sp>
        <p:nvSpPr>
          <p:cNvPr id="6" name="Text 3"/>
          <p:cNvSpPr txBox="1"/>
          <p:nvPr/>
        </p:nvSpPr>
        <p:spPr>
          <a:xfrm>
            <a:off x="91440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Planspiel „Bertis Brause“, Cornelsen Verlag 2006 (Spielanleitung, Arbeitsblätter, Bögen M14/M15)</a:t>
            </a:r>
            <a:endParaRPr lang="en-US" sz="1400" dirty="0"/>
          </a:p>
          <a:p>
            <a:pPr marL="203200" indent="-203200">
              <a:spcAft>
                <a:spcPts val="800"/>
              </a:spcAft>
              <a:buSzPct val="100000"/>
              <a:buChar char="•"/>
            </a:pPr>
            <a:r>
              <a:rPr lang="en-US" sz="1400" dirty="0">
                <a:solidFill>
                  <a:schemeClr val="tx1"/>
                </a:solidFill>
              </a:rPr>
              <a:t>Aufgabenstellung Endpräsentation, Wirtschaftsgymnasium Am Lämmermarkt</a:t>
            </a:r>
            <a:endParaRPr lang="en-US" sz="1400" dirty="0"/>
          </a:p>
        </p:txBody>
      </p:sp>
      <p:sp>
        <p:nvSpPr>
          <p:cNvPr id="7" name="Quellen Daten"/>
          <p:cNvSpPr/>
          <p:nvPr/>
        </p:nvSpPr>
        <p:spPr>
          <a:xfrm>
            <a:off x="4320540" y="1463040"/>
            <a:ext cx="3520440" cy="3383280"/>
          </a:xfrm>
          <a:prstGeom prst="roundRect">
            <a:avLst>
              <a:gd name="adj" fmla="val 3243"/>
            </a:avLst>
          </a:prstGeom>
          <a:solidFill>
            <a:schemeClr val="bg2"/>
          </a:solidFill>
          <a:ln/>
        </p:spPr>
      </p:sp>
      <p:sp>
        <p:nvSpPr>
          <p:cNvPr id="8" name="Text 5"/>
          <p:cNvSpPr txBox="1"/>
          <p:nvPr/>
        </p:nvSpPr>
        <p:spPr>
          <a:xfrm>
            <a:off x="459486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Daten</a:t>
            </a:r>
            <a:endParaRPr lang="en-US" sz="1900" dirty="0"/>
          </a:p>
        </p:txBody>
      </p:sp>
      <p:sp>
        <p:nvSpPr>
          <p:cNvPr id="9" name="Text 6"/>
          <p:cNvSpPr txBox="1"/>
          <p:nvPr/>
        </p:nvSpPr>
        <p:spPr>
          <a:xfrm>
            <a:off x="459486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Eigene Arbeitsblätter: Maschinen/Personal, Produktion/Material, Kassenbuch, Angebotskarte, Umsatzberechnung, Unternehmensverkauf</a:t>
            </a:r>
            <a:endParaRPr lang="en-US" sz="1400" dirty="0"/>
          </a:p>
          <a:p>
            <a:pPr marL="203200" indent="-203200">
              <a:spcAft>
                <a:spcPts val="800"/>
              </a:spcAft>
              <a:buSzPct val="100000"/>
              <a:buChar char="•"/>
            </a:pPr>
            <a:r>
              <a:rPr lang="en-US" sz="1400" dirty="0">
                <a:solidFill>
                  <a:schemeClr val="tx1"/>
                </a:solidFill>
              </a:rPr>
              <a:t>Eigenes Entscheidungsprotokoll; alle Kennzahlen selbst berechnet</a:t>
            </a:r>
            <a:endParaRPr lang="en-US" sz="1400" dirty="0"/>
          </a:p>
        </p:txBody>
      </p:sp>
      <p:sp>
        <p:nvSpPr>
          <p:cNvPr id="10" name="Quellen Bilder"/>
          <p:cNvSpPr/>
          <p:nvPr/>
        </p:nvSpPr>
        <p:spPr>
          <a:xfrm>
            <a:off x="8001000" y="1463040"/>
            <a:ext cx="3520440" cy="3383280"/>
          </a:xfrm>
          <a:prstGeom prst="roundRect">
            <a:avLst>
              <a:gd name="adj" fmla="val 3243"/>
            </a:avLst>
          </a:prstGeom>
          <a:solidFill>
            <a:schemeClr val="bg2"/>
          </a:solidFill>
          <a:ln/>
        </p:spPr>
      </p:sp>
      <p:sp>
        <p:nvSpPr>
          <p:cNvPr id="11" name="Text 8"/>
          <p:cNvSpPr txBox="1"/>
          <p:nvPr/>
        </p:nvSpPr>
        <p:spPr>
          <a:xfrm>
            <a:off x="827532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Bilder</a:t>
            </a:r>
            <a:endParaRPr lang="en-US" sz="1900" dirty="0"/>
          </a:p>
        </p:txBody>
      </p:sp>
      <p:sp>
        <p:nvSpPr>
          <p:cNvPr id="12" name="Text 9"/>
          <p:cNvSpPr txBox="1"/>
          <p:nvPr/>
        </p:nvSpPr>
        <p:spPr>
          <a:xfrm>
            <a:off x="827532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Logo und Flasche: KI-generiert mit Perplexity (aus unserer Gründungspräsentation)</a:t>
            </a:r>
            <a:endParaRPr lang="en-US" sz="1400" dirty="0"/>
          </a:p>
          <a:p>
            <a:pPr marL="203200" indent="-203200">
              <a:spcAft>
                <a:spcPts val="800"/>
              </a:spcAft>
              <a:buSzPct val="100000"/>
              <a:buChar char="•"/>
            </a:pPr>
            <a:r>
              <a:rPr lang="en-US" sz="1400" dirty="0">
                <a:solidFill>
                  <a:schemeClr val="tx1"/>
                </a:solidFill>
              </a:rPr>
              <a:t>Limette, Tamarinde: [Quelle ergänzen]</a:t>
            </a:r>
            <a:endParaRPr lang="en-US" sz="1400" dirty="0"/>
          </a:p>
          <a:p>
            <a:pPr marL="203200" indent="-203200">
              <a:spcAft>
                <a:spcPts val="800"/>
              </a:spcAft>
              <a:buSzPct val="100000"/>
              <a:buChar char="•"/>
            </a:pPr>
            <a:r>
              <a:rPr lang="en-US" sz="1400" dirty="0">
                <a:solidFill>
                  <a:schemeClr val="tx1"/>
                </a:solidFill>
              </a:rPr>
              <a:t>KI-Teambild: [Tool ergänzen]</a:t>
            </a:r>
            <a:endParaRPr lang="en-US" sz="1400" dirty="0"/>
          </a:p>
          <a:p>
            <a:pPr marL="203200" indent="-203200">
              <a:spcAft>
                <a:spcPts val="800"/>
              </a:spcAft>
              <a:buSzPct val="100000"/>
              <a:buChar char="•"/>
            </a:pPr>
            <a:r>
              <a:rPr lang="en-US" sz="1400" dirty="0">
                <a:solidFill>
                  <a:schemeClr val="tx1"/>
                </a:solidFill>
              </a:rPr>
              <a:t>Symbole: Font Awesome (CC BY 4.0)</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lbharz">
  <a:themeElements>
    <a:clrScheme name="Elbharz">
      <a:dk1>
        <a:srgbClr val="1B2A2F"/>
      </a:dk1>
      <a:lt1>
        <a:srgbClr val="FFFFFF"/>
      </a:lt1>
      <a:dk2>
        <a:srgbClr val="0F5C6B"/>
      </a:dk2>
      <a:lt2>
        <a:srgbClr val="F3F1EA"/>
      </a:lt2>
      <a:accent1>
        <a:srgbClr val="0F5C6B"/>
      </a:accent1>
      <a:accent2>
        <a:srgbClr val="D9822B"/>
      </a:accent2>
      <a:accent3>
        <a:srgbClr val="8DB33A"/>
      </a:accent3>
      <a:accent4>
        <a:srgbClr val="5F8F99"/>
      </a:accent4>
      <a:accent5>
        <a:srgbClr val="B8B8B0"/>
      </a:accent5>
      <a:accent6>
        <a:srgbClr val="7A4B1E"/>
      </a:accent6>
      <a:hlink>
        <a:srgbClr val="0F5C6B"/>
      </a:hlink>
      <a:folHlink>
        <a:srgbClr val="5F8F99"/>
      </a:folHlink>
    </a:clrScheme>
    <a:fontScheme name="Elbharz">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Primatenbrause – Endpräsentation Planspiel Bertis Brause</dc:title>
  <dc:subject>PptxGenJS Presentation</dc:subject>
  <dc:creator>Elbharz Getränke GbR, Klasse 11b</dc:creator>
  <cp:lastModifiedBy>Elbharz Getränke GbR, Klasse 11b</cp:lastModifiedBy>
  <cp:revision>1</cp:revision>
  <dcterms:created xsi:type="dcterms:W3CDTF">2026-10-13T13:07:22Z</dcterms:created>
  <dcterms:modified xsi:type="dcterms:W3CDTF">2026-10-13T13:07:22Z</dcterms:modified>
</cp:coreProperties>
</file>