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51c605d0-c086-bd47-c384-5b7e8f0dfa86}">
          <p14:sldIdLst>
            <p14:sldId id="256"/>
            <p14:sldId id="257"/>
            <p14:sldId id="258"/>
          </p14:sldIdLst>
        </p14:section>
        <p14:section name="Verlauf der Runden" id="{3c6214c7-c93c-b7aa-2d0c-0ad8759a3a9f}">
          <p14:sldIdLst>
            <p14:sldId id="259"/>
            <p14:sldId id="260"/>
            <p14:sldId id="261"/>
          </p14:sldIdLst>
        </p14:section>
        <p14:section name="Auswertung" id="{117689fd-5bed-82c0-a92d-ecedef93db19}">
          <p14:sldIdLst>
            <p14:sldId id="262"/>
            <p14:sldId id="263"/>
            <p14:sldId id="264"/>
          </p14:sldIdLst>
        </p14:section>
        <p14:section name="Reflexion" id="{3824d301-87ce-f010-e535-0170af57abfa}">
          <p14:sldIdLst>
            <p14:sldId id="265"/>
          </p14:sldIdLst>
        </p14:section>
        <p14:section name="Bezug zur Gründung" id="{0dcd10d5-a4e7-42ca-abd3-473edeb361ad}">
          <p14:sldIdLst>
            <p14:sldId id="266"/>
          </p14:sldIdLst>
        </p14:section>
        <p14:section name="Abschluss" id="{5c30b302-d838-2ca6-74f0-319408dc2ce5}">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2F"/>
                </a:solidFill>
                <a:latin typeface="+mn-lt"/>
              </a:defRPr>
            </a:pPr>
            <a:r>
              <a:rPr sz="1400" b="0" i="0" u="none" strike="noStrike">
                <a:solidFill>
                  <a:srgbClr val="1B2A2F"/>
                </a:solidFill>
                <a:latin typeface="+mn-lt"/>
              </a:rPr>
              <a:t>Umsatz und Kosten je Runde (€)</a:t>
            </a:r>
          </a:p>
        </c:rich>
      </c:tx>
      <c:layout/>
      <c:overlay val="0"/>
    </c:title>
    <c:autoTitleDeleted val="0"/>
    <c:plotArea>
      <c:layout/>
      <c:barChart>
        <c:barDir val="col"/>
        <c:grouping val="clustered"/>
        <c:varyColors val="0"/>
        <c:ser>
          <c:idx val="0"/>
          <c:order val="0"/>
          <c:tx>
            <c:strRef>
              <c:f>Sheet1!$B$1</c:f>
              <c:strCache>
                <c:ptCount val="1"/>
                <c:pt idx="0">
                  <c:v>Umsatz</c:v>
                </c:pt>
              </c:strCache>
            </c:strRef>
          </c:tx>
          <c:spPr>
            <a:solidFill>
              <a:srgbClr val="0F5C6B"/>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Sheet1!$A$2:$A$7</c:f>
              <c:multiLvlStrCache>
                <c:ptCount val="6"/>
                <c:lvl>
                  <c:pt idx="0">
                    <c:v>R1</c:v>
                  </c:pt>
                  <c:pt idx="1">
                    <c:v>R2</c:v>
                  </c:pt>
                  <c:pt idx="2">
                    <c:v>R3</c:v>
                  </c:pt>
                  <c:pt idx="3">
                    <c:v>R4</c:v>
                  </c:pt>
                  <c:pt idx="4">
                    <c:v>R5</c:v>
                  </c:pt>
                  <c:pt idx="5">
                    <c:v>R6</c:v>
                  </c:pt>
                </c:lvl>
              </c:multiLvlStrCache>
            </c:multiLvlStrRef>
          </c:cat>
          <c:val>
            <c:numRef>
              <c:f>Sheet1!$B$2:$B$7</c:f>
              <c:numCache>
                <c:formatCode>General</c:formatCode>
                <c:ptCount val="6"/>
                <c:pt idx="0">
                  <c:v>45000</c:v>
                </c:pt>
                <c:pt idx="1">
                  <c:v>55900</c:v>
                </c:pt>
                <c:pt idx="2">
                  <c:v>79940</c:v>
                </c:pt>
                <c:pt idx="3">
                  <c:v>5250</c:v>
                </c:pt>
                <c:pt idx="4">
                  <c:v>2700</c:v>
                </c:pt>
                <c:pt idx="5">
                  <c:v>51480</c:v>
                </c:pt>
              </c:numCache>
            </c:numRef>
          </c:val>
        </c:ser>
        <c:ser>
          <c:idx val="1"/>
          <c:order val="1"/>
          <c:tx>
            <c:strRef>
              <c:f>Sheet1!$C$1</c:f>
              <c:strCache>
                <c:ptCount val="1"/>
                <c:pt idx="0">
                  <c:v>Kosten</c:v>
                </c:pt>
              </c:strCache>
            </c:strRef>
          </c:tx>
          <c:spPr>
            <a:solidFill>
              <a:srgbClr val="D9822B"/>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Sheet1!$A$2:$A$7</c:f>
              <c:multiLvlStrCache>
                <c:ptCount val="6"/>
                <c:lvl>
                  <c:pt idx="0">
                    <c:v>R1</c:v>
                  </c:pt>
                  <c:pt idx="1">
                    <c:v>R2</c:v>
                  </c:pt>
                  <c:pt idx="2">
                    <c:v>R3</c:v>
                  </c:pt>
                  <c:pt idx="3">
                    <c:v>R4</c:v>
                  </c:pt>
                  <c:pt idx="4">
                    <c:v>R5</c:v>
                  </c:pt>
                  <c:pt idx="5">
                    <c:v>R6</c:v>
                  </c:pt>
                </c:lvl>
              </c:multiLvlStrCache>
            </c:multiLvlStrRef>
          </c:cat>
          <c:val>
            <c:numRef>
              <c:f>Sheet1!$C$2:$C$7</c:f>
              <c:numCache>
                <c:formatCode>General</c:formatCode>
                <c:ptCount val="6"/>
                <c:pt idx="0">
                  <c:v>69000</c:v>
                </c:pt>
                <c:pt idx="1">
                  <c:v>75000</c:v>
                </c:pt>
                <c:pt idx="2">
                  <c:v>54000</c:v>
                </c:pt>
                <c:pt idx="3">
                  <c:v>18000</c:v>
                </c:pt>
                <c:pt idx="4">
                  <c:v>25000</c:v>
                </c:pt>
                <c:pt idx="5">
                  <c:v>45500</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2"/>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1B2A2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A2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2F"/>
                </a:solidFill>
                <a:latin typeface="+mn-lt"/>
              </a:defRPr>
            </a:pPr>
            <a:r>
              <a:rPr sz="1400" b="0" i="0" u="none" strike="noStrike">
                <a:solidFill>
                  <a:srgbClr val="1B2A2F"/>
                </a:solidFill>
                <a:latin typeface="+mn-lt"/>
              </a:rPr>
              <a:t>Kassenbestand am Rundenende (€)</a:t>
            </a:r>
          </a:p>
        </c:rich>
      </c:tx>
      <c:layout/>
      <c:overlay val="0"/>
    </c:title>
    <c:autoTitleDeleted val="0"/>
    <c:plotArea>
      <c:layout/>
      <c:lineChart>
        <c:varyColors val="0"/>
        <c:ser>
          <c:idx val="0"/>
          <c:order val="0"/>
          <c:tx>
            <c:strRef>
              <c:f>Sheet1!$B$1</c:f>
              <c:strCache>
                <c:ptCount val="1"/>
                <c:pt idx="0">
                  <c:v>Kassenbestand</c:v>
                </c:pt>
              </c:strCache>
            </c:strRef>
          </c:tx>
          <c:spPr>
            <a:solidFill>
              <a:srgbClr val="0F5C6B"/>
            </a:solidFill>
            <a:ln w="38100" cap="flat">
              <a:solidFill>
                <a:srgbClr val="0F5C6B"/>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9"/>
            <c:spPr>
              <a:solidFill>
                <a:srgbClr val="0F5C6B"/>
              </a:solidFill>
              <a:ln w="9525" cap="flat">
                <a:solidFill>
                  <a:srgbClr val="0F5C6B"/>
                </a:solidFill>
                <a:prstDash val="solid"/>
                <a:round/>
              </a:ln>
              <a:effectLst/>
            </c:spPr>
          </c:marker>
          <c:cat>
            <c:multiLvlStrRef>
              <c:f>Sheet1!$A$2:$A$8</c:f>
              <c:multiLvlStrCache>
                <c:ptCount val="7"/>
                <c:lvl>
                  <c:pt idx="0">
                    <c:v>Start</c:v>
                  </c:pt>
                  <c:pt idx="1">
                    <c:v>R1</c:v>
                  </c:pt>
                  <c:pt idx="2">
                    <c:v>R2</c:v>
                  </c:pt>
                  <c:pt idx="3">
                    <c:v>R3</c:v>
                  </c:pt>
                  <c:pt idx="4">
                    <c:v>R4</c:v>
                  </c:pt>
                  <c:pt idx="5">
                    <c:v>R5</c:v>
                  </c:pt>
                  <c:pt idx="6">
                    <c:v>R6</c:v>
                  </c:pt>
                </c:lvl>
              </c:multiLvlStrCache>
            </c:multiLvlStrRef>
          </c:cat>
          <c:val>
            <c:numRef>
              <c:f>Sheet1!$B$2:$B$8</c:f>
              <c:numCache>
                <c:formatCode>General</c:formatCode>
                <c:ptCount val="7"/>
                <c:pt idx="0">
                  <c:v>100000</c:v>
                </c:pt>
                <c:pt idx="1">
                  <c:v>76000</c:v>
                </c:pt>
                <c:pt idx="2">
                  <c:v>56900</c:v>
                </c:pt>
                <c:pt idx="3">
                  <c:v>82840</c:v>
                </c:pt>
                <c:pt idx="4">
                  <c:v>70090</c:v>
                </c:pt>
                <c:pt idx="5">
                  <c:v>47790</c:v>
                </c:pt>
                <c:pt idx="6">
                  <c:v>53770</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9D9D2"/>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1B2A2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0:30 min
SPRECHTEXT (Entwurf, bitte persönlich anpassen):
Guten Tag, wir sind die Elbharz Getränke GbR aus der 11b. Im Planspiel „Bertis Brause“ haben wir sechs Runden lang ein Brauseunternehmen geführt. Heute zeigen wir euch unseren Weg: von der Gründungsidee über die Entscheidungen in den Runden bis zur Auswertung und zur Reflexion.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 min
SPRECHTEXT (Entwurf, bitte persönlich anpassen):
Wir sind die Elbharz Getränke GbR aus Hamburg, vier Gesellschafter, und stellen die Primatenbrause her, in der Sorte Tamarinde-Limette. Gegründet haben wir mit einer Beobachtung: Fast jedes Getränk im Regal verspricht irgendetwas, und die Zutatenliste liest niemand zu Ende. Wir wollten das Gegenteil, ein Getränk, dessen Rückseite man zu Ende lesen kann. Unsere Zielgruppe sind 16- bis 25-Jährige, die Etiketten lesen. Verkaufen wollen wir zuerst über Onlineshop und Social Media, dann über den regionalen Handel, dazu Messen und Märkte.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 min
SPRECHTEXT (Entwurf, bitte persönlich anpassen):
Nachhaltigkeit war uns schon bei der Gründung wichtig. Wir füllen in Mehrweg-Glas im Pfandsystem ab. Das ist aber nur dann wirklich besser als Einweg, wenn die Wege kurz sind, denn Glas ist schwer. Deshalb produzieren und liefern wir regional. Und wir starten mit nur einer einzigen Sorte, das spart Produktion, Lager und Transport. Im Planspiel selbst kam Nachhaltigkeit als Entscheidung nicht vor, dazu kommen wir am Ende noch.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1:30 min
SPRECHTEXT (Entwurf, bitte persönlich anpassen):
Runde 1: Eine Economy-Maschine, 15 Paletten zu 3.000 Euro. Alles wurde verkauft, 45.000 Euro Umsatz, der Preis war aber offenbar zu niedrig. Runde 2: Wir haben den Preis drastisch auf 7.600 Euro erhöht und eine zweite Maschine gekauft. Nur die Hälfte ging am Markt weg, der Rest zum Schnäppchenpreis. Runde 3: Wir sind auf 5.900 Euro runtergegangen, das war unsere beste Runde mit 79.940 Euro. In Runde 4 und 5 haben wir weniger Absatz erwartet und nur noch eine Palette zu 9.500 Euro angeboten, der Umsatz war fast null. In Runde 6 haben wir noch einmal 13 Paletten produziert und alles verkauft.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1:30 min
SPRECHTEXT (Entwurf, bitte persönlich anpassen):
Hier sehen wir alle Entscheidungen auf einen Blick. Beim Maschinenkauf haben wir uns für Economy entschieden, weil sich Standard mit dem zusätzlichen Mitarbeiter nicht gelohnt hätte. Beim Preis haben wir viel ausprobiert: 3.000 Euro in Runde 1, dann 7.600, dann 5.900. Dazwischen haben wir immer aus dem Markt gelernt. In Runde 4 und 5 haben wir die Menge stark zurückgefahren, weil wir mit weniger Absatz gerechnet haben, und in Runde 6 wollten wir vor dem Abschluss noch einmal alles verkaufen.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 min
SPRECHTEXT (Entwurf, bitte persönlich anpassen):
[Noch offen: Nachrichten des Wirtschaftsdienstes für Runde 2 bis 6 einfügen.] Pro Nachricht: Was wurde gemeldet, wie haben wir reagiert, wie hat sich das auf den Unternehmenswert ausgewirkt? Hinweis: In unserem Kassenbuch stehen sonstige Kosten von 10.000 € (R2), 5.000 € (R3), 2.500 € (R4), 10.000 € (R5) und 6.500 € (R6); vermutlich hängen sie mit dem Wirtschaftsdienst zusammen.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1:30 min
SPRECHTEXT (Entwurf, bitte persönlich anpassen):
Wir haben pro Runde Umsatz, Kosten und Gewinn berechnet. Der Umsatz ist Menge mal Preis, dazu kommt, was wir am Schnäppchenmarkt für 1.000 Euro pro Palette losgeworden sind. Die Kosten sind Maschinen, Personal, Miete, sonstige Kosten, Produktion und Material. Gewinn ist Umsatz minus Kosten. Zur Aussagekraft: In Runde 1 und 2 stecken die Maschinenkäufe von zusammen 60.000 Euro, deshalb sind diese Runden negativ, obwohl der laufende Betrieb in Runde 1 und 2 im Plus gewesen wäre. Positiv waren nur Runde 3 und Runde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1:30 min
SPRECHTEXT (Entwurf, bitte persönlich anpassen):
Links sieht man Umsatz und Kosten je Runde. Nur in Runde 3 und Runde 6 lag der Umsatz über den Kosten. In Runde 4 und 5 sind die Kosten niedrig, weil wir kaum produziert haben, aber Personal und Miete liefen weiter. Rechts sieht man unseren Kassenbestand. Wir sind mit 100.000 Euro gestartet, der Tiefpunkt war Runde 5 mit 47.790 Euro, und am Ende stehen 53.770 Euro.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 min
SPRECHTEXT (Entwurf, bitte persönlich anpassen):
Unser Endbestand nach Runde 6 beträgt 53.770 Euro. Dazu kommt der Restwert unserer beiden Economy-Maschinen mit zusammen 30.000 Euro. Daraus ergibt sich ein Unternehmensverkaufswert von 83.770 Euro. Das sind 16.230 Euro weniger als unser Startkapital von 100.000 Euro. Eine Platzierung im Vergleich zu den anderen Gruppen gibt es noch nicht. [PRÜFEN: Die zweite Maschine wurde in Runde 2 gekauft, nach den Spielregeln zählt die Kaufrunde mit, das wären 5 Nutzungsrunden und 15.000 Euro Restwert statt 18.000 Euro, also 80.770 Euro Gesamtwert. Bitte mit der Lehrkraft klären.]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1:30 min
SPRECHTEXT (Entwurf, bitte persönlich anpassen):
[Entwurf aus unserem Entscheidungsprotokoll, bitte gemeinsam prüfen und ergänzen.] Gut war, dass wir nach Runde 2 den Preis angepasst haben, das hat in Runde 3 die beste Runde gebracht. Schlechter lief Runde 2 mit einem zu hohen Preis und vor allem Runde 4 und 5: Wir haben fast nichts produziert, aber Personal und Miete liefen weiter, das hat die Kasse stark belastet. Die zweite Maschine für 30.000 Euro war außerdem nur in wenigen Runden richtig ausgelastet. Als Alternative hätten wir den Preis aus Runde 3 beibehalten und weiter normal produziert.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1:30 min
SPRECHTEXT (Entwurf, bitte persönlich anpassen):
[Entwurf, bitte gemeinsam prüfen.] Viele unserer Gründungsideen kamen im Spiel nicht vor: Mehrweg und Pfand, Marketing auf Social Media, unser Onlineshop, die Zielgruppe und die besondere Sorte Tamarinde. Im Spiel entscheidet nur der Preis über den Absatz. Hätten Marketing und Vertrieb eine Rolle gespielt, hätten wir in Runde 4 und 5, als kaum etwas verkauft wurde, vielleicht mit Werbung gegensteuern können. Unser Vorschlag zur Erweiterung: ein Marketingbudget als zusätzliche Entscheidung pro Runde. Es kostet Geld, erhöht aber den Absatz. Das wäre nur eine Zeile mehr im Kassenbuch und das Spiel bliebe einfach.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0:30 min
SPRECHTEXT (Entwurf, bitte persönlich anpassen):
Das war unsere Präsentation zur Elbharz Getränke GbR und zur Primatenbrause. Vielen Dank fürs Zuhören, wir beantworten gern eure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rtlCol="0"/>
          <a:lstStyle>
            <a:lvl1pPr algn="l" indent="0" marL="0">
              <a:buNone/>
              <a:defRPr lang="en-US" sz="3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3"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PRIMATENBRAUSE · ELBHARZ GETRÄNKE GBR</a:t>
            </a:r>
            <a:endParaRPr lang="en-US" sz="10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onne"/>
          <p:cNvSpPr/>
          <p:nvPr/>
        </p:nvSpPr>
        <p:spPr>
          <a:xfrm>
            <a:off x="8686800" y="1097280"/>
            <a:ext cx="3108960" cy="3108960"/>
          </a:xfrm>
          <a:prstGeom prst="ellipse">
            <a:avLst/>
          </a:prstGeom>
          <a:solidFill>
            <a:schemeClr val="accent2"/>
          </a:solidFill>
          <a:ln/>
        </p:spPr>
      </p:sp>
      <p:sp>
        <p:nvSpPr>
          <p:cNvPr id="3" name="Punkt grün"/>
          <p:cNvSpPr/>
          <p:nvPr/>
        </p:nvSpPr>
        <p:spPr>
          <a:xfrm>
            <a:off x="7955280" y="3749040"/>
            <a:ext cx="1188720" cy="1188720"/>
          </a:xfrm>
          <a:prstGeom prst="ellipse">
            <a:avLst/>
          </a:prstGeom>
          <a:solidFill>
            <a:schemeClr val="accent3">
              <a:alpha val="75000"/>
            </a:schemeClr>
          </a:solidFill>
          <a:ln/>
        </p:spPr>
      </p:sp>
      <p:sp>
        <p:nvSpPr>
          <p:cNvPr id="4" name="Text 2"/>
          <p:cNvSpPr txBox="1"/>
          <p:nvPr/>
        </p:nvSpPr>
        <p:spPr>
          <a:xfrm>
            <a:off x="822960" y="1097280"/>
            <a:ext cx="73152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PLANSPIEL BERTIS BRAUSE · ENDPRÄSENTATION</a:t>
            </a:r>
            <a:endParaRPr lang="en-US" sz="1400" dirty="0"/>
          </a:p>
        </p:txBody>
      </p:sp>
      <p:sp>
        <p:nvSpPr>
          <p:cNvPr id="5" name="Text 3"/>
          <p:cNvSpPr txBox="1"/>
          <p:nvPr/>
        </p:nvSpPr>
        <p:spPr>
          <a:xfrm>
            <a:off x="822960" y="1828800"/>
            <a:ext cx="7315200" cy="1280160"/>
          </a:xfrm>
          <a:prstGeom prst="rect">
            <a:avLst/>
          </a:prstGeom>
          <a:noFill/>
          <a:ln/>
        </p:spPr>
        <p:txBody>
          <a:bodyPr wrap="square" lIns="0" tIns="0" rIns="0" bIns="0" rtlCol="0" anchor="ctr"/>
          <a:lstStyle/>
          <a:p>
            <a:pPr indent="0" marL="0">
              <a:buNone/>
            </a:pPr>
            <a:r>
              <a:rPr lang="en-US" sz="6400" b="1" dirty="0">
                <a:solidFill>
                  <a:schemeClr val="bg1"/>
                </a:solidFill>
                <a:latin typeface="Cambria" pitchFamily="34" charset="0"/>
                <a:ea typeface="Cambria" pitchFamily="34" charset="-122"/>
                <a:cs typeface="Cambria" pitchFamily="34" charset="-120"/>
              </a:rPr>
              <a:t>Primatenbrause</a:t>
            </a:r>
            <a:endParaRPr lang="en-US" sz="6400" dirty="0"/>
          </a:p>
        </p:txBody>
      </p:sp>
      <p:sp>
        <p:nvSpPr>
          <p:cNvPr id="6" name="Text 4"/>
          <p:cNvSpPr txBox="1"/>
          <p:nvPr/>
        </p:nvSpPr>
        <p:spPr>
          <a:xfrm>
            <a:off x="822960" y="3200400"/>
            <a:ext cx="6949440" cy="1097280"/>
          </a:xfrm>
          <a:prstGeom prst="rect">
            <a:avLst/>
          </a:prstGeom>
          <a:noFill/>
          <a:ln/>
        </p:spPr>
        <p:txBody>
          <a:bodyPr wrap="square" lIns="0" tIns="0" rIns="0" bIns="0" rtlCol="0" anchor="ctr"/>
          <a:lstStyle/>
          <a:p>
            <a:pPr indent="0" marL="0">
              <a:buNone/>
            </a:pPr>
            <a:r>
              <a:rPr lang="en-US" sz="2400" dirty="0">
                <a:solidFill>
                  <a:schemeClr val="bg2"/>
                </a:solidFill>
              </a:rPr>
              <a:t>Elbharz Getränke GbR – unser Weg durch sechs Spielrunden</a:t>
            </a:r>
            <a:endParaRPr lang="en-US" sz="2400" dirty="0"/>
          </a:p>
        </p:txBody>
      </p:sp>
      <p:sp>
        <p:nvSpPr>
          <p:cNvPr id="7" name="Text 5"/>
          <p:cNvSpPr txBox="1"/>
          <p:nvPr/>
        </p:nvSpPr>
        <p:spPr>
          <a:xfrm>
            <a:off x="822960" y="5120640"/>
            <a:ext cx="10058400" cy="365760"/>
          </a:xfrm>
          <a:prstGeom prst="rect">
            <a:avLst/>
          </a:prstGeom>
          <a:noFill/>
          <a:ln/>
        </p:spPr>
        <p:txBody>
          <a:bodyPr wrap="square" lIns="0" tIns="0" rIns="0" bIns="0" rtlCol="0" anchor="ctr"/>
          <a:lstStyle/>
          <a:p>
            <a:pPr indent="0" marL="0">
              <a:buNone/>
            </a:pPr>
            <a:r>
              <a:rPr lang="en-US" sz="1600" dirty="0">
                <a:solidFill>
                  <a:schemeClr val="accent3"/>
                </a:solidFill>
              </a:rPr>
              <a:t>Elbharz Getränke GbR · Klasse 11b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Wer wir sind und warum wir gegründet haben</a:t>
            </a:r>
            <a:endParaRPr lang="en-US" sz="3600" dirty="0"/>
          </a:p>
        </p:txBody>
      </p:sp>
      <p:sp>
        <p:nvSpPr>
          <p:cNvPr id="4" name="Leitgedanke"/>
          <p:cNvSpPr/>
          <p:nvPr/>
        </p:nvSpPr>
        <p:spPr>
          <a:xfrm>
            <a:off x="640080" y="1463040"/>
            <a:ext cx="4754880" cy="4480560"/>
          </a:xfrm>
          <a:prstGeom prst="roundRect">
            <a:avLst>
              <a:gd name="adj" fmla="val 2449"/>
            </a:avLst>
          </a:prstGeom>
          <a:solidFill>
            <a:schemeClr val="accent1"/>
          </a:solidFill>
          <a:ln/>
        </p:spPr>
      </p:sp>
      <p:sp>
        <p:nvSpPr>
          <p:cNvPr id="5" name="Text 2"/>
          <p:cNvSpPr txBox="1"/>
          <p:nvPr/>
        </p:nvSpPr>
        <p:spPr>
          <a:xfrm>
            <a:off x="1005840" y="1737360"/>
            <a:ext cx="4023360" cy="3931920"/>
          </a:xfrm>
          <a:prstGeom prst="rect">
            <a:avLst/>
          </a:prstGeom>
          <a:noFill/>
          <a:ln/>
        </p:spPr>
        <p:txBody>
          <a:bodyPr wrap="square" lIns="0" tIns="0" rIns="0" bIns="0" rtlCol="0" anchor="ctr"/>
          <a:lstStyle/>
          <a:p>
            <a:pPr indent="0" marL="0">
              <a:spcAft>
                <a:spcPts val="1400"/>
              </a:spcAft>
              <a:buNone/>
            </a:pPr>
            <a:r>
              <a:rPr lang="en-US" sz="3200" b="1" dirty="0">
                <a:solidFill>
                  <a:schemeClr val="bg1"/>
                </a:solidFill>
                <a:latin typeface="Cambria" pitchFamily="34" charset="0"/>
                <a:ea typeface="Cambria" pitchFamily="34" charset="-122"/>
                <a:cs typeface="Cambria" pitchFamily="34" charset="-120"/>
              </a:rPr>
              <a:t>Ein Getränk, dessen Rückseite man zu Ende lesen kann.</a:t>
            </a:r>
            <a:endParaRPr lang="en-US" sz="3200" dirty="0"/>
          </a:p>
          <a:p>
            <a:pPr indent="0" marL="0">
              <a:buNone/>
            </a:pPr>
            <a:r>
              <a:rPr lang="en-US" sz="1600" dirty="0">
                <a:solidFill>
                  <a:schemeClr val="bg2"/>
                </a:solidFill>
              </a:rPr>
              <a:t>Unsere einzige Vorgabe – daran haben wir alles andere gemessen.</a:t>
            </a:r>
            <a:endParaRPr lang="en-US" sz="3200" dirty="0"/>
          </a:p>
        </p:txBody>
      </p:sp>
      <p:sp>
        <p:nvSpPr>
          <p:cNvPr id="6" name="Karte Das Unternehmen"/>
          <p:cNvSpPr/>
          <p:nvPr/>
        </p:nvSpPr>
        <p:spPr>
          <a:xfrm>
            <a:off x="5669280" y="1463040"/>
            <a:ext cx="5852160" cy="1371600"/>
          </a:xfrm>
          <a:prstGeom prst="roundRect">
            <a:avLst>
              <a:gd name="adj" fmla="val 8000"/>
            </a:avLst>
          </a:prstGeom>
          <a:solidFill>
            <a:schemeClr val="bg2"/>
          </a:solidFill>
          <a:ln/>
        </p:spPr>
      </p:sp>
      <p:sp>
        <p:nvSpPr>
          <p:cNvPr id="7" name="Icon-Kreis FaBuilding"/>
          <p:cNvSpPr/>
          <p:nvPr/>
        </p:nvSpPr>
        <p:spPr>
          <a:xfrm>
            <a:off x="5943600" y="1828800"/>
            <a:ext cx="640080" cy="640080"/>
          </a:xfrm>
          <a:prstGeom prst="ellipse">
            <a:avLst/>
          </a:prstGeom>
          <a:solidFill>
            <a:schemeClr val="accent1"/>
          </a:solidFill>
          <a:ln/>
        </p:spPr>
      </p:sp>
      <p:pic>
        <p:nvPicPr>
          <p:cNvPr id="8" name="Icon FaBuilding" descr="Symbol">    </p:cNvPr>
          <p:cNvPicPr>
            <a:picLocks noChangeAspect="1"/>
          </p:cNvPicPr>
          <p:nvPr/>
        </p:nvPicPr>
        <p:blipFill>
          <a:blip r:embed="rId1"/>
          <a:stretch>
            <a:fillRect/>
          </a:stretch>
        </p:blipFill>
        <p:spPr>
          <a:xfrm>
            <a:off x="6122822" y="2008022"/>
            <a:ext cx="281635" cy="281635"/>
          </a:xfrm>
          <a:prstGeom prst="rect">
            <a:avLst/>
          </a:prstGeom>
        </p:spPr>
      </p:pic>
      <p:sp>
        <p:nvSpPr>
          <p:cNvPr id="9" name="Text 5"/>
          <p:cNvSpPr txBox="1"/>
          <p:nvPr/>
        </p:nvSpPr>
        <p:spPr>
          <a:xfrm>
            <a:off x="6812280" y="1463040"/>
            <a:ext cx="4480560" cy="1371600"/>
          </a:xfrm>
          <a:prstGeom prst="rect">
            <a:avLst/>
          </a:prstGeom>
          <a:noFill/>
          <a:ln/>
        </p:spPr>
        <p:txBody>
          <a:bodyPr wrap="square" lIns="0" tIns="0" rIns="0" bIns="0" rtlCol="0" anchor="ctr"/>
          <a:lstStyle/>
          <a:p>
            <a:pPr indent="0" marL="0">
              <a:buNone/>
            </a:pPr>
            <a:r>
              <a:rPr lang="en-US" sz="2000" b="1" dirty="0">
                <a:solidFill>
                  <a:schemeClr val="tx2"/>
                </a:solidFill>
              </a:rPr>
              <a:t>Das Unternehmen</a:t>
            </a:r>
            <a:endParaRPr lang="en-US" sz="2000" dirty="0"/>
          </a:p>
          <a:p>
            <a:pPr indent="0" marL="0">
              <a:buNone/>
            </a:pPr>
            <a:r>
              <a:rPr lang="en-US" sz="1600" dirty="0">
                <a:solidFill>
                  <a:schemeClr val="tx1"/>
                </a:solidFill>
              </a:rPr>
              <a:t>Elbharz Getränke GbR, Hamburg, 4 Gesellschafter. Produkt: Primatenbrause (Tamarinde-Limette)</a:t>
            </a:r>
            <a:endParaRPr lang="en-US" sz="2000" dirty="0"/>
          </a:p>
        </p:txBody>
      </p:sp>
      <p:sp>
        <p:nvSpPr>
          <p:cNvPr id="10" name="Karte Die Zielgruppe"/>
          <p:cNvSpPr/>
          <p:nvPr/>
        </p:nvSpPr>
        <p:spPr>
          <a:xfrm>
            <a:off x="5669280" y="3017520"/>
            <a:ext cx="5852160" cy="1371600"/>
          </a:xfrm>
          <a:prstGeom prst="roundRect">
            <a:avLst>
              <a:gd name="adj" fmla="val 8000"/>
            </a:avLst>
          </a:prstGeom>
          <a:solidFill>
            <a:schemeClr val="bg2"/>
          </a:solidFill>
          <a:ln/>
        </p:spPr>
      </p:sp>
      <p:sp>
        <p:nvSpPr>
          <p:cNvPr id="11" name="Icon-Kreis FaBullseye"/>
          <p:cNvSpPr/>
          <p:nvPr/>
        </p:nvSpPr>
        <p:spPr>
          <a:xfrm>
            <a:off x="5943600" y="3383280"/>
            <a:ext cx="640080" cy="640080"/>
          </a:xfrm>
          <a:prstGeom prst="ellipse">
            <a:avLst/>
          </a:prstGeom>
          <a:solidFill>
            <a:schemeClr val="accent2"/>
          </a:solidFill>
          <a:ln/>
        </p:spPr>
      </p:sp>
      <p:pic>
        <p:nvPicPr>
          <p:cNvPr id="12" name="Icon FaBullseye" descr="Symbol">    </p:cNvPr>
          <p:cNvPicPr>
            <a:picLocks noChangeAspect="1"/>
          </p:cNvPicPr>
          <p:nvPr/>
        </p:nvPicPr>
        <p:blipFill>
          <a:blip r:embed="rId2"/>
          <a:stretch>
            <a:fillRect/>
          </a:stretch>
        </p:blipFill>
        <p:spPr>
          <a:xfrm>
            <a:off x="6122822" y="3562502"/>
            <a:ext cx="281635" cy="281635"/>
          </a:xfrm>
          <a:prstGeom prst="rect">
            <a:avLst/>
          </a:prstGeom>
        </p:spPr>
      </p:pic>
      <p:sp>
        <p:nvSpPr>
          <p:cNvPr id="13" name="Text 8"/>
          <p:cNvSpPr txBox="1"/>
          <p:nvPr/>
        </p:nvSpPr>
        <p:spPr>
          <a:xfrm>
            <a:off x="6812280" y="3017520"/>
            <a:ext cx="4480560" cy="1371600"/>
          </a:xfrm>
          <a:prstGeom prst="rect">
            <a:avLst/>
          </a:prstGeom>
          <a:noFill/>
          <a:ln/>
        </p:spPr>
        <p:txBody>
          <a:bodyPr wrap="square" lIns="0" tIns="0" rIns="0" bIns="0" rtlCol="0" anchor="ctr"/>
          <a:lstStyle/>
          <a:p>
            <a:pPr indent="0" marL="0">
              <a:buNone/>
            </a:pPr>
            <a:r>
              <a:rPr lang="en-US" sz="2000" b="1" dirty="0">
                <a:solidFill>
                  <a:schemeClr val="tx2"/>
                </a:solidFill>
              </a:rPr>
              <a:t>Die Zielgruppe</a:t>
            </a:r>
            <a:endParaRPr lang="en-US" sz="2000" dirty="0"/>
          </a:p>
          <a:p>
            <a:pPr indent="0" marL="0">
              <a:buNone/>
            </a:pPr>
            <a:r>
              <a:rPr lang="en-US" sz="1600" dirty="0">
                <a:solidFill>
                  <a:schemeClr val="tx1"/>
                </a:solidFill>
              </a:rPr>
              <a:t>16–25 Jahre, liest Etiketten aus Misstrauen – Slogan: „Was dein Körper schon immer wollte.“</a:t>
            </a:r>
            <a:endParaRPr lang="en-US" sz="2000" dirty="0"/>
          </a:p>
        </p:txBody>
      </p:sp>
      <p:sp>
        <p:nvSpPr>
          <p:cNvPr id="14" name="Karte Der Vertrieb"/>
          <p:cNvSpPr/>
          <p:nvPr/>
        </p:nvSpPr>
        <p:spPr>
          <a:xfrm>
            <a:off x="5669280" y="4572000"/>
            <a:ext cx="5852160" cy="1371600"/>
          </a:xfrm>
          <a:prstGeom prst="roundRect">
            <a:avLst>
              <a:gd name="adj" fmla="val 8000"/>
            </a:avLst>
          </a:prstGeom>
          <a:solidFill>
            <a:schemeClr val="bg2"/>
          </a:solidFill>
          <a:ln/>
        </p:spPr>
      </p:sp>
      <p:sp>
        <p:nvSpPr>
          <p:cNvPr id="15" name="Icon-Kreis FaStore"/>
          <p:cNvSpPr/>
          <p:nvPr/>
        </p:nvSpPr>
        <p:spPr>
          <a:xfrm>
            <a:off x="5943600" y="4937760"/>
            <a:ext cx="640080" cy="640080"/>
          </a:xfrm>
          <a:prstGeom prst="ellipse">
            <a:avLst/>
          </a:prstGeom>
          <a:solidFill>
            <a:schemeClr val="accent3"/>
          </a:solidFill>
          <a:ln/>
        </p:spPr>
      </p:sp>
      <p:pic>
        <p:nvPicPr>
          <p:cNvPr id="16" name="Icon FaStore" descr="Symbol">    </p:cNvPr>
          <p:cNvPicPr>
            <a:picLocks noChangeAspect="1"/>
          </p:cNvPicPr>
          <p:nvPr/>
        </p:nvPicPr>
        <p:blipFill>
          <a:blip r:embed="rId3"/>
          <a:stretch>
            <a:fillRect/>
          </a:stretch>
        </p:blipFill>
        <p:spPr>
          <a:xfrm>
            <a:off x="6122822" y="5116982"/>
            <a:ext cx="281635" cy="281635"/>
          </a:xfrm>
          <a:prstGeom prst="rect">
            <a:avLst/>
          </a:prstGeom>
        </p:spPr>
      </p:pic>
      <p:sp>
        <p:nvSpPr>
          <p:cNvPr id="17" name="Text 11"/>
          <p:cNvSpPr txBox="1"/>
          <p:nvPr/>
        </p:nvSpPr>
        <p:spPr>
          <a:xfrm>
            <a:off x="6812280" y="4572000"/>
            <a:ext cx="4480560" cy="1371600"/>
          </a:xfrm>
          <a:prstGeom prst="rect">
            <a:avLst/>
          </a:prstGeom>
          <a:noFill/>
          <a:ln/>
        </p:spPr>
        <p:txBody>
          <a:bodyPr wrap="square" lIns="0" tIns="0" rIns="0" bIns="0" rtlCol="0" anchor="ctr"/>
          <a:lstStyle/>
          <a:p>
            <a:pPr indent="0" marL="0">
              <a:buNone/>
            </a:pPr>
            <a:r>
              <a:rPr lang="en-US" sz="2000" b="1" dirty="0">
                <a:solidFill>
                  <a:schemeClr val="tx2"/>
                </a:solidFill>
              </a:rPr>
              <a:t>Der Vertrieb</a:t>
            </a:r>
            <a:endParaRPr lang="en-US" sz="2000" dirty="0"/>
          </a:p>
          <a:p>
            <a:pPr indent="0" marL="0">
              <a:buNone/>
            </a:pPr>
            <a:r>
              <a:rPr lang="en-US" sz="1600" dirty="0">
                <a:solidFill>
                  <a:schemeClr val="tx1"/>
                </a:solidFill>
              </a:rPr>
              <a:t>Onlineshop und Social Media, dann regionaler Handel, dazu Messen und Märkte</a:t>
            </a:r>
            <a:endParaRPr lang="en-US" sz="20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Nachhaltigkeit von Anfang an</a:t>
            </a:r>
            <a:endParaRPr lang="en-US" sz="3600" dirty="0"/>
          </a:p>
        </p:txBody>
      </p:sp>
      <p:sp>
        <p:nvSpPr>
          <p:cNvPr id="4" name="Karte Mehrweg-Glas"/>
          <p:cNvSpPr/>
          <p:nvPr/>
        </p:nvSpPr>
        <p:spPr>
          <a:xfrm>
            <a:off x="640080" y="1463040"/>
            <a:ext cx="3474720" cy="2926080"/>
          </a:xfrm>
          <a:prstGeom prst="roundRect">
            <a:avLst>
              <a:gd name="adj" fmla="val 3750"/>
            </a:avLst>
          </a:prstGeom>
          <a:solidFill>
            <a:schemeClr val="bg2"/>
          </a:solidFill>
          <a:ln/>
        </p:spPr>
      </p:sp>
      <p:sp>
        <p:nvSpPr>
          <p:cNvPr id="5" name="Icon-Kreis FaRecycle"/>
          <p:cNvSpPr/>
          <p:nvPr/>
        </p:nvSpPr>
        <p:spPr>
          <a:xfrm>
            <a:off x="914400" y="1737360"/>
            <a:ext cx="640080" cy="640080"/>
          </a:xfrm>
          <a:prstGeom prst="ellipse">
            <a:avLst/>
          </a:prstGeom>
          <a:solidFill>
            <a:schemeClr val="accent3"/>
          </a:solidFill>
          <a:ln/>
        </p:spPr>
      </p:sp>
      <p:pic>
        <p:nvPicPr>
          <p:cNvPr id="6" name="Icon FaRecycle" descr="Symbol">    </p:cNvPr>
          <p:cNvPicPr>
            <a:picLocks noChangeAspect="1"/>
          </p:cNvPicPr>
          <p:nvPr/>
        </p:nvPicPr>
        <p:blipFill>
          <a:blip r:embed="rId1"/>
          <a:stretch>
            <a:fillRect/>
          </a:stretch>
        </p:blipFill>
        <p:spPr>
          <a:xfrm>
            <a:off x="1093622" y="1916582"/>
            <a:ext cx="281635" cy="281635"/>
          </a:xfrm>
          <a:prstGeom prst="rect">
            <a:avLst/>
          </a:prstGeom>
        </p:spPr>
      </p:pic>
      <p:sp>
        <p:nvSpPr>
          <p:cNvPr id="7" name="Text 3"/>
          <p:cNvSpPr txBox="1"/>
          <p:nvPr/>
        </p:nvSpPr>
        <p:spPr>
          <a:xfrm>
            <a:off x="1737360" y="1737360"/>
            <a:ext cx="2103120" cy="640080"/>
          </a:xfrm>
          <a:prstGeom prst="rect">
            <a:avLst/>
          </a:prstGeom>
          <a:noFill/>
          <a:ln/>
        </p:spPr>
        <p:txBody>
          <a:bodyPr wrap="square" lIns="0" tIns="0" rIns="0" bIns="0" rtlCol="0" anchor="ctr"/>
          <a:lstStyle/>
          <a:p>
            <a:pPr indent="0" marL="0">
              <a:buNone/>
            </a:pPr>
            <a:r>
              <a:rPr lang="en-US" sz="2000" b="1" dirty="0">
                <a:solidFill>
                  <a:schemeClr val="tx2"/>
                </a:solidFill>
              </a:rPr>
              <a:t>Mehrweg-Glas</a:t>
            </a:r>
            <a:endParaRPr lang="en-US" sz="2000" dirty="0"/>
          </a:p>
        </p:txBody>
      </p:sp>
      <p:sp>
        <p:nvSpPr>
          <p:cNvPr id="8" name="Text 4"/>
          <p:cNvSpPr txBox="1"/>
          <p:nvPr/>
        </p:nvSpPr>
        <p:spPr>
          <a:xfrm>
            <a:off x="914400" y="2651760"/>
            <a:ext cx="2926080" cy="1554480"/>
          </a:xfrm>
          <a:prstGeom prst="rect">
            <a:avLst/>
          </a:prstGeom>
          <a:noFill/>
          <a:ln/>
        </p:spPr>
        <p:txBody>
          <a:bodyPr wrap="square" lIns="0" tIns="0" rIns="0" bIns="0" rtlCol="0" anchor="t"/>
          <a:lstStyle/>
          <a:p>
            <a:pPr indent="0" marL="0">
              <a:spcAft>
                <a:spcPts val="600"/>
              </a:spcAft>
              <a:buNone/>
            </a:pPr>
            <a:r>
              <a:rPr lang="en-US" sz="1600" dirty="0">
                <a:solidFill>
                  <a:schemeClr val="tx1"/>
                </a:solidFill>
              </a:rPr>
              <a:t>Pfandsystem statt Einweg</a:t>
            </a:r>
            <a:endParaRPr lang="en-US" sz="1600" dirty="0"/>
          </a:p>
        </p:txBody>
      </p:sp>
      <p:sp>
        <p:nvSpPr>
          <p:cNvPr id="9" name="Karte Regional"/>
          <p:cNvSpPr/>
          <p:nvPr/>
        </p:nvSpPr>
        <p:spPr>
          <a:xfrm>
            <a:off x="4343400" y="1463040"/>
            <a:ext cx="3474720" cy="2926080"/>
          </a:xfrm>
          <a:prstGeom prst="roundRect">
            <a:avLst>
              <a:gd name="adj" fmla="val 3750"/>
            </a:avLst>
          </a:prstGeom>
          <a:solidFill>
            <a:schemeClr val="bg2"/>
          </a:solidFill>
          <a:ln/>
        </p:spPr>
      </p:sp>
      <p:sp>
        <p:nvSpPr>
          <p:cNvPr id="10" name="Icon-Kreis FaMapMarkerAlt"/>
          <p:cNvSpPr/>
          <p:nvPr/>
        </p:nvSpPr>
        <p:spPr>
          <a:xfrm>
            <a:off x="4617720" y="1737360"/>
            <a:ext cx="640080" cy="640080"/>
          </a:xfrm>
          <a:prstGeom prst="ellipse">
            <a:avLst/>
          </a:prstGeom>
          <a:solidFill>
            <a:schemeClr val="accent3"/>
          </a:solidFill>
          <a:ln/>
        </p:spPr>
      </p:sp>
      <p:pic>
        <p:nvPicPr>
          <p:cNvPr id="11" name="Icon FaMapMarkerAlt" descr="Symbol">    </p:cNvPr>
          <p:cNvPicPr>
            <a:picLocks noChangeAspect="1"/>
          </p:cNvPicPr>
          <p:nvPr/>
        </p:nvPicPr>
        <p:blipFill>
          <a:blip r:embed="rId2"/>
          <a:stretch>
            <a:fillRect/>
          </a:stretch>
        </p:blipFill>
        <p:spPr>
          <a:xfrm>
            <a:off x="4796942" y="1916582"/>
            <a:ext cx="281635" cy="281635"/>
          </a:xfrm>
          <a:prstGeom prst="rect">
            <a:avLst/>
          </a:prstGeom>
        </p:spPr>
      </p:pic>
      <p:sp>
        <p:nvSpPr>
          <p:cNvPr id="12" name="Text 7"/>
          <p:cNvSpPr txBox="1"/>
          <p:nvPr/>
        </p:nvSpPr>
        <p:spPr>
          <a:xfrm>
            <a:off x="5440680" y="1737360"/>
            <a:ext cx="2103120" cy="640080"/>
          </a:xfrm>
          <a:prstGeom prst="rect">
            <a:avLst/>
          </a:prstGeom>
          <a:noFill/>
          <a:ln/>
        </p:spPr>
        <p:txBody>
          <a:bodyPr wrap="square" lIns="0" tIns="0" rIns="0" bIns="0" rtlCol="0" anchor="ctr"/>
          <a:lstStyle/>
          <a:p>
            <a:pPr indent="0" marL="0">
              <a:buNone/>
            </a:pPr>
            <a:r>
              <a:rPr lang="en-US" sz="2000" b="1" dirty="0">
                <a:solidFill>
                  <a:schemeClr val="tx2"/>
                </a:solidFill>
              </a:rPr>
              <a:t>Regional</a:t>
            </a:r>
            <a:endParaRPr lang="en-US" sz="2000" dirty="0"/>
          </a:p>
        </p:txBody>
      </p:sp>
      <p:sp>
        <p:nvSpPr>
          <p:cNvPr id="13" name="Text 8"/>
          <p:cNvSpPr txBox="1"/>
          <p:nvPr/>
        </p:nvSpPr>
        <p:spPr>
          <a:xfrm>
            <a:off x="4617720" y="2651760"/>
            <a:ext cx="2926080" cy="1554480"/>
          </a:xfrm>
          <a:prstGeom prst="rect">
            <a:avLst/>
          </a:prstGeom>
          <a:noFill/>
          <a:ln/>
        </p:spPr>
        <p:txBody>
          <a:bodyPr wrap="square" lIns="0" tIns="0" rIns="0" bIns="0" rtlCol="0" anchor="t"/>
          <a:lstStyle/>
          <a:p>
            <a:pPr indent="0" marL="0">
              <a:spcAft>
                <a:spcPts val="600"/>
              </a:spcAft>
              <a:buNone/>
            </a:pPr>
            <a:r>
              <a:rPr lang="en-US" sz="1600" dirty="0">
                <a:solidFill>
                  <a:schemeClr val="tx1"/>
                </a:solidFill>
              </a:rPr>
              <a:t>Hier gebraut, hier abgefüllt – kurze Wege, damit Mehrweg ökologisch wirklich besser ist</a:t>
            </a:r>
            <a:endParaRPr lang="en-US" sz="1600" dirty="0"/>
          </a:p>
        </p:txBody>
      </p:sp>
      <p:sp>
        <p:nvSpPr>
          <p:cNvPr id="14" name="Karte Eine Sorte"/>
          <p:cNvSpPr/>
          <p:nvPr/>
        </p:nvSpPr>
        <p:spPr>
          <a:xfrm>
            <a:off x="8046720" y="1463040"/>
            <a:ext cx="3474720" cy="2926080"/>
          </a:xfrm>
          <a:prstGeom prst="roundRect">
            <a:avLst>
              <a:gd name="adj" fmla="val 3750"/>
            </a:avLst>
          </a:prstGeom>
          <a:solidFill>
            <a:schemeClr val="bg2"/>
          </a:solidFill>
          <a:ln/>
        </p:spPr>
      </p:sp>
      <p:sp>
        <p:nvSpPr>
          <p:cNvPr id="15" name="Icon-Kreis FaLeaf"/>
          <p:cNvSpPr/>
          <p:nvPr/>
        </p:nvSpPr>
        <p:spPr>
          <a:xfrm>
            <a:off x="8321040" y="1737360"/>
            <a:ext cx="640080" cy="640080"/>
          </a:xfrm>
          <a:prstGeom prst="ellipse">
            <a:avLst/>
          </a:prstGeom>
          <a:solidFill>
            <a:schemeClr val="accent3"/>
          </a:solidFill>
          <a:ln/>
        </p:spPr>
      </p:sp>
      <p:pic>
        <p:nvPicPr>
          <p:cNvPr id="16" name="Icon FaLeaf" descr="Symbol">    </p:cNvPr>
          <p:cNvPicPr>
            <a:picLocks noChangeAspect="1"/>
          </p:cNvPicPr>
          <p:nvPr/>
        </p:nvPicPr>
        <p:blipFill>
          <a:blip r:embed="rId3"/>
          <a:stretch>
            <a:fillRect/>
          </a:stretch>
        </p:blipFill>
        <p:spPr>
          <a:xfrm>
            <a:off x="8500262" y="1916582"/>
            <a:ext cx="281635" cy="281635"/>
          </a:xfrm>
          <a:prstGeom prst="rect">
            <a:avLst/>
          </a:prstGeom>
        </p:spPr>
      </p:pic>
      <p:sp>
        <p:nvSpPr>
          <p:cNvPr id="17" name="Text 11"/>
          <p:cNvSpPr txBox="1"/>
          <p:nvPr/>
        </p:nvSpPr>
        <p:spPr>
          <a:xfrm>
            <a:off x="9144000" y="1737360"/>
            <a:ext cx="2103120" cy="640080"/>
          </a:xfrm>
          <a:prstGeom prst="rect">
            <a:avLst/>
          </a:prstGeom>
          <a:noFill/>
          <a:ln/>
        </p:spPr>
        <p:txBody>
          <a:bodyPr wrap="square" lIns="0" tIns="0" rIns="0" bIns="0" rtlCol="0" anchor="ctr"/>
          <a:lstStyle/>
          <a:p>
            <a:pPr indent="0" marL="0">
              <a:buNone/>
            </a:pPr>
            <a:r>
              <a:rPr lang="en-US" sz="2000" b="1" dirty="0">
                <a:solidFill>
                  <a:schemeClr val="tx2"/>
                </a:solidFill>
              </a:rPr>
              <a:t>Eine Sorte</a:t>
            </a:r>
            <a:endParaRPr lang="en-US" sz="2000" dirty="0"/>
          </a:p>
        </p:txBody>
      </p:sp>
      <p:sp>
        <p:nvSpPr>
          <p:cNvPr id="18" name="Text 12"/>
          <p:cNvSpPr txBox="1"/>
          <p:nvPr/>
        </p:nvSpPr>
        <p:spPr>
          <a:xfrm>
            <a:off x="8321040" y="2651760"/>
            <a:ext cx="2926080" cy="1554480"/>
          </a:xfrm>
          <a:prstGeom prst="rect">
            <a:avLst/>
          </a:prstGeom>
          <a:noFill/>
          <a:ln/>
        </p:spPr>
        <p:txBody>
          <a:bodyPr wrap="square" lIns="0" tIns="0" rIns="0" bIns="0" rtlCol="0" anchor="t"/>
          <a:lstStyle/>
          <a:p>
            <a:pPr indent="0" marL="0">
              <a:spcAft>
                <a:spcPts val="600"/>
              </a:spcAft>
              <a:buNone/>
            </a:pPr>
            <a:r>
              <a:rPr lang="en-US" sz="1600" dirty="0">
                <a:solidFill>
                  <a:schemeClr val="tx1"/>
                </a:solidFill>
              </a:rPr>
              <a:t>Weniger Produktion, Lager und Transport</a:t>
            </a:r>
            <a:endParaRPr lang="en-US" sz="1600" dirty="0"/>
          </a:p>
        </p:txBody>
      </p:sp>
      <p:sp>
        <p:nvSpPr>
          <p:cNvPr id="19" name="Platzhalter"/>
          <p:cNvSpPr/>
          <p:nvPr/>
        </p:nvSpPr>
        <p:spPr>
          <a:xfrm>
            <a:off x="640080" y="4663440"/>
            <a:ext cx="10881360" cy="1371600"/>
          </a:xfrm>
          <a:prstGeom prst="roundRect">
            <a:avLst>
              <a:gd name="adj" fmla="val 8000"/>
            </a:avLst>
          </a:prstGeom>
          <a:solidFill>
            <a:schemeClr val="bg2"/>
          </a:solidFill>
          <a:ln w="15875">
            <a:solidFill>
              <a:schemeClr val="accent5"/>
            </a:solidFill>
            <a:prstDash val="dash"/>
          </a:ln>
        </p:spPr>
      </p:sp>
      <p:sp>
        <p:nvSpPr>
          <p:cNvPr id="20" name="Text 14"/>
          <p:cNvSpPr txBox="1"/>
          <p:nvPr/>
        </p:nvSpPr>
        <p:spPr>
          <a:xfrm>
            <a:off x="868680" y="4663440"/>
            <a:ext cx="10424160" cy="1371600"/>
          </a:xfrm>
          <a:prstGeom prst="rect">
            <a:avLst/>
          </a:prstGeom>
          <a:noFill/>
          <a:ln/>
        </p:spPr>
        <p:txBody>
          <a:bodyPr wrap="square" lIns="0" tIns="0" rIns="0" bIns="0" rtlCol="0" anchor="ctr"/>
          <a:lstStyle/>
          <a:p>
            <a:pPr indent="0" marL="0">
              <a:buNone/>
            </a:pPr>
            <a:r>
              <a:rPr lang="en-US" sz="1600" b="1" dirty="0">
                <a:solidFill>
                  <a:schemeClr val="tx2"/>
                </a:solidFill>
              </a:rPr>
              <a:t>Verknüpfung zum Spiel</a:t>
            </a:r>
            <a:endParaRPr lang="en-US" sz="1600" dirty="0"/>
          </a:p>
          <a:p>
            <a:pPr indent="0" marL="0">
              <a:buNone/>
            </a:pPr>
            <a:r>
              <a:rPr lang="en-US" sz="1400" dirty="0">
                <a:solidFill>
                  <a:schemeClr val="tx1"/>
                </a:solidFill>
              </a:rPr>
              <a:t>Wie floss Nachhaltigkeit im Spiel ein? – gemeinsam entscheiden und ergänzen</a:t>
            </a:r>
            <a:endParaRPr lang="en-US" sz="16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Verlauf der Runden im Überblick</a:t>
            </a:r>
            <a:endParaRPr lang="en-US" sz="3600" dirty="0"/>
          </a:p>
        </p:txBody>
      </p:sp>
      <p:sp>
        <p:nvSpPr>
          <p:cNvPr id="4" name="Runde 1"/>
          <p:cNvSpPr/>
          <p:nvPr/>
        </p:nvSpPr>
        <p:spPr>
          <a:xfrm>
            <a:off x="1188720" y="1554480"/>
            <a:ext cx="548640" cy="548640"/>
          </a:xfrm>
          <a:prstGeom prst="ellipse">
            <a:avLst/>
          </a:prstGeom>
          <a:solidFill>
            <a:schemeClr val="accent1"/>
          </a:solidFill>
          <a:ln/>
        </p:spPr>
      </p:sp>
      <p:sp>
        <p:nvSpPr>
          <p:cNvPr id="5" name="Text 2"/>
          <p:cNvSpPr txBox="1"/>
          <p:nvPr/>
        </p:nvSpPr>
        <p:spPr>
          <a:xfrm>
            <a:off x="1188720" y="15544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640080" y="2194560"/>
            <a:ext cx="1645920" cy="640080"/>
          </a:xfrm>
          <a:prstGeom prst="rect">
            <a:avLst/>
          </a:prstGeom>
          <a:noFill/>
          <a:ln/>
        </p:spPr>
        <p:txBody>
          <a:bodyPr wrap="square" lIns="0" tIns="0" rIns="0" bIns="0" rtlCol="0" anchor="ctr"/>
          <a:lstStyle/>
          <a:p>
            <a:pPr algn="ctr" indent="0" marL="0">
              <a:buNone/>
            </a:pPr>
            <a:r>
              <a:rPr lang="en-US" sz="1400" b="1" dirty="0">
                <a:solidFill>
                  <a:schemeClr val="tx2"/>
                </a:solidFill>
              </a:rPr>
              <a:t>Runde 1</a:t>
            </a:r>
            <a:endParaRPr lang="en-US" sz="1400" dirty="0"/>
          </a:p>
          <a:p>
            <a:pPr algn="ctr" indent="0" marL="0">
              <a:buNone/>
            </a:pPr>
            <a:r>
              <a:rPr lang="en-US" sz="1400" b="1" dirty="0">
                <a:solidFill>
                  <a:schemeClr val="tx2"/>
                </a:solidFill>
              </a:rPr>
              <a:t>Jan./Feb.</a:t>
            </a:r>
            <a:endParaRPr lang="en-US" sz="1400" dirty="0"/>
          </a:p>
        </p:txBody>
      </p:sp>
      <p:sp>
        <p:nvSpPr>
          <p:cNvPr id="7" name="Karte Runde 1"/>
          <p:cNvSpPr/>
          <p:nvPr/>
        </p:nvSpPr>
        <p:spPr>
          <a:xfrm>
            <a:off x="640080" y="3017520"/>
            <a:ext cx="1645920" cy="2926080"/>
          </a:xfrm>
          <a:prstGeom prst="roundRect">
            <a:avLst>
              <a:gd name="adj" fmla="val 5556"/>
            </a:avLst>
          </a:prstGeom>
          <a:solidFill>
            <a:schemeClr val="bg2"/>
          </a:solidFill>
          <a:ln/>
        </p:spPr>
      </p:sp>
      <p:sp>
        <p:nvSpPr>
          <p:cNvPr id="8" name="Text 5"/>
          <p:cNvSpPr txBox="1"/>
          <p:nvPr/>
        </p:nvSpPr>
        <p:spPr>
          <a:xfrm>
            <a:off x="777240" y="3154680"/>
            <a:ext cx="1371600" cy="274320"/>
          </a:xfrm>
          <a:prstGeom prst="rect">
            <a:avLst/>
          </a:prstGeom>
          <a:noFill/>
          <a:ln/>
        </p:spPr>
        <p:txBody>
          <a:bodyPr wrap="square" lIns="0" tIns="0" rIns="0" bIns="0" rtlCol="0" anchor="ctr"/>
          <a:lstStyle/>
          <a:p>
            <a:pPr algn="ctr" indent="0" marL="0">
              <a:buNone/>
            </a:pPr>
            <a:r>
              <a:rPr lang="en-US" sz="1200" dirty="0">
                <a:solidFill>
                  <a:schemeClr val="accent4"/>
                </a:solidFill>
              </a:rPr>
              <a:t>Entscheidung</a:t>
            </a:r>
            <a:endParaRPr lang="en-US" sz="1200" dirty="0"/>
          </a:p>
        </p:txBody>
      </p:sp>
      <p:sp>
        <p:nvSpPr>
          <p:cNvPr id="9" name="Text 6"/>
          <p:cNvSpPr txBox="1"/>
          <p:nvPr/>
        </p:nvSpPr>
        <p:spPr>
          <a:xfrm>
            <a:off x="731520" y="3474720"/>
            <a:ext cx="1463040" cy="1097280"/>
          </a:xfrm>
          <a:prstGeom prst="rect">
            <a:avLst/>
          </a:prstGeom>
          <a:noFill/>
          <a:ln/>
        </p:spPr>
        <p:txBody>
          <a:bodyPr wrap="square" lIns="0" tIns="0" rIns="0" bIns="0" rtlCol="0" anchor="t"/>
          <a:lstStyle/>
          <a:p>
            <a:pPr algn="ctr" indent="0" marL="0">
              <a:buNone/>
            </a:pPr>
            <a:r>
              <a:rPr lang="en-US" sz="1400" dirty="0">
                <a:solidFill>
                  <a:schemeClr val="tx1"/>
                </a:solidFill>
              </a:rPr>
              <a:t>1 Maschine</a:t>
            </a:r>
            <a:endParaRPr lang="en-US" sz="1400" dirty="0"/>
          </a:p>
          <a:p>
            <a:pPr algn="ctr" indent="0" marL="0">
              <a:buNone/>
            </a:pPr>
            <a:r>
              <a:rPr lang="en-US" sz="1400" dirty="0">
                <a:solidFill>
                  <a:schemeClr val="tx1"/>
                </a:solidFill>
              </a:rPr>
              <a:t>15 Paletten</a:t>
            </a:r>
            <a:endParaRPr lang="en-US" sz="1400" dirty="0"/>
          </a:p>
          <a:p>
            <a:pPr algn="ctr" indent="0" marL="0">
              <a:buNone/>
            </a:pPr>
            <a:r>
              <a:rPr lang="en-US" sz="1400" dirty="0">
                <a:solidFill>
                  <a:schemeClr val="tx1"/>
                </a:solidFill>
              </a:rPr>
              <a:t>à 3.000 €</a:t>
            </a:r>
            <a:endParaRPr lang="en-US" sz="1400" dirty="0"/>
          </a:p>
        </p:txBody>
      </p:sp>
      <p:sp>
        <p:nvSpPr>
          <p:cNvPr id="10" name="Text 7"/>
          <p:cNvSpPr txBox="1"/>
          <p:nvPr/>
        </p:nvSpPr>
        <p:spPr>
          <a:xfrm>
            <a:off x="777240" y="4754880"/>
            <a:ext cx="1371600" cy="274320"/>
          </a:xfrm>
          <a:prstGeom prst="rect">
            <a:avLst/>
          </a:prstGeom>
          <a:noFill/>
          <a:ln/>
        </p:spPr>
        <p:txBody>
          <a:bodyPr wrap="square" lIns="0" tIns="0" rIns="0" bIns="0" rtlCol="0" anchor="ctr"/>
          <a:lstStyle/>
          <a:p>
            <a:pPr algn="ctr" indent="0" marL="0">
              <a:buNone/>
            </a:pPr>
            <a:r>
              <a:rPr lang="en-US" sz="1200" dirty="0">
                <a:solidFill>
                  <a:schemeClr val="accent4"/>
                </a:solidFill>
              </a:rPr>
              <a:t>Umsatz</a:t>
            </a:r>
            <a:endParaRPr lang="en-US" sz="1200" dirty="0"/>
          </a:p>
        </p:txBody>
      </p:sp>
      <p:sp>
        <p:nvSpPr>
          <p:cNvPr id="11" name="Text 8"/>
          <p:cNvSpPr txBox="1"/>
          <p:nvPr/>
        </p:nvSpPr>
        <p:spPr>
          <a:xfrm>
            <a:off x="731520" y="5074920"/>
            <a:ext cx="1463040" cy="548640"/>
          </a:xfrm>
          <a:prstGeom prst="rect">
            <a:avLst/>
          </a:prstGeom>
          <a:noFill/>
          <a:ln/>
        </p:spPr>
        <p:txBody>
          <a:bodyPr wrap="square" lIns="0" tIns="0" rIns="0" bIns="0" rtlCol="0" anchor="ctr"/>
          <a:lstStyle/>
          <a:p>
            <a:pPr algn="ctr" indent="0" marL="0">
              <a:buNone/>
            </a:pPr>
            <a:r>
              <a:rPr lang="en-US" sz="2000" b="1" dirty="0">
                <a:solidFill>
                  <a:schemeClr val="tx2"/>
                </a:solidFill>
              </a:rPr>
              <a:t>45.000 €</a:t>
            </a:r>
            <a:endParaRPr lang="en-US" sz="2000" dirty="0"/>
          </a:p>
        </p:txBody>
      </p:sp>
      <p:sp>
        <p:nvSpPr>
          <p:cNvPr id="12" name="Runde 2"/>
          <p:cNvSpPr/>
          <p:nvPr/>
        </p:nvSpPr>
        <p:spPr>
          <a:xfrm>
            <a:off x="3035808" y="1554480"/>
            <a:ext cx="548640" cy="548640"/>
          </a:xfrm>
          <a:prstGeom prst="ellipse">
            <a:avLst/>
          </a:prstGeom>
          <a:solidFill>
            <a:schemeClr val="accent1"/>
          </a:solidFill>
          <a:ln/>
        </p:spPr>
      </p:sp>
      <p:sp>
        <p:nvSpPr>
          <p:cNvPr id="13" name="Text 10"/>
          <p:cNvSpPr txBox="1"/>
          <p:nvPr/>
        </p:nvSpPr>
        <p:spPr>
          <a:xfrm>
            <a:off x="3035808" y="15544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2487168" y="2194560"/>
            <a:ext cx="1645920" cy="640080"/>
          </a:xfrm>
          <a:prstGeom prst="rect">
            <a:avLst/>
          </a:prstGeom>
          <a:noFill/>
          <a:ln/>
        </p:spPr>
        <p:txBody>
          <a:bodyPr wrap="square" lIns="0" tIns="0" rIns="0" bIns="0" rtlCol="0" anchor="ctr"/>
          <a:lstStyle/>
          <a:p>
            <a:pPr algn="ctr" indent="0" marL="0">
              <a:buNone/>
            </a:pPr>
            <a:r>
              <a:rPr lang="en-US" sz="1400" b="1" dirty="0">
                <a:solidFill>
                  <a:schemeClr val="tx2"/>
                </a:solidFill>
              </a:rPr>
              <a:t>Runde 2</a:t>
            </a:r>
            <a:endParaRPr lang="en-US" sz="1400" dirty="0"/>
          </a:p>
          <a:p>
            <a:pPr algn="ctr" indent="0" marL="0">
              <a:buNone/>
            </a:pPr>
            <a:r>
              <a:rPr lang="en-US" sz="1400" b="1" dirty="0">
                <a:solidFill>
                  <a:schemeClr val="tx2"/>
                </a:solidFill>
              </a:rPr>
              <a:t>März/Apr.</a:t>
            </a:r>
            <a:endParaRPr lang="en-US" sz="1400" dirty="0"/>
          </a:p>
        </p:txBody>
      </p:sp>
      <p:sp>
        <p:nvSpPr>
          <p:cNvPr id="15" name="Karte Runde 2"/>
          <p:cNvSpPr/>
          <p:nvPr/>
        </p:nvSpPr>
        <p:spPr>
          <a:xfrm>
            <a:off x="2487168" y="3017520"/>
            <a:ext cx="1645920" cy="2926080"/>
          </a:xfrm>
          <a:prstGeom prst="roundRect">
            <a:avLst>
              <a:gd name="adj" fmla="val 5556"/>
            </a:avLst>
          </a:prstGeom>
          <a:solidFill>
            <a:schemeClr val="bg2"/>
          </a:solidFill>
          <a:ln/>
        </p:spPr>
      </p:sp>
      <p:sp>
        <p:nvSpPr>
          <p:cNvPr id="16" name="Text 13"/>
          <p:cNvSpPr txBox="1"/>
          <p:nvPr/>
        </p:nvSpPr>
        <p:spPr>
          <a:xfrm>
            <a:off x="2624328" y="3154680"/>
            <a:ext cx="1371600" cy="274320"/>
          </a:xfrm>
          <a:prstGeom prst="rect">
            <a:avLst/>
          </a:prstGeom>
          <a:noFill/>
          <a:ln/>
        </p:spPr>
        <p:txBody>
          <a:bodyPr wrap="square" lIns="0" tIns="0" rIns="0" bIns="0" rtlCol="0" anchor="ctr"/>
          <a:lstStyle/>
          <a:p>
            <a:pPr algn="ctr" indent="0" marL="0">
              <a:buNone/>
            </a:pPr>
            <a:r>
              <a:rPr lang="en-US" sz="1200" dirty="0">
                <a:solidFill>
                  <a:schemeClr val="accent4"/>
                </a:solidFill>
              </a:rPr>
              <a:t>Entscheidung</a:t>
            </a:r>
            <a:endParaRPr lang="en-US" sz="1200" dirty="0"/>
          </a:p>
        </p:txBody>
      </p:sp>
      <p:sp>
        <p:nvSpPr>
          <p:cNvPr id="17" name="Text 14"/>
          <p:cNvSpPr txBox="1"/>
          <p:nvPr/>
        </p:nvSpPr>
        <p:spPr>
          <a:xfrm>
            <a:off x="2578608" y="3474720"/>
            <a:ext cx="1463040" cy="1097280"/>
          </a:xfrm>
          <a:prstGeom prst="rect">
            <a:avLst/>
          </a:prstGeom>
          <a:noFill/>
          <a:ln/>
        </p:spPr>
        <p:txBody>
          <a:bodyPr wrap="square" lIns="0" tIns="0" rIns="0" bIns="0" rtlCol="0" anchor="t"/>
          <a:lstStyle/>
          <a:p>
            <a:pPr algn="ctr" indent="0" marL="0">
              <a:buNone/>
            </a:pPr>
            <a:r>
              <a:rPr lang="en-US" sz="1400" dirty="0">
                <a:solidFill>
                  <a:schemeClr val="tx1"/>
                </a:solidFill>
              </a:rPr>
              <a:t>2. Maschine</a:t>
            </a:r>
            <a:endParaRPr lang="en-US" sz="1400" dirty="0"/>
          </a:p>
          <a:p>
            <a:pPr algn="ctr" indent="0" marL="0">
              <a:buNone/>
            </a:pPr>
            <a:r>
              <a:rPr lang="en-US" sz="1400" dirty="0">
                <a:solidFill>
                  <a:schemeClr val="tx1"/>
                </a:solidFill>
              </a:rPr>
              <a:t>13 Paletten</a:t>
            </a:r>
            <a:endParaRPr lang="en-US" sz="1400" dirty="0"/>
          </a:p>
          <a:p>
            <a:pPr algn="ctr" indent="0" marL="0">
              <a:buNone/>
            </a:pPr>
            <a:r>
              <a:rPr lang="en-US" sz="1400" dirty="0">
                <a:solidFill>
                  <a:schemeClr val="tx1"/>
                </a:solidFill>
              </a:rPr>
              <a:t>à 7.600 €</a:t>
            </a:r>
            <a:endParaRPr lang="en-US" sz="1400" dirty="0"/>
          </a:p>
        </p:txBody>
      </p:sp>
      <p:sp>
        <p:nvSpPr>
          <p:cNvPr id="18" name="Text 15"/>
          <p:cNvSpPr txBox="1"/>
          <p:nvPr/>
        </p:nvSpPr>
        <p:spPr>
          <a:xfrm>
            <a:off x="2624328" y="4754880"/>
            <a:ext cx="1371600" cy="274320"/>
          </a:xfrm>
          <a:prstGeom prst="rect">
            <a:avLst/>
          </a:prstGeom>
          <a:noFill/>
          <a:ln/>
        </p:spPr>
        <p:txBody>
          <a:bodyPr wrap="square" lIns="0" tIns="0" rIns="0" bIns="0" rtlCol="0" anchor="ctr"/>
          <a:lstStyle/>
          <a:p>
            <a:pPr algn="ctr" indent="0" marL="0">
              <a:buNone/>
            </a:pPr>
            <a:r>
              <a:rPr lang="en-US" sz="1200" dirty="0">
                <a:solidFill>
                  <a:schemeClr val="accent4"/>
                </a:solidFill>
              </a:rPr>
              <a:t>Umsatz</a:t>
            </a:r>
            <a:endParaRPr lang="en-US" sz="1200" dirty="0"/>
          </a:p>
        </p:txBody>
      </p:sp>
      <p:sp>
        <p:nvSpPr>
          <p:cNvPr id="19" name="Text 16"/>
          <p:cNvSpPr txBox="1"/>
          <p:nvPr/>
        </p:nvSpPr>
        <p:spPr>
          <a:xfrm>
            <a:off x="2578608" y="5074920"/>
            <a:ext cx="1463040" cy="548640"/>
          </a:xfrm>
          <a:prstGeom prst="rect">
            <a:avLst/>
          </a:prstGeom>
          <a:noFill/>
          <a:ln/>
        </p:spPr>
        <p:txBody>
          <a:bodyPr wrap="square" lIns="0" tIns="0" rIns="0" bIns="0" rtlCol="0" anchor="ctr"/>
          <a:lstStyle/>
          <a:p>
            <a:pPr algn="ctr" indent="0" marL="0">
              <a:buNone/>
            </a:pPr>
            <a:r>
              <a:rPr lang="en-US" sz="2000" b="1" dirty="0">
                <a:solidFill>
                  <a:schemeClr val="tx2"/>
                </a:solidFill>
              </a:rPr>
              <a:t>55.900 €</a:t>
            </a:r>
            <a:endParaRPr lang="en-US" sz="2000" dirty="0"/>
          </a:p>
        </p:txBody>
      </p:sp>
      <p:sp>
        <p:nvSpPr>
          <p:cNvPr id="20" name="Runde 3"/>
          <p:cNvSpPr/>
          <p:nvPr/>
        </p:nvSpPr>
        <p:spPr>
          <a:xfrm>
            <a:off x="4882896" y="1554480"/>
            <a:ext cx="548640" cy="548640"/>
          </a:xfrm>
          <a:prstGeom prst="ellipse">
            <a:avLst/>
          </a:prstGeom>
          <a:solidFill>
            <a:schemeClr val="accent2"/>
          </a:solidFill>
          <a:ln/>
        </p:spPr>
      </p:sp>
      <p:sp>
        <p:nvSpPr>
          <p:cNvPr id="21" name="Text 18"/>
          <p:cNvSpPr txBox="1"/>
          <p:nvPr/>
        </p:nvSpPr>
        <p:spPr>
          <a:xfrm>
            <a:off x="4882896" y="15544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9"/>
          <p:cNvSpPr txBox="1"/>
          <p:nvPr/>
        </p:nvSpPr>
        <p:spPr>
          <a:xfrm>
            <a:off x="4334256" y="2194560"/>
            <a:ext cx="1645920" cy="640080"/>
          </a:xfrm>
          <a:prstGeom prst="rect">
            <a:avLst/>
          </a:prstGeom>
          <a:noFill/>
          <a:ln/>
        </p:spPr>
        <p:txBody>
          <a:bodyPr wrap="square" lIns="0" tIns="0" rIns="0" bIns="0" rtlCol="0" anchor="ctr"/>
          <a:lstStyle/>
          <a:p>
            <a:pPr algn="ctr" indent="0" marL="0">
              <a:buNone/>
            </a:pPr>
            <a:r>
              <a:rPr lang="en-US" sz="1400" b="1" dirty="0">
                <a:solidFill>
                  <a:schemeClr val="tx2"/>
                </a:solidFill>
              </a:rPr>
              <a:t>Runde 3</a:t>
            </a:r>
            <a:endParaRPr lang="en-US" sz="1400" dirty="0"/>
          </a:p>
          <a:p>
            <a:pPr algn="ctr" indent="0" marL="0">
              <a:buNone/>
            </a:pPr>
            <a:r>
              <a:rPr lang="en-US" sz="1400" b="1" dirty="0">
                <a:solidFill>
                  <a:schemeClr val="tx2"/>
                </a:solidFill>
              </a:rPr>
              <a:t>Mai/Juni</a:t>
            </a:r>
            <a:endParaRPr lang="en-US" sz="1400" dirty="0"/>
          </a:p>
        </p:txBody>
      </p:sp>
      <p:sp>
        <p:nvSpPr>
          <p:cNvPr id="23" name="Karte Runde 3"/>
          <p:cNvSpPr/>
          <p:nvPr/>
        </p:nvSpPr>
        <p:spPr>
          <a:xfrm>
            <a:off x="4334256" y="3017520"/>
            <a:ext cx="1645920" cy="2926080"/>
          </a:xfrm>
          <a:prstGeom prst="roundRect">
            <a:avLst>
              <a:gd name="adj" fmla="val 5556"/>
            </a:avLst>
          </a:prstGeom>
          <a:solidFill>
            <a:schemeClr val="bg2"/>
          </a:solidFill>
          <a:ln/>
        </p:spPr>
      </p:sp>
      <p:sp>
        <p:nvSpPr>
          <p:cNvPr id="24" name="Text 21"/>
          <p:cNvSpPr txBox="1"/>
          <p:nvPr/>
        </p:nvSpPr>
        <p:spPr>
          <a:xfrm>
            <a:off x="4471416" y="3154680"/>
            <a:ext cx="1371600" cy="274320"/>
          </a:xfrm>
          <a:prstGeom prst="rect">
            <a:avLst/>
          </a:prstGeom>
          <a:noFill/>
          <a:ln/>
        </p:spPr>
        <p:txBody>
          <a:bodyPr wrap="square" lIns="0" tIns="0" rIns="0" bIns="0" rtlCol="0" anchor="ctr"/>
          <a:lstStyle/>
          <a:p>
            <a:pPr algn="ctr" indent="0" marL="0">
              <a:buNone/>
            </a:pPr>
            <a:r>
              <a:rPr lang="en-US" sz="1200" dirty="0">
                <a:solidFill>
                  <a:schemeClr val="accent4"/>
                </a:solidFill>
              </a:rPr>
              <a:t>Entscheidung</a:t>
            </a:r>
            <a:endParaRPr lang="en-US" sz="1200" dirty="0"/>
          </a:p>
        </p:txBody>
      </p:sp>
      <p:sp>
        <p:nvSpPr>
          <p:cNvPr id="25" name="Text 22"/>
          <p:cNvSpPr txBox="1"/>
          <p:nvPr/>
        </p:nvSpPr>
        <p:spPr>
          <a:xfrm>
            <a:off x="4425696" y="3474720"/>
            <a:ext cx="1463040" cy="1097280"/>
          </a:xfrm>
          <a:prstGeom prst="rect">
            <a:avLst/>
          </a:prstGeom>
          <a:noFill/>
          <a:ln/>
        </p:spPr>
        <p:txBody>
          <a:bodyPr wrap="square" lIns="0" tIns="0" rIns="0" bIns="0" rtlCol="0" anchor="t"/>
          <a:lstStyle/>
          <a:p>
            <a:pPr algn="ctr" indent="0" marL="0">
              <a:buNone/>
            </a:pPr>
            <a:r>
              <a:rPr lang="en-US" sz="1400" dirty="0">
                <a:solidFill>
                  <a:schemeClr val="tx1"/>
                </a:solidFill>
              </a:rPr>
              <a:t>18 Paletten</a:t>
            </a:r>
            <a:endParaRPr lang="en-US" sz="1400" dirty="0"/>
          </a:p>
          <a:p>
            <a:pPr algn="ctr" indent="0" marL="0">
              <a:buNone/>
            </a:pPr>
            <a:r>
              <a:rPr lang="en-US" sz="1400" dirty="0">
                <a:solidFill>
                  <a:schemeClr val="tx1"/>
                </a:solidFill>
              </a:rPr>
              <a:t>à 5.900 €</a:t>
            </a:r>
            <a:endParaRPr lang="en-US" sz="1400" dirty="0"/>
          </a:p>
        </p:txBody>
      </p:sp>
      <p:sp>
        <p:nvSpPr>
          <p:cNvPr id="26" name="Text 23"/>
          <p:cNvSpPr txBox="1"/>
          <p:nvPr/>
        </p:nvSpPr>
        <p:spPr>
          <a:xfrm>
            <a:off x="4471416" y="4754880"/>
            <a:ext cx="1371600" cy="274320"/>
          </a:xfrm>
          <a:prstGeom prst="rect">
            <a:avLst/>
          </a:prstGeom>
          <a:noFill/>
          <a:ln/>
        </p:spPr>
        <p:txBody>
          <a:bodyPr wrap="square" lIns="0" tIns="0" rIns="0" bIns="0" rtlCol="0" anchor="ctr"/>
          <a:lstStyle/>
          <a:p>
            <a:pPr algn="ctr" indent="0" marL="0">
              <a:buNone/>
            </a:pPr>
            <a:r>
              <a:rPr lang="en-US" sz="1200" dirty="0">
                <a:solidFill>
                  <a:schemeClr val="accent4"/>
                </a:solidFill>
              </a:rPr>
              <a:t>Umsatz</a:t>
            </a:r>
            <a:endParaRPr lang="en-US" sz="1200" dirty="0"/>
          </a:p>
        </p:txBody>
      </p:sp>
      <p:sp>
        <p:nvSpPr>
          <p:cNvPr id="27" name="Text 24"/>
          <p:cNvSpPr txBox="1"/>
          <p:nvPr/>
        </p:nvSpPr>
        <p:spPr>
          <a:xfrm>
            <a:off x="4425696" y="5074920"/>
            <a:ext cx="1463040" cy="548640"/>
          </a:xfrm>
          <a:prstGeom prst="rect">
            <a:avLst/>
          </a:prstGeom>
          <a:noFill/>
          <a:ln/>
        </p:spPr>
        <p:txBody>
          <a:bodyPr wrap="square" lIns="0" tIns="0" rIns="0" bIns="0" rtlCol="0" anchor="ctr"/>
          <a:lstStyle/>
          <a:p>
            <a:pPr algn="ctr" indent="0" marL="0">
              <a:buNone/>
            </a:pPr>
            <a:r>
              <a:rPr lang="en-US" sz="2000" b="1" dirty="0">
                <a:solidFill>
                  <a:schemeClr val="accent2"/>
                </a:solidFill>
              </a:rPr>
              <a:t>79.940 €</a:t>
            </a:r>
            <a:endParaRPr lang="en-US" sz="2000" dirty="0"/>
          </a:p>
        </p:txBody>
      </p:sp>
      <p:sp>
        <p:nvSpPr>
          <p:cNvPr id="28" name="Runde 4"/>
          <p:cNvSpPr/>
          <p:nvPr/>
        </p:nvSpPr>
        <p:spPr>
          <a:xfrm>
            <a:off x="6729984" y="1554480"/>
            <a:ext cx="548640" cy="548640"/>
          </a:xfrm>
          <a:prstGeom prst="ellipse">
            <a:avLst/>
          </a:prstGeom>
          <a:solidFill>
            <a:schemeClr val="accent1"/>
          </a:solidFill>
          <a:ln/>
        </p:spPr>
      </p:sp>
      <p:sp>
        <p:nvSpPr>
          <p:cNvPr id="29" name="Text 26"/>
          <p:cNvSpPr txBox="1"/>
          <p:nvPr/>
        </p:nvSpPr>
        <p:spPr>
          <a:xfrm>
            <a:off x="6729984" y="15544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30" name="Text 27"/>
          <p:cNvSpPr txBox="1"/>
          <p:nvPr/>
        </p:nvSpPr>
        <p:spPr>
          <a:xfrm>
            <a:off x="6181344" y="2194560"/>
            <a:ext cx="1645920" cy="640080"/>
          </a:xfrm>
          <a:prstGeom prst="rect">
            <a:avLst/>
          </a:prstGeom>
          <a:noFill/>
          <a:ln/>
        </p:spPr>
        <p:txBody>
          <a:bodyPr wrap="square" lIns="0" tIns="0" rIns="0" bIns="0" rtlCol="0" anchor="ctr"/>
          <a:lstStyle/>
          <a:p>
            <a:pPr algn="ctr" indent="0" marL="0">
              <a:buNone/>
            </a:pPr>
            <a:r>
              <a:rPr lang="en-US" sz="1400" b="1" dirty="0">
                <a:solidFill>
                  <a:schemeClr val="tx2"/>
                </a:solidFill>
              </a:rPr>
              <a:t>Runde 4</a:t>
            </a:r>
            <a:endParaRPr lang="en-US" sz="1400" dirty="0"/>
          </a:p>
          <a:p>
            <a:pPr algn="ctr" indent="0" marL="0">
              <a:buNone/>
            </a:pPr>
            <a:r>
              <a:rPr lang="en-US" sz="1400" b="1" dirty="0">
                <a:solidFill>
                  <a:schemeClr val="tx2"/>
                </a:solidFill>
              </a:rPr>
              <a:t>Juli/Aug.</a:t>
            </a:r>
            <a:endParaRPr lang="en-US" sz="1400" dirty="0"/>
          </a:p>
        </p:txBody>
      </p:sp>
      <p:sp>
        <p:nvSpPr>
          <p:cNvPr id="31" name="Karte Runde 4"/>
          <p:cNvSpPr/>
          <p:nvPr/>
        </p:nvSpPr>
        <p:spPr>
          <a:xfrm>
            <a:off x="6181344" y="3017520"/>
            <a:ext cx="1645920" cy="2926080"/>
          </a:xfrm>
          <a:prstGeom prst="roundRect">
            <a:avLst>
              <a:gd name="adj" fmla="val 5556"/>
            </a:avLst>
          </a:prstGeom>
          <a:solidFill>
            <a:schemeClr val="bg2"/>
          </a:solidFill>
          <a:ln/>
        </p:spPr>
      </p:sp>
      <p:sp>
        <p:nvSpPr>
          <p:cNvPr id="32" name="Text 29"/>
          <p:cNvSpPr txBox="1"/>
          <p:nvPr/>
        </p:nvSpPr>
        <p:spPr>
          <a:xfrm>
            <a:off x="6318504" y="3154680"/>
            <a:ext cx="1371600" cy="274320"/>
          </a:xfrm>
          <a:prstGeom prst="rect">
            <a:avLst/>
          </a:prstGeom>
          <a:noFill/>
          <a:ln/>
        </p:spPr>
        <p:txBody>
          <a:bodyPr wrap="square" lIns="0" tIns="0" rIns="0" bIns="0" rtlCol="0" anchor="ctr"/>
          <a:lstStyle/>
          <a:p>
            <a:pPr algn="ctr" indent="0" marL="0">
              <a:buNone/>
            </a:pPr>
            <a:r>
              <a:rPr lang="en-US" sz="1200" dirty="0">
                <a:solidFill>
                  <a:schemeClr val="accent4"/>
                </a:solidFill>
              </a:rPr>
              <a:t>Entscheidung</a:t>
            </a:r>
            <a:endParaRPr lang="en-US" sz="1200" dirty="0"/>
          </a:p>
        </p:txBody>
      </p:sp>
      <p:sp>
        <p:nvSpPr>
          <p:cNvPr id="33" name="Text 30"/>
          <p:cNvSpPr txBox="1"/>
          <p:nvPr/>
        </p:nvSpPr>
        <p:spPr>
          <a:xfrm>
            <a:off x="6272784" y="3474720"/>
            <a:ext cx="1463040" cy="1097280"/>
          </a:xfrm>
          <a:prstGeom prst="rect">
            <a:avLst/>
          </a:prstGeom>
          <a:noFill/>
          <a:ln/>
        </p:spPr>
        <p:txBody>
          <a:bodyPr wrap="square" lIns="0" tIns="0" rIns="0" bIns="0" rtlCol="0" anchor="t"/>
          <a:lstStyle/>
          <a:p>
            <a:pPr algn="ctr" indent="0" marL="0">
              <a:buNone/>
            </a:pPr>
            <a:r>
              <a:rPr lang="en-US" sz="1400" dirty="0">
                <a:solidFill>
                  <a:schemeClr val="tx1"/>
                </a:solidFill>
              </a:rPr>
              <a:t>1 Palette</a:t>
            </a:r>
            <a:endParaRPr lang="en-US" sz="1400" dirty="0"/>
          </a:p>
          <a:p>
            <a:pPr algn="ctr" indent="0" marL="0">
              <a:buNone/>
            </a:pPr>
            <a:r>
              <a:rPr lang="en-US" sz="1400" dirty="0">
                <a:solidFill>
                  <a:schemeClr val="tx1"/>
                </a:solidFill>
              </a:rPr>
              <a:t>à 9.500 €</a:t>
            </a:r>
            <a:endParaRPr lang="en-US" sz="1400" dirty="0"/>
          </a:p>
        </p:txBody>
      </p:sp>
      <p:sp>
        <p:nvSpPr>
          <p:cNvPr id="34" name="Text 31"/>
          <p:cNvSpPr txBox="1"/>
          <p:nvPr/>
        </p:nvSpPr>
        <p:spPr>
          <a:xfrm>
            <a:off x="6318504" y="4754880"/>
            <a:ext cx="1371600" cy="274320"/>
          </a:xfrm>
          <a:prstGeom prst="rect">
            <a:avLst/>
          </a:prstGeom>
          <a:noFill/>
          <a:ln/>
        </p:spPr>
        <p:txBody>
          <a:bodyPr wrap="square" lIns="0" tIns="0" rIns="0" bIns="0" rtlCol="0" anchor="ctr"/>
          <a:lstStyle/>
          <a:p>
            <a:pPr algn="ctr" indent="0" marL="0">
              <a:buNone/>
            </a:pPr>
            <a:r>
              <a:rPr lang="en-US" sz="1200" dirty="0">
                <a:solidFill>
                  <a:schemeClr val="accent4"/>
                </a:solidFill>
              </a:rPr>
              <a:t>Umsatz</a:t>
            </a:r>
            <a:endParaRPr lang="en-US" sz="1200" dirty="0"/>
          </a:p>
        </p:txBody>
      </p:sp>
      <p:sp>
        <p:nvSpPr>
          <p:cNvPr id="35" name="Text 32"/>
          <p:cNvSpPr txBox="1"/>
          <p:nvPr/>
        </p:nvSpPr>
        <p:spPr>
          <a:xfrm>
            <a:off x="6272784" y="5074920"/>
            <a:ext cx="1463040" cy="548640"/>
          </a:xfrm>
          <a:prstGeom prst="rect">
            <a:avLst/>
          </a:prstGeom>
          <a:noFill/>
          <a:ln/>
        </p:spPr>
        <p:txBody>
          <a:bodyPr wrap="square" lIns="0" tIns="0" rIns="0" bIns="0" rtlCol="0" anchor="ctr"/>
          <a:lstStyle/>
          <a:p>
            <a:pPr algn="ctr" indent="0" marL="0">
              <a:buNone/>
            </a:pPr>
            <a:r>
              <a:rPr lang="en-US" sz="2000" b="1" dirty="0">
                <a:solidFill>
                  <a:schemeClr val="tx2"/>
                </a:solidFill>
              </a:rPr>
              <a:t>5.250 €</a:t>
            </a:r>
            <a:endParaRPr lang="en-US" sz="2000" dirty="0"/>
          </a:p>
        </p:txBody>
      </p:sp>
      <p:sp>
        <p:nvSpPr>
          <p:cNvPr id="36" name="Runde 5"/>
          <p:cNvSpPr/>
          <p:nvPr/>
        </p:nvSpPr>
        <p:spPr>
          <a:xfrm>
            <a:off x="8577072" y="1554480"/>
            <a:ext cx="548640" cy="548640"/>
          </a:xfrm>
          <a:prstGeom prst="ellipse">
            <a:avLst/>
          </a:prstGeom>
          <a:solidFill>
            <a:schemeClr val="accent1"/>
          </a:solidFill>
          <a:ln/>
        </p:spPr>
      </p:sp>
      <p:sp>
        <p:nvSpPr>
          <p:cNvPr id="37" name="Text 34"/>
          <p:cNvSpPr txBox="1"/>
          <p:nvPr/>
        </p:nvSpPr>
        <p:spPr>
          <a:xfrm>
            <a:off x="8577072" y="15544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8" name="Text 35"/>
          <p:cNvSpPr txBox="1"/>
          <p:nvPr/>
        </p:nvSpPr>
        <p:spPr>
          <a:xfrm>
            <a:off x="8028432" y="2194560"/>
            <a:ext cx="1645920" cy="640080"/>
          </a:xfrm>
          <a:prstGeom prst="rect">
            <a:avLst/>
          </a:prstGeom>
          <a:noFill/>
          <a:ln/>
        </p:spPr>
        <p:txBody>
          <a:bodyPr wrap="square" lIns="0" tIns="0" rIns="0" bIns="0" rtlCol="0" anchor="ctr"/>
          <a:lstStyle/>
          <a:p>
            <a:pPr algn="ctr" indent="0" marL="0">
              <a:buNone/>
            </a:pPr>
            <a:r>
              <a:rPr lang="en-US" sz="1400" b="1" dirty="0">
                <a:solidFill>
                  <a:schemeClr val="tx2"/>
                </a:solidFill>
              </a:rPr>
              <a:t>Runde 5</a:t>
            </a:r>
            <a:endParaRPr lang="en-US" sz="1400" dirty="0"/>
          </a:p>
          <a:p>
            <a:pPr algn="ctr" indent="0" marL="0">
              <a:buNone/>
            </a:pPr>
            <a:r>
              <a:rPr lang="en-US" sz="1400" b="1" dirty="0">
                <a:solidFill>
                  <a:schemeClr val="tx2"/>
                </a:solidFill>
              </a:rPr>
              <a:t>Sep./Okt.</a:t>
            </a:r>
            <a:endParaRPr lang="en-US" sz="1400" dirty="0"/>
          </a:p>
        </p:txBody>
      </p:sp>
      <p:sp>
        <p:nvSpPr>
          <p:cNvPr id="39" name="Karte Runde 5"/>
          <p:cNvSpPr/>
          <p:nvPr/>
        </p:nvSpPr>
        <p:spPr>
          <a:xfrm>
            <a:off x="8028432" y="3017520"/>
            <a:ext cx="1645920" cy="2926080"/>
          </a:xfrm>
          <a:prstGeom prst="roundRect">
            <a:avLst>
              <a:gd name="adj" fmla="val 5556"/>
            </a:avLst>
          </a:prstGeom>
          <a:solidFill>
            <a:schemeClr val="bg2"/>
          </a:solidFill>
          <a:ln/>
        </p:spPr>
      </p:sp>
      <p:sp>
        <p:nvSpPr>
          <p:cNvPr id="40" name="Text 37"/>
          <p:cNvSpPr txBox="1"/>
          <p:nvPr/>
        </p:nvSpPr>
        <p:spPr>
          <a:xfrm>
            <a:off x="8165592" y="3154680"/>
            <a:ext cx="1371600" cy="274320"/>
          </a:xfrm>
          <a:prstGeom prst="rect">
            <a:avLst/>
          </a:prstGeom>
          <a:noFill/>
          <a:ln/>
        </p:spPr>
        <p:txBody>
          <a:bodyPr wrap="square" lIns="0" tIns="0" rIns="0" bIns="0" rtlCol="0" anchor="ctr"/>
          <a:lstStyle/>
          <a:p>
            <a:pPr algn="ctr" indent="0" marL="0">
              <a:buNone/>
            </a:pPr>
            <a:r>
              <a:rPr lang="en-US" sz="1200" dirty="0">
                <a:solidFill>
                  <a:schemeClr val="accent4"/>
                </a:solidFill>
              </a:rPr>
              <a:t>Entscheidung</a:t>
            </a:r>
            <a:endParaRPr lang="en-US" sz="1200" dirty="0"/>
          </a:p>
        </p:txBody>
      </p:sp>
      <p:sp>
        <p:nvSpPr>
          <p:cNvPr id="41" name="Text 38"/>
          <p:cNvSpPr txBox="1"/>
          <p:nvPr/>
        </p:nvSpPr>
        <p:spPr>
          <a:xfrm>
            <a:off x="8119872" y="3474720"/>
            <a:ext cx="1463040" cy="1097280"/>
          </a:xfrm>
          <a:prstGeom prst="rect">
            <a:avLst/>
          </a:prstGeom>
          <a:noFill/>
          <a:ln/>
        </p:spPr>
        <p:txBody>
          <a:bodyPr wrap="square" lIns="0" tIns="0" rIns="0" bIns="0" rtlCol="0" anchor="t"/>
          <a:lstStyle/>
          <a:p>
            <a:pPr algn="ctr" indent="0" marL="0">
              <a:buNone/>
            </a:pPr>
            <a:r>
              <a:rPr lang="en-US" sz="1400" dirty="0">
                <a:solidFill>
                  <a:schemeClr val="tx1"/>
                </a:solidFill>
              </a:rPr>
              <a:t>1 Palette</a:t>
            </a:r>
            <a:endParaRPr lang="en-US" sz="1400" dirty="0"/>
          </a:p>
          <a:p>
            <a:pPr algn="ctr" indent="0" marL="0">
              <a:buNone/>
            </a:pPr>
            <a:r>
              <a:rPr lang="en-US" sz="1400" dirty="0">
                <a:solidFill>
                  <a:schemeClr val="tx1"/>
                </a:solidFill>
              </a:rPr>
              <a:t>à 9.500 €</a:t>
            </a:r>
            <a:endParaRPr lang="en-US" sz="1400" dirty="0"/>
          </a:p>
        </p:txBody>
      </p:sp>
      <p:sp>
        <p:nvSpPr>
          <p:cNvPr id="42" name="Text 39"/>
          <p:cNvSpPr txBox="1"/>
          <p:nvPr/>
        </p:nvSpPr>
        <p:spPr>
          <a:xfrm>
            <a:off x="8165592" y="4754880"/>
            <a:ext cx="1371600" cy="274320"/>
          </a:xfrm>
          <a:prstGeom prst="rect">
            <a:avLst/>
          </a:prstGeom>
          <a:noFill/>
          <a:ln/>
        </p:spPr>
        <p:txBody>
          <a:bodyPr wrap="square" lIns="0" tIns="0" rIns="0" bIns="0" rtlCol="0" anchor="ctr"/>
          <a:lstStyle/>
          <a:p>
            <a:pPr algn="ctr" indent="0" marL="0">
              <a:buNone/>
            </a:pPr>
            <a:r>
              <a:rPr lang="en-US" sz="1200" dirty="0">
                <a:solidFill>
                  <a:schemeClr val="accent4"/>
                </a:solidFill>
              </a:rPr>
              <a:t>Umsatz</a:t>
            </a:r>
            <a:endParaRPr lang="en-US" sz="1200" dirty="0"/>
          </a:p>
        </p:txBody>
      </p:sp>
      <p:sp>
        <p:nvSpPr>
          <p:cNvPr id="43" name="Text 40"/>
          <p:cNvSpPr txBox="1"/>
          <p:nvPr/>
        </p:nvSpPr>
        <p:spPr>
          <a:xfrm>
            <a:off x="8119872" y="5074920"/>
            <a:ext cx="1463040" cy="548640"/>
          </a:xfrm>
          <a:prstGeom prst="rect">
            <a:avLst/>
          </a:prstGeom>
          <a:noFill/>
          <a:ln/>
        </p:spPr>
        <p:txBody>
          <a:bodyPr wrap="square" lIns="0" tIns="0" rIns="0" bIns="0" rtlCol="0" anchor="ctr"/>
          <a:lstStyle/>
          <a:p>
            <a:pPr algn="ctr" indent="0" marL="0">
              <a:buNone/>
            </a:pPr>
            <a:r>
              <a:rPr lang="en-US" sz="2000" b="1" dirty="0">
                <a:solidFill>
                  <a:schemeClr val="tx2"/>
                </a:solidFill>
              </a:rPr>
              <a:t>2.700 €</a:t>
            </a:r>
            <a:endParaRPr lang="en-US" sz="2000" dirty="0"/>
          </a:p>
        </p:txBody>
      </p:sp>
      <p:sp>
        <p:nvSpPr>
          <p:cNvPr id="44" name="Runde 6"/>
          <p:cNvSpPr/>
          <p:nvPr/>
        </p:nvSpPr>
        <p:spPr>
          <a:xfrm>
            <a:off x="10424160" y="1554480"/>
            <a:ext cx="548640" cy="548640"/>
          </a:xfrm>
          <a:prstGeom prst="ellipse">
            <a:avLst/>
          </a:prstGeom>
          <a:solidFill>
            <a:schemeClr val="accent1"/>
          </a:solidFill>
          <a:ln/>
        </p:spPr>
      </p:sp>
      <p:sp>
        <p:nvSpPr>
          <p:cNvPr id="45" name="Text 42"/>
          <p:cNvSpPr txBox="1"/>
          <p:nvPr/>
        </p:nvSpPr>
        <p:spPr>
          <a:xfrm>
            <a:off x="10424160" y="15544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46" name="Text 43"/>
          <p:cNvSpPr txBox="1"/>
          <p:nvPr/>
        </p:nvSpPr>
        <p:spPr>
          <a:xfrm>
            <a:off x="9875520" y="2194560"/>
            <a:ext cx="1645920" cy="640080"/>
          </a:xfrm>
          <a:prstGeom prst="rect">
            <a:avLst/>
          </a:prstGeom>
          <a:noFill/>
          <a:ln/>
        </p:spPr>
        <p:txBody>
          <a:bodyPr wrap="square" lIns="0" tIns="0" rIns="0" bIns="0" rtlCol="0" anchor="ctr"/>
          <a:lstStyle/>
          <a:p>
            <a:pPr algn="ctr" indent="0" marL="0">
              <a:buNone/>
            </a:pPr>
            <a:r>
              <a:rPr lang="en-US" sz="1400" b="1" dirty="0">
                <a:solidFill>
                  <a:schemeClr val="tx2"/>
                </a:solidFill>
              </a:rPr>
              <a:t>Runde 6</a:t>
            </a:r>
            <a:endParaRPr lang="en-US" sz="1400" dirty="0"/>
          </a:p>
          <a:p>
            <a:pPr algn="ctr" indent="0" marL="0">
              <a:buNone/>
            </a:pPr>
            <a:r>
              <a:rPr lang="en-US" sz="1400" b="1" dirty="0">
                <a:solidFill>
                  <a:schemeClr val="tx2"/>
                </a:solidFill>
              </a:rPr>
              <a:t>Nov./Dez.</a:t>
            </a:r>
            <a:endParaRPr lang="en-US" sz="1400" dirty="0"/>
          </a:p>
        </p:txBody>
      </p:sp>
      <p:sp>
        <p:nvSpPr>
          <p:cNvPr id="47" name="Karte Runde 6"/>
          <p:cNvSpPr/>
          <p:nvPr/>
        </p:nvSpPr>
        <p:spPr>
          <a:xfrm>
            <a:off x="9875520" y="3017520"/>
            <a:ext cx="1645920" cy="2926080"/>
          </a:xfrm>
          <a:prstGeom prst="roundRect">
            <a:avLst>
              <a:gd name="adj" fmla="val 5556"/>
            </a:avLst>
          </a:prstGeom>
          <a:solidFill>
            <a:schemeClr val="bg2"/>
          </a:solidFill>
          <a:ln/>
        </p:spPr>
      </p:sp>
      <p:sp>
        <p:nvSpPr>
          <p:cNvPr id="48" name="Text 45"/>
          <p:cNvSpPr txBox="1"/>
          <p:nvPr/>
        </p:nvSpPr>
        <p:spPr>
          <a:xfrm>
            <a:off x="10012680" y="3154680"/>
            <a:ext cx="1371600" cy="274320"/>
          </a:xfrm>
          <a:prstGeom prst="rect">
            <a:avLst/>
          </a:prstGeom>
          <a:noFill/>
          <a:ln/>
        </p:spPr>
        <p:txBody>
          <a:bodyPr wrap="square" lIns="0" tIns="0" rIns="0" bIns="0" rtlCol="0" anchor="ctr"/>
          <a:lstStyle/>
          <a:p>
            <a:pPr algn="ctr" indent="0" marL="0">
              <a:buNone/>
            </a:pPr>
            <a:r>
              <a:rPr lang="en-US" sz="1200" dirty="0">
                <a:solidFill>
                  <a:schemeClr val="accent4"/>
                </a:solidFill>
              </a:rPr>
              <a:t>Entscheidung</a:t>
            </a:r>
            <a:endParaRPr lang="en-US" sz="1200" dirty="0"/>
          </a:p>
        </p:txBody>
      </p:sp>
      <p:sp>
        <p:nvSpPr>
          <p:cNvPr id="49" name="Text 46"/>
          <p:cNvSpPr txBox="1"/>
          <p:nvPr/>
        </p:nvSpPr>
        <p:spPr>
          <a:xfrm>
            <a:off x="9966960" y="3474720"/>
            <a:ext cx="1463040" cy="1097280"/>
          </a:xfrm>
          <a:prstGeom prst="rect">
            <a:avLst/>
          </a:prstGeom>
          <a:noFill/>
          <a:ln/>
        </p:spPr>
        <p:txBody>
          <a:bodyPr wrap="square" lIns="0" tIns="0" rIns="0" bIns="0" rtlCol="0" anchor="t"/>
          <a:lstStyle/>
          <a:p>
            <a:pPr algn="ctr" indent="0" marL="0">
              <a:buNone/>
            </a:pPr>
            <a:r>
              <a:rPr lang="en-US" sz="1400" dirty="0">
                <a:solidFill>
                  <a:schemeClr val="tx1"/>
                </a:solidFill>
              </a:rPr>
              <a:t>13 Paletten</a:t>
            </a:r>
            <a:endParaRPr lang="en-US" sz="1400" dirty="0"/>
          </a:p>
          <a:p>
            <a:pPr algn="ctr" indent="0" marL="0">
              <a:buNone/>
            </a:pPr>
            <a:r>
              <a:rPr lang="en-US" sz="1400" dirty="0">
                <a:solidFill>
                  <a:schemeClr val="tx1"/>
                </a:solidFill>
              </a:rPr>
              <a:t>à 8.400 €</a:t>
            </a:r>
            <a:endParaRPr lang="en-US" sz="1400" dirty="0"/>
          </a:p>
        </p:txBody>
      </p:sp>
      <p:sp>
        <p:nvSpPr>
          <p:cNvPr id="50" name="Text 47"/>
          <p:cNvSpPr txBox="1"/>
          <p:nvPr/>
        </p:nvSpPr>
        <p:spPr>
          <a:xfrm>
            <a:off x="10012680" y="4754880"/>
            <a:ext cx="1371600" cy="274320"/>
          </a:xfrm>
          <a:prstGeom prst="rect">
            <a:avLst/>
          </a:prstGeom>
          <a:noFill/>
          <a:ln/>
        </p:spPr>
        <p:txBody>
          <a:bodyPr wrap="square" lIns="0" tIns="0" rIns="0" bIns="0" rtlCol="0" anchor="ctr"/>
          <a:lstStyle/>
          <a:p>
            <a:pPr algn="ctr" indent="0" marL="0">
              <a:buNone/>
            </a:pPr>
            <a:r>
              <a:rPr lang="en-US" sz="1200" dirty="0">
                <a:solidFill>
                  <a:schemeClr val="accent4"/>
                </a:solidFill>
              </a:rPr>
              <a:t>Umsatz</a:t>
            </a:r>
            <a:endParaRPr lang="en-US" sz="1200" dirty="0"/>
          </a:p>
        </p:txBody>
      </p:sp>
      <p:sp>
        <p:nvSpPr>
          <p:cNvPr id="51" name="Text 48"/>
          <p:cNvSpPr txBox="1"/>
          <p:nvPr/>
        </p:nvSpPr>
        <p:spPr>
          <a:xfrm>
            <a:off x="9966960" y="5074920"/>
            <a:ext cx="1463040" cy="548640"/>
          </a:xfrm>
          <a:prstGeom prst="rect">
            <a:avLst/>
          </a:prstGeom>
          <a:noFill/>
          <a:ln/>
        </p:spPr>
        <p:txBody>
          <a:bodyPr wrap="square" lIns="0" tIns="0" rIns="0" bIns="0" rtlCol="0" anchor="ctr"/>
          <a:lstStyle/>
          <a:p>
            <a:pPr algn="ctr" indent="0" marL="0">
              <a:buNone/>
            </a:pPr>
            <a:r>
              <a:rPr lang="en-US" sz="2000" b="1" dirty="0">
                <a:solidFill>
                  <a:schemeClr val="tx2"/>
                </a:solidFill>
              </a:rPr>
              <a:t>51.480 €</a:t>
            </a:r>
            <a:endParaRPr lang="en-US" sz="20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Unsere Entscheidungen je Runde</a:t>
            </a:r>
            <a:endParaRPr lang="en-US" sz="3600" dirty="0"/>
          </a:p>
        </p:txBody>
      </p:sp>
      <p:graphicFrame>
        <p:nvGraphicFramePr>
          <p:cNvPr id="6" name="Tabelle Entscheidungen"/>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822960"/>
                <a:gridCol w="1188720"/>
                <a:gridCol w="1005840"/>
                <a:gridCol w="1097280"/>
                <a:gridCol w="1097280"/>
                <a:gridCol w="5669280"/>
              </a:tblGrid>
              <a:tr h="457200">
                <a:tc>
                  <a:txBody>
                    <a:bodyPr/>
                    <a:lstStyle/>
                    <a:p>
                      <a:pPr algn="ctr" indent="0" marL="0">
                        <a:buNone/>
                      </a:pPr>
                      <a:r>
                        <a:rPr lang="en-US" sz="1400" b="1" dirty="0">
                          <a:solidFill>
                            <a:srgbClr val="FFFFFF"/>
                          </a:solidFill>
                        </a:rPr>
                        <a:t>Runde</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solidFill>
                      <a:srgbClr val="0F5C6B"/>
                    </a:solidFill>
                  </a:tcPr>
                </a:tc>
                <a:tc>
                  <a:txBody>
                    <a:bodyPr/>
                    <a:lstStyle/>
                    <a:p>
                      <a:pPr algn="ctr" indent="0" marL="0">
                        <a:buNone/>
                      </a:pPr>
                      <a:r>
                        <a:rPr lang="en-US" sz="1400" b="1" dirty="0">
                          <a:solidFill>
                            <a:srgbClr val="FFFFFF"/>
                          </a:solidFill>
                        </a:rPr>
                        <a:t>Maschinen</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solidFill>
                      <a:srgbClr val="0F5C6B"/>
                    </a:solidFill>
                  </a:tcPr>
                </a:tc>
                <a:tc>
                  <a:txBody>
                    <a:bodyPr/>
                    <a:lstStyle/>
                    <a:p>
                      <a:pPr algn="ctr" indent="0" marL="0">
                        <a:buNone/>
                      </a:pPr>
                      <a:r>
                        <a:rPr lang="en-US" sz="1400" b="1" dirty="0">
                          <a:solidFill>
                            <a:srgbClr val="FFFFFF"/>
                          </a:solidFill>
                        </a:rPr>
                        <a:t>Mitarb.</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solidFill>
                      <a:srgbClr val="0F5C6B"/>
                    </a:solidFill>
                  </a:tcPr>
                </a:tc>
                <a:tc>
                  <a:txBody>
                    <a:bodyPr/>
                    <a:lstStyle/>
                    <a:p>
                      <a:pPr algn="ctr" indent="0" marL="0">
                        <a:buNone/>
                      </a:pPr>
                      <a:r>
                        <a:rPr lang="en-US" sz="1400" b="1" dirty="0">
                          <a:solidFill>
                            <a:srgbClr val="FFFFFF"/>
                          </a:solidFill>
                        </a:rPr>
                        <a:t>Paletten</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solidFill>
                      <a:srgbClr val="0F5C6B"/>
                    </a:solidFill>
                  </a:tcPr>
                </a:tc>
                <a:tc>
                  <a:txBody>
                    <a:bodyPr/>
                    <a:lstStyle/>
                    <a:p>
                      <a:pPr algn="ctr" indent="0" marL="0">
                        <a:buNone/>
                      </a:pPr>
                      <a:r>
                        <a:rPr lang="en-US" sz="1400" b="1" dirty="0">
                          <a:solidFill>
                            <a:srgbClr val="FFFFFF"/>
                          </a:solidFill>
                        </a:rPr>
                        <a:t>Preis</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solidFill>
                      <a:srgbClr val="0F5C6B"/>
                    </a:solidFill>
                  </a:tcPr>
                </a:tc>
                <a:tc>
                  <a:txBody>
                    <a:bodyPr/>
                    <a:lstStyle/>
                    <a:p>
                      <a:pPr algn="ctr" indent="0" marL="0">
                        <a:buNone/>
                      </a:pPr>
                      <a:r>
                        <a:rPr lang="en-US" sz="1400" b="1" dirty="0">
                          <a:solidFill>
                            <a:srgbClr val="FFFFFF"/>
                          </a:solidFill>
                        </a:rPr>
                        <a:t>Begründung</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solidFill>
                      <a:srgbClr val="0F5C6B"/>
                    </a:solidFill>
                  </a:tcPr>
                </a:tc>
              </a:tr>
              <a:tr h="640080">
                <a:tc>
                  <a:txBody>
                    <a:bodyPr/>
                    <a:lstStyle/>
                    <a:p>
                      <a:pPr algn="ctr" indent="0" marL="0">
                        <a:buNone/>
                      </a:pPr>
                      <a:r>
                        <a:rPr lang="en-US" sz="1400" b="1" dirty="0">
                          <a:solidFill>
                            <a:srgbClr val="1B2A2F"/>
                          </a:solidFill>
                        </a:rPr>
                        <a:t>1</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1</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1</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15</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3.000 €</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l" indent="0" marL="0">
                        <a:buNone/>
                      </a:pPr>
                      <a:r>
                        <a:rPr lang="en-US" sz="1400" dirty="0">
                          <a:solidFill>
                            <a:srgbClr val="1B2A2F"/>
                          </a:solidFill>
                        </a:rPr>
                        <a:t>Standard lohnt sich mit Extra-Mitarbeiter nicht; niedriger Preis, um alles loszuwerden</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r>
              <a:tr h="640080">
                <a:tc>
                  <a:txBody>
                    <a:bodyPr/>
                    <a:lstStyle/>
                    <a:p>
                      <a:pPr algn="ctr" indent="0" marL="0">
                        <a:buNone/>
                      </a:pPr>
                      <a:r>
                        <a:rPr lang="en-US" sz="1400" b="1" dirty="0">
                          <a:solidFill>
                            <a:srgbClr val="1B2A2F"/>
                          </a:solidFill>
                        </a:rPr>
                        <a:t>2</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2</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1</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13</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7.600 €</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l" indent="0" marL="0">
                        <a:buNone/>
                      </a:pPr>
                      <a:r>
                        <a:rPr lang="en-US" sz="1400" dirty="0">
                          <a:solidFill>
                            <a:srgbClr val="1B2A2F"/>
                          </a:solidFill>
                        </a:rPr>
                        <a:t>Preis drastisch erhöht; zweite Maschine für mehr Produktion</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r>
              <a:tr h="640080">
                <a:tc>
                  <a:txBody>
                    <a:bodyPr/>
                    <a:lstStyle/>
                    <a:p>
                      <a:pPr algn="ctr" indent="0" marL="0">
                        <a:buNone/>
                      </a:pPr>
                      <a:r>
                        <a:rPr lang="en-US" sz="1400" b="1" dirty="0">
                          <a:solidFill>
                            <a:srgbClr val="1B2A2F"/>
                          </a:solidFill>
                        </a:rPr>
                        <a:t>3</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2</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2</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18</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5.900 €</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l" indent="0" marL="0">
                        <a:buNone/>
                      </a:pPr>
                      <a:r>
                        <a:rPr lang="en-US" sz="1400" dirty="0">
                          <a:solidFill>
                            <a:srgbClr val="1B2A2F"/>
                          </a:solidFill>
                        </a:rPr>
                        <a:t>Letzter Preis war zu hoch; Annahme: Konkurrenz liegt bei ca. 6.000 €</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r>
              <a:tr h="640080">
                <a:tc>
                  <a:txBody>
                    <a:bodyPr/>
                    <a:lstStyle/>
                    <a:p>
                      <a:pPr algn="ctr" indent="0" marL="0">
                        <a:buNone/>
                      </a:pPr>
                      <a:r>
                        <a:rPr lang="en-US" sz="1400" b="1" dirty="0">
                          <a:solidFill>
                            <a:srgbClr val="1B2A2F"/>
                          </a:solidFill>
                        </a:rPr>
                        <a:t>4</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2</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2</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1</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9.500 €</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l" indent="0" marL="0">
                        <a:buNone/>
                      </a:pPr>
                      <a:r>
                        <a:rPr lang="en-US" sz="1400" dirty="0">
                          <a:solidFill>
                            <a:srgbClr val="1B2A2F"/>
                          </a:solidFill>
                        </a:rPr>
                        <a:t>Weniger Absatz erwartet; Minus begrenzen</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r>
              <a:tr h="640080">
                <a:tc>
                  <a:txBody>
                    <a:bodyPr/>
                    <a:lstStyle/>
                    <a:p>
                      <a:pPr algn="ctr" indent="0" marL="0">
                        <a:buNone/>
                      </a:pPr>
                      <a:r>
                        <a:rPr lang="en-US" sz="1400" b="1" dirty="0">
                          <a:solidFill>
                            <a:srgbClr val="1B2A2F"/>
                          </a:solidFill>
                        </a:rPr>
                        <a:t>5</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2</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2</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1</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9.500 €</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l" indent="0" marL="0">
                        <a:buNone/>
                      </a:pPr>
                      <a:r>
                        <a:rPr lang="en-US" sz="1400" dirty="0">
                          <a:solidFill>
                            <a:srgbClr val="1B2A2F"/>
                          </a:solidFill>
                        </a:rPr>
                        <a:t>Marktanalyse sagt weniger Absatz voraus</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r>
              <a:tr h="640080">
                <a:tc>
                  <a:txBody>
                    <a:bodyPr/>
                    <a:lstStyle/>
                    <a:p>
                      <a:pPr algn="ctr" indent="0" marL="0">
                        <a:buNone/>
                      </a:pPr>
                      <a:r>
                        <a:rPr lang="en-US" sz="1400" b="1" dirty="0">
                          <a:solidFill>
                            <a:srgbClr val="1B2A2F"/>
                          </a:solidFill>
                        </a:rPr>
                        <a:t>6</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2</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2</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13</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ctr" indent="0" marL="0">
                        <a:buNone/>
                      </a:pPr>
                      <a:r>
                        <a:rPr lang="en-US" sz="1400" dirty="0">
                          <a:solidFill>
                            <a:srgbClr val="1B2A2F"/>
                          </a:solidFill>
                        </a:rPr>
                        <a:t>8.400 €</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l" indent="0" marL="0">
                        <a:buNone/>
                      </a:pPr>
                      <a:r>
                        <a:rPr lang="en-US" sz="1400" dirty="0">
                          <a:solidFill>
                            <a:srgbClr val="1B2A2F"/>
                          </a:solidFill>
                        </a:rPr>
                        <a:t>Alles verkaufen und vor Abschluss Umsatz machen</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Wirtschaftsdienst: was von außen auf uns wirkte</a:t>
            </a:r>
            <a:endParaRPr lang="en-US" sz="3600" dirty="0"/>
          </a:p>
        </p:txBody>
      </p:sp>
      <p:sp>
        <p:nvSpPr>
          <p:cNvPr id="4" name="Platzhalter"/>
          <p:cNvSpPr/>
          <p:nvPr/>
        </p:nvSpPr>
        <p:spPr>
          <a:xfrm>
            <a:off x="640080" y="1463040"/>
            <a:ext cx="5303520" cy="4480560"/>
          </a:xfrm>
          <a:prstGeom prst="roundRect">
            <a:avLst>
              <a:gd name="adj" fmla="val 2449"/>
            </a:avLst>
          </a:prstGeom>
          <a:solidFill>
            <a:schemeClr val="bg2"/>
          </a:solidFill>
          <a:ln w="15875">
            <a:solidFill>
              <a:schemeClr val="accent5"/>
            </a:solidFill>
            <a:prstDash val="dash"/>
          </a:ln>
        </p:spPr>
      </p:sp>
      <p:sp>
        <p:nvSpPr>
          <p:cNvPr id="5" name="Text 2"/>
          <p:cNvSpPr txBox="1"/>
          <p:nvPr/>
        </p:nvSpPr>
        <p:spPr>
          <a:xfrm>
            <a:off x="868680" y="1463040"/>
            <a:ext cx="4846320" cy="4480560"/>
          </a:xfrm>
          <a:prstGeom prst="rect">
            <a:avLst/>
          </a:prstGeom>
          <a:noFill/>
          <a:ln/>
        </p:spPr>
        <p:txBody>
          <a:bodyPr wrap="square" lIns="0" tIns="0" rIns="0" bIns="0" rtlCol="0" anchor="ctr"/>
          <a:lstStyle/>
          <a:p>
            <a:pPr indent="0" marL="0">
              <a:buNone/>
            </a:pPr>
            <a:r>
              <a:rPr lang="en-US" sz="1600" b="1" dirty="0">
                <a:solidFill>
                  <a:schemeClr val="tx2"/>
                </a:solidFill>
              </a:rPr>
              <a:t>Nachricht(en) je Runde</a:t>
            </a:r>
            <a:endParaRPr lang="en-US" sz="1600" dirty="0"/>
          </a:p>
          <a:p>
            <a:pPr indent="0" marL="0">
              <a:buNone/>
            </a:pPr>
            <a:r>
              <a:rPr lang="en-US" sz="1400" dirty="0">
                <a:solidFill>
                  <a:schemeClr val="tx1"/>
                </a:solidFill>
              </a:rPr>
              <a:t>Runde 2 bis 6: Meldung des Wirtschaftsdienstes in einem Satz</a:t>
            </a:r>
            <a:endParaRPr lang="en-US" sz="1600" dirty="0"/>
          </a:p>
        </p:txBody>
      </p:sp>
      <p:sp>
        <p:nvSpPr>
          <p:cNvPr id="6" name="Platzhalter"/>
          <p:cNvSpPr/>
          <p:nvPr/>
        </p:nvSpPr>
        <p:spPr>
          <a:xfrm>
            <a:off x="6217920" y="1463040"/>
            <a:ext cx="5303520" cy="4480560"/>
          </a:xfrm>
          <a:prstGeom prst="roundRect">
            <a:avLst>
              <a:gd name="adj" fmla="val 2449"/>
            </a:avLst>
          </a:prstGeom>
          <a:solidFill>
            <a:schemeClr val="bg2"/>
          </a:solidFill>
          <a:ln w="15875">
            <a:solidFill>
              <a:schemeClr val="accent5"/>
            </a:solidFill>
            <a:prstDash val="dash"/>
          </a:ln>
        </p:spPr>
      </p:sp>
      <p:sp>
        <p:nvSpPr>
          <p:cNvPr id="7" name="Text 4"/>
          <p:cNvSpPr txBox="1"/>
          <p:nvPr/>
        </p:nvSpPr>
        <p:spPr>
          <a:xfrm>
            <a:off x="6446520" y="1463040"/>
            <a:ext cx="4846320" cy="4480560"/>
          </a:xfrm>
          <a:prstGeom prst="rect">
            <a:avLst/>
          </a:prstGeom>
          <a:noFill/>
          <a:ln/>
        </p:spPr>
        <p:txBody>
          <a:bodyPr wrap="square" lIns="0" tIns="0" rIns="0" bIns="0" rtlCol="0" anchor="ctr"/>
          <a:lstStyle/>
          <a:p>
            <a:pPr indent="0" marL="0">
              <a:buNone/>
            </a:pPr>
            <a:r>
              <a:rPr lang="en-US" sz="1600" b="1" dirty="0">
                <a:solidFill>
                  <a:schemeClr val="tx2"/>
                </a:solidFill>
              </a:rPr>
              <a:t>Unsere Reaktion &amp; Wirkung</a:t>
            </a:r>
            <a:endParaRPr lang="en-US" sz="1600" dirty="0"/>
          </a:p>
          <a:p>
            <a:pPr indent="0" marL="0">
              <a:buNone/>
            </a:pPr>
            <a:r>
              <a:rPr lang="en-US" sz="1400" dirty="0">
                <a:solidFill>
                  <a:schemeClr val="tx1"/>
                </a:solidFill>
              </a:rPr>
              <a:t>Sonstige Kosten laut Kassenbuch: R2 10.000 €, R3 5.000 €, R4 2.500 €, R5 10.000 €, R6 6.500 € – woher kamen sie?</a:t>
            </a:r>
            <a:endParaRPr lang="en-US" sz="16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Auswertung: Kennzahlen pro Runde</a:t>
            </a:r>
            <a:endParaRPr lang="en-US" sz="3600" dirty="0"/>
          </a:p>
        </p:txBody>
      </p:sp>
      <p:graphicFrame>
        <p:nvGraphicFramePr>
          <p:cNvPr id="8" name="Tabelle Kennzahlen"/>
          <p:cNvGraphicFramePr>
            <a:graphicFrameLocks noGrp="1"/>
          </p:cNvGraphicFramePr>
          <p:nvPr>
            <p:extLst>
              <p:ext uri="{D42A27DB-BD31-4B8C-83A1-F6EECF244321}">
                <p14:modId xmlns:p14="http://schemas.microsoft.com/office/powerpoint/2010/main" val="1579011935"/>
              </p:ext>
            </p:extLst>
          </p:nvPr>
        </p:nvGraphicFramePr>
        <p:xfrm>
          <a:off x="640080" y="1463040"/>
          <a:ext cx="7772400" cy="914400"/>
        </p:xfrm>
        <a:graphic>
          <a:graphicData uri="http://schemas.openxmlformats.org/drawingml/2006/table">
            <a:tbl>
              <a:tblPr/>
              <a:tblGrid>
                <a:gridCol w="2286000"/>
                <a:gridCol w="914400"/>
                <a:gridCol w="914400"/>
                <a:gridCol w="914400"/>
                <a:gridCol w="914400"/>
                <a:gridCol w="914400"/>
                <a:gridCol w="914400"/>
              </a:tblGrid>
              <a:tr h="566928">
                <a:tc>
                  <a:txBody>
                    <a:bodyPr/>
                    <a:lstStyle/>
                    <a:p>
                      <a:pPr algn="ctr" indent="0" marL="0">
                        <a:buNone/>
                      </a:pPr>
                      <a:r>
                        <a:rPr lang="en-US" sz="1400" b="1" dirty="0">
                          <a:solidFill>
                            <a:srgbClr val="FFFFFF"/>
                          </a:solidFill>
                        </a:rPr>
                        <a:t>Kennzahl in €</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solidFill>
                      <a:srgbClr val="0F5C6B"/>
                    </a:solidFill>
                  </a:tcPr>
                </a:tc>
                <a:tc>
                  <a:txBody>
                    <a:bodyPr/>
                    <a:lstStyle/>
                    <a:p>
                      <a:pPr algn="ctr" indent="0" marL="0">
                        <a:buNone/>
                      </a:pPr>
                      <a:r>
                        <a:rPr lang="en-US" sz="1400" b="1" dirty="0">
                          <a:solidFill>
                            <a:srgbClr val="FFFFFF"/>
                          </a:solidFill>
                        </a:rPr>
                        <a:t>R1</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solidFill>
                      <a:srgbClr val="0F5C6B"/>
                    </a:solidFill>
                  </a:tcPr>
                </a:tc>
                <a:tc>
                  <a:txBody>
                    <a:bodyPr/>
                    <a:lstStyle/>
                    <a:p>
                      <a:pPr algn="ctr" indent="0" marL="0">
                        <a:buNone/>
                      </a:pPr>
                      <a:r>
                        <a:rPr lang="en-US" sz="1400" b="1" dirty="0">
                          <a:solidFill>
                            <a:srgbClr val="FFFFFF"/>
                          </a:solidFill>
                        </a:rPr>
                        <a:t>R2</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solidFill>
                      <a:srgbClr val="0F5C6B"/>
                    </a:solidFill>
                  </a:tcPr>
                </a:tc>
                <a:tc>
                  <a:txBody>
                    <a:bodyPr/>
                    <a:lstStyle/>
                    <a:p>
                      <a:pPr algn="ctr" indent="0" marL="0">
                        <a:buNone/>
                      </a:pPr>
                      <a:r>
                        <a:rPr lang="en-US" sz="1400" b="1" dirty="0">
                          <a:solidFill>
                            <a:srgbClr val="FFFFFF"/>
                          </a:solidFill>
                        </a:rPr>
                        <a:t>R3</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solidFill>
                      <a:srgbClr val="0F5C6B"/>
                    </a:solidFill>
                  </a:tcPr>
                </a:tc>
                <a:tc>
                  <a:txBody>
                    <a:bodyPr/>
                    <a:lstStyle/>
                    <a:p>
                      <a:pPr algn="ctr" indent="0" marL="0">
                        <a:buNone/>
                      </a:pPr>
                      <a:r>
                        <a:rPr lang="en-US" sz="1400" b="1" dirty="0">
                          <a:solidFill>
                            <a:srgbClr val="FFFFFF"/>
                          </a:solidFill>
                        </a:rPr>
                        <a:t>R4</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solidFill>
                      <a:srgbClr val="0F5C6B"/>
                    </a:solidFill>
                  </a:tcPr>
                </a:tc>
                <a:tc>
                  <a:txBody>
                    <a:bodyPr/>
                    <a:lstStyle/>
                    <a:p>
                      <a:pPr algn="ctr" indent="0" marL="0">
                        <a:buNone/>
                      </a:pPr>
                      <a:r>
                        <a:rPr lang="en-US" sz="1400" b="1" dirty="0">
                          <a:solidFill>
                            <a:srgbClr val="FFFFFF"/>
                          </a:solidFill>
                        </a:rPr>
                        <a:t>R5</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solidFill>
                      <a:srgbClr val="0F5C6B"/>
                    </a:solidFill>
                  </a:tcPr>
                </a:tc>
                <a:tc>
                  <a:txBody>
                    <a:bodyPr/>
                    <a:lstStyle/>
                    <a:p>
                      <a:pPr algn="ctr" indent="0" marL="0">
                        <a:buNone/>
                      </a:pPr>
                      <a:r>
                        <a:rPr lang="en-US" sz="1400" b="1" dirty="0">
                          <a:solidFill>
                            <a:srgbClr val="FFFFFF"/>
                          </a:solidFill>
                        </a:rPr>
                        <a:t>R6</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solidFill>
                      <a:srgbClr val="0F5C6B"/>
                    </a:solidFill>
                  </a:tcPr>
                </a:tc>
              </a:tr>
              <a:tr h="566928">
                <a:tc>
                  <a:txBody>
                    <a:bodyPr/>
                    <a:lstStyle/>
                    <a:p>
                      <a:pPr algn="l" indent="0" marL="0">
                        <a:buNone/>
                      </a:pPr>
                      <a:r>
                        <a:rPr lang="en-US" sz="1400" b="1" dirty="0">
                          <a:solidFill>
                            <a:srgbClr val="1B2A2F"/>
                          </a:solidFill>
                        </a:rPr>
                        <a:t>Umsatz</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45.000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55.900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79.940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5.250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2.700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51.480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r>
              <a:tr h="566928">
                <a:tc>
                  <a:txBody>
                    <a:bodyPr/>
                    <a:lstStyle/>
                    <a:p>
                      <a:pPr algn="l" indent="0" marL="0">
                        <a:buNone/>
                      </a:pPr>
                      <a:r>
                        <a:rPr lang="en-US" sz="1400" b="1" dirty="0">
                          <a:solidFill>
                            <a:srgbClr val="1B2A2F"/>
                          </a:solidFill>
                        </a:rPr>
                        <a:t>Gesamtkosten</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69.000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75.000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54.000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18.000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25.000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45.500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r>
              <a:tr h="566928">
                <a:tc>
                  <a:txBody>
                    <a:bodyPr/>
                    <a:lstStyle/>
                    <a:p>
                      <a:pPr algn="l" indent="0" marL="0">
                        <a:buNone/>
                      </a:pPr>
                      <a:r>
                        <a:rPr lang="en-US" sz="1400" b="1" dirty="0">
                          <a:solidFill>
                            <a:srgbClr val="1B2A2F"/>
                          </a:solidFill>
                        </a:rPr>
                        <a:t>Gewinn / Verlust</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9A3B1C"/>
                          </a:solidFill>
                        </a:rPr>
                        <a:t>−24.000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9A3B1C"/>
                          </a:solidFill>
                        </a:rPr>
                        <a:t>−19.100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3F6B12"/>
                          </a:solidFill>
                        </a:rPr>
                        <a:t>+25.940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9A3B1C"/>
                          </a:solidFill>
                        </a:rPr>
                        <a:t>−12.750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9A3B1C"/>
                          </a:solidFill>
                        </a:rPr>
                        <a:t>−22.300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3F6B12"/>
                          </a:solidFill>
                        </a:rPr>
                        <a:t>+5.980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r>
              <a:tr h="566928">
                <a:tc>
                  <a:txBody>
                    <a:bodyPr/>
                    <a:lstStyle/>
                    <a:p>
                      <a:pPr algn="l" indent="0" marL="0">
                        <a:buNone/>
                      </a:pPr>
                      <a:r>
                        <a:rPr lang="en-US" sz="1400" b="1" dirty="0">
                          <a:solidFill>
                            <a:srgbClr val="1B2A2F"/>
                          </a:solidFill>
                        </a:rPr>
                        <a:t>Kassenbestand</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76.000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56.900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82.840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70.090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47.790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53.770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r>
              <a:tr h="566928">
                <a:tc>
                  <a:txBody>
                    <a:bodyPr/>
                    <a:lstStyle/>
                    <a:p>
                      <a:pPr algn="l" indent="0" marL="0">
                        <a:buNone/>
                      </a:pPr>
                      <a:r>
                        <a:rPr lang="en-US" sz="1400" b="1" dirty="0">
                          <a:solidFill>
                            <a:srgbClr val="1B2A2F"/>
                          </a:solidFill>
                        </a:rPr>
                        <a:t>Paletten am Markt</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15</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6,5</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12,6</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0,5</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0,2</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5,2</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r>
              <a:tr h="566928">
                <a:tc>
                  <a:txBody>
                    <a:bodyPr/>
                    <a:lstStyle/>
                    <a:p>
                      <a:pPr algn="l" indent="0" marL="0">
                        <a:buNone/>
                      </a:pPr>
                      <a:r>
                        <a:rPr lang="en-US" sz="1400" b="1" dirty="0">
                          <a:solidFill>
                            <a:srgbClr val="1B2A2F"/>
                          </a:solidFill>
                        </a:rPr>
                        <a:t>Paletten Schnäppchen</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0</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6,5</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5,6</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0,5</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0,8</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c>
                  <a:txBody>
                    <a:bodyPr/>
                    <a:lstStyle/>
                    <a:p>
                      <a:pPr algn="r" indent="0" marL="0">
                        <a:buNone/>
                      </a:pPr>
                      <a:r>
                        <a:rPr lang="en-US" sz="1400" dirty="0">
                          <a:solidFill>
                            <a:srgbClr val="1B2A2F"/>
                          </a:solidFill>
                        </a:rPr>
                        <a:t>7,8</a:t>
                      </a:r>
                      <a:endParaRPr lang="en-US" sz="1400" dirty="0"/>
                    </a:p>
                  </a:txBody>
                  <a:tcPr marL="91440" marR="91440" marT="45720" marB="45720" anchor="ctr">
                    <a:lnL w="9525" cap="flat" cmpd="sng" algn="ctr">
                      <a:solidFill>
                        <a:srgbClr val="B8B8B0"/>
                      </a:solidFill>
                      <a:prstDash val="solid"/>
                      <a:round/>
                      <a:headEnd type="none" w="med" len="med"/>
                      <a:tailEnd type="none" w="med" len="med"/>
                    </a:lnL>
                    <a:lnR w="9525" cap="flat" cmpd="sng" algn="ctr">
                      <a:solidFill>
                        <a:srgbClr val="B8B8B0"/>
                      </a:solidFill>
                      <a:prstDash val="solid"/>
                      <a:round/>
                      <a:headEnd type="none" w="med" len="med"/>
                      <a:tailEnd type="none" w="med" len="med"/>
                    </a:lnR>
                    <a:lnT w="9525" cap="flat" cmpd="sng" algn="ctr">
                      <a:solidFill>
                        <a:srgbClr val="B8B8B0"/>
                      </a:solidFill>
                      <a:prstDash val="solid"/>
                      <a:round/>
                      <a:headEnd type="none" w="med" len="med"/>
                      <a:tailEnd type="none" w="med" len="med"/>
                    </a:lnT>
                    <a:lnB w="9525" cap="flat" cmpd="sng" algn="ctr">
                      <a:solidFill>
                        <a:srgbClr val="B8B8B0"/>
                      </a:solidFill>
                      <a:prstDash val="solid"/>
                      <a:round/>
                      <a:headEnd type="none" w="med" len="med"/>
                      <a:tailEnd type="none" w="med" len="med"/>
                    </a:lnB>
                  </a:tcPr>
                </a:tc>
              </a:tr>
            </a:tbl>
          </a:graphicData>
        </a:graphic>
      </p:graphicFrame>
      <p:sp>
        <p:nvSpPr>
          <p:cNvPr id="5" name="Karte So haben wir gerechnet"/>
          <p:cNvSpPr/>
          <p:nvPr/>
        </p:nvSpPr>
        <p:spPr>
          <a:xfrm>
            <a:off x="8686800" y="1463040"/>
            <a:ext cx="2834640" cy="4206240"/>
          </a:xfrm>
          <a:prstGeom prst="roundRect">
            <a:avLst>
              <a:gd name="adj" fmla="val 3871"/>
            </a:avLst>
          </a:prstGeom>
          <a:solidFill>
            <a:schemeClr val="bg2"/>
          </a:solidFill>
          <a:ln/>
        </p:spPr>
      </p:sp>
      <p:sp>
        <p:nvSpPr>
          <p:cNvPr id="6" name="Icon-Kreis FaChartLine"/>
          <p:cNvSpPr/>
          <p:nvPr/>
        </p:nvSpPr>
        <p:spPr>
          <a:xfrm>
            <a:off x="8961120" y="1737360"/>
            <a:ext cx="640080" cy="640080"/>
          </a:xfrm>
          <a:prstGeom prst="ellipse">
            <a:avLst/>
          </a:prstGeom>
          <a:solidFill>
            <a:schemeClr val="accent1"/>
          </a:solidFill>
          <a:ln/>
        </p:spPr>
      </p:sp>
      <p:pic>
        <p:nvPicPr>
          <p:cNvPr id="7" name="Icon FaChartLine" descr="Symbol">    </p:cNvPr>
          <p:cNvPicPr>
            <a:picLocks noChangeAspect="1"/>
          </p:cNvPicPr>
          <p:nvPr/>
        </p:nvPicPr>
        <p:blipFill>
          <a:blip r:embed="rId1"/>
          <a:stretch>
            <a:fillRect/>
          </a:stretch>
        </p:blipFill>
        <p:spPr>
          <a:xfrm>
            <a:off x="9140342" y="1916582"/>
            <a:ext cx="281635" cy="281635"/>
          </a:xfrm>
          <a:prstGeom prst="rect">
            <a:avLst/>
          </a:prstGeom>
        </p:spPr>
      </p:pic>
      <p:sp>
        <p:nvSpPr>
          <p:cNvPr id="8" name="Text 3"/>
          <p:cNvSpPr txBox="1"/>
          <p:nvPr/>
        </p:nvSpPr>
        <p:spPr>
          <a:xfrm>
            <a:off x="9784080" y="1737360"/>
            <a:ext cx="1463040" cy="640080"/>
          </a:xfrm>
          <a:prstGeom prst="rect">
            <a:avLst/>
          </a:prstGeom>
          <a:noFill/>
          <a:ln/>
        </p:spPr>
        <p:txBody>
          <a:bodyPr wrap="square" lIns="0" tIns="0" rIns="0" bIns="0" rtlCol="0" anchor="ctr"/>
          <a:lstStyle/>
          <a:p>
            <a:pPr indent="0" marL="0">
              <a:buNone/>
            </a:pPr>
            <a:r>
              <a:rPr lang="en-US" sz="2000" b="1" dirty="0">
                <a:solidFill>
                  <a:schemeClr val="tx2"/>
                </a:solidFill>
              </a:rPr>
              <a:t>So haben wir gerechnet</a:t>
            </a:r>
            <a:endParaRPr lang="en-US" sz="2000" dirty="0"/>
          </a:p>
        </p:txBody>
      </p:sp>
      <p:sp>
        <p:nvSpPr>
          <p:cNvPr id="9" name="Text 4"/>
          <p:cNvSpPr txBox="1"/>
          <p:nvPr/>
        </p:nvSpPr>
        <p:spPr>
          <a:xfrm>
            <a:off x="8961120" y="2651760"/>
            <a:ext cx="2286000" cy="2834640"/>
          </a:xfrm>
          <a:prstGeom prst="rect">
            <a:avLst/>
          </a:prstGeom>
          <a:noFill/>
          <a:ln/>
        </p:spPr>
        <p:txBody>
          <a:bodyPr wrap="square" lIns="0" tIns="0" rIns="0" bIns="0" rtlCol="0" anchor="t"/>
          <a:lstStyle/>
          <a:p>
            <a:pPr indent="0" marL="0">
              <a:spcAft>
                <a:spcPts val="600"/>
              </a:spcAft>
              <a:buNone/>
            </a:pPr>
            <a:r>
              <a:rPr lang="en-US" sz="1600" dirty="0">
                <a:solidFill>
                  <a:schemeClr val="tx1"/>
                </a:solidFill>
              </a:rPr>
              <a:t>Umsatz = Menge × Preis</a:t>
            </a:r>
            <a:endParaRPr lang="en-US" sz="1600" dirty="0"/>
          </a:p>
          <a:p>
            <a:pPr indent="0" marL="0">
              <a:spcAft>
                <a:spcPts val="600"/>
              </a:spcAft>
              <a:buNone/>
            </a:pPr>
            <a:r>
              <a:rPr lang="en-US" sz="1600" dirty="0">
                <a:solidFill>
                  <a:schemeClr val="tx1"/>
                </a:solidFill>
              </a:rPr>
              <a:t>Kosten = Maschinen, Personal, Miete, sonstige, Produktion, Material</a:t>
            </a:r>
            <a:endParaRPr lang="en-US" sz="1600" dirty="0"/>
          </a:p>
          <a:p>
            <a:pPr indent="0" marL="0">
              <a:spcAft>
                <a:spcPts val="600"/>
              </a:spcAft>
              <a:buNone/>
            </a:pPr>
            <a:r>
              <a:rPr lang="en-US" sz="1600" dirty="0">
                <a:solidFill>
                  <a:schemeClr val="tx1"/>
                </a:solidFill>
              </a:rPr>
              <a:t>Gewinn = Umsatz − Kosten</a:t>
            </a:r>
            <a:endParaRPr lang="en-US" sz="1600" dirty="0"/>
          </a:p>
        </p:txBody>
      </p:sp>
      <p:sp>
        <p:nvSpPr>
          <p:cNvPr id="10" name="Text 5"/>
          <p:cNvSpPr txBox="1"/>
          <p:nvPr/>
        </p:nvSpPr>
        <p:spPr>
          <a:xfrm>
            <a:off x="640080" y="5577840"/>
            <a:ext cx="7772400" cy="365760"/>
          </a:xfrm>
          <a:prstGeom prst="rect">
            <a:avLst/>
          </a:prstGeom>
          <a:noFill/>
          <a:ln/>
        </p:spPr>
        <p:txBody>
          <a:bodyPr wrap="square" lIns="0" tIns="0" rIns="0" bIns="0" rtlCol="0" anchor="ctr"/>
          <a:lstStyle/>
          <a:p>
            <a:pPr indent="0" marL="0">
              <a:buNone/>
            </a:pPr>
            <a:r>
              <a:rPr lang="en-US" sz="1400" i="1" dirty="0">
                <a:solidFill>
                  <a:schemeClr val="accent4"/>
                </a:solidFill>
              </a:rPr>
              <a:t>Gesamtkosten R1 und R2 enthalten je 30.000 € Maschinenkauf.</a:t>
            </a:r>
            <a:endParaRPr lang="en-US" sz="1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Auswertung: Entwicklung über die Runden</a:t>
            </a:r>
            <a:endParaRPr lang="en-US" sz="3600" dirty="0"/>
          </a:p>
        </p:txBody>
      </p:sp>
      <p:graphicFrame>
        <p:nvGraphicFramePr>
          <p:cNvPr id="4" name="Chart 0" descr=""/>
          <p:cNvGraphicFramePr/>
          <p:nvPr/>
        </p:nvGraphicFramePr>
        <p:xfrm>
          <a:off x="640080" y="1371600"/>
          <a:ext cx="53949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217920" y="1371600"/>
          <a:ext cx="5303520" cy="411480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640080" y="5623560"/>
            <a:ext cx="10881360" cy="548640"/>
          </a:xfrm>
          <a:prstGeom prst="rect">
            <a:avLst/>
          </a:prstGeom>
          <a:noFill/>
          <a:ln/>
        </p:spPr>
        <p:txBody>
          <a:bodyPr wrap="square" lIns="0" tIns="0" rIns="0" bIns="0" rtlCol="0" anchor="ctr"/>
          <a:lstStyle/>
          <a:p>
            <a:pPr indent="0" marL="0">
              <a:buNone/>
            </a:pPr>
            <a:r>
              <a:rPr lang="en-US" sz="1600" b="1" dirty="0">
                <a:solidFill>
                  <a:schemeClr val="accent2"/>
                </a:solidFill>
              </a:rPr>
              <a:t>Kernaussage: </a:t>
            </a:r>
            <a:pPr indent="0" marL="0">
              <a:buNone/>
            </a:pPr>
            <a:r>
              <a:rPr lang="en-US" sz="1600" dirty="0">
                <a:solidFill>
                  <a:schemeClr val="tx1"/>
                </a:solidFill>
              </a:rPr>
              <a:t>Nur in Runde 3 und 6 lag der Umsatz über den Kosten (R1/R2 enthalten 60.000 € Maschinenkäufe).</a:t>
            </a:r>
            <a:endParaRPr lang="en-US" sz="16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Endbestand und Unternehmensverkaufswert</a:t>
            </a:r>
            <a:endParaRPr lang="en-US" sz="3600" dirty="0"/>
          </a:p>
        </p:txBody>
      </p:sp>
      <p:sp>
        <p:nvSpPr>
          <p:cNvPr id="4" name="Kennzahl Schlussbestand nach Runde 6"/>
          <p:cNvSpPr/>
          <p:nvPr/>
        </p:nvSpPr>
        <p:spPr>
          <a:xfrm>
            <a:off x="640080" y="1463040"/>
            <a:ext cx="3474720" cy="2377440"/>
          </a:xfrm>
          <a:prstGeom prst="roundRect">
            <a:avLst>
              <a:gd name="adj" fmla="val 4615"/>
            </a:avLst>
          </a:prstGeom>
          <a:solidFill>
            <a:schemeClr val="bg2"/>
          </a:solidFill>
          <a:ln/>
        </p:spPr>
      </p:sp>
      <p:sp>
        <p:nvSpPr>
          <p:cNvPr id="5" name="Text 2"/>
          <p:cNvSpPr txBox="1"/>
          <p:nvPr/>
        </p:nvSpPr>
        <p:spPr>
          <a:xfrm>
            <a:off x="640080" y="1691640"/>
            <a:ext cx="3474720" cy="1097280"/>
          </a:xfrm>
          <a:prstGeom prst="rect">
            <a:avLst/>
          </a:prstGeom>
          <a:noFill/>
          <a:ln/>
        </p:spPr>
        <p:txBody>
          <a:bodyPr wrap="square" lIns="0" tIns="0" rIns="0" bIns="0" rtlCol="0" anchor="ctr"/>
          <a:lstStyle/>
          <a:p>
            <a:pPr algn="ctr" indent="0" marL="0">
              <a:buNone/>
            </a:pPr>
            <a:r>
              <a:rPr lang="en-US" sz="4800" b="1" dirty="0">
                <a:solidFill>
                  <a:schemeClr val="tx2"/>
                </a:solidFill>
                <a:latin typeface="Cambria" pitchFamily="34" charset="0"/>
                <a:ea typeface="Cambria" pitchFamily="34" charset="-122"/>
                <a:cs typeface="Cambria" pitchFamily="34" charset="-120"/>
              </a:rPr>
              <a:t>53.770 €</a:t>
            </a:r>
            <a:endParaRPr lang="en-US" sz="4800" dirty="0"/>
          </a:p>
        </p:txBody>
      </p:sp>
      <p:sp>
        <p:nvSpPr>
          <p:cNvPr id="6" name="Text 3"/>
          <p:cNvSpPr txBox="1"/>
          <p:nvPr/>
        </p:nvSpPr>
        <p:spPr>
          <a:xfrm>
            <a:off x="822960" y="2880360"/>
            <a:ext cx="3108960" cy="731520"/>
          </a:xfrm>
          <a:prstGeom prst="rect">
            <a:avLst/>
          </a:prstGeom>
          <a:noFill/>
          <a:ln/>
        </p:spPr>
        <p:txBody>
          <a:bodyPr wrap="square" lIns="0" tIns="0" rIns="0" bIns="0" rtlCol="0" anchor="ctr"/>
          <a:lstStyle/>
          <a:p>
            <a:pPr algn="ctr" indent="0" marL="0">
              <a:buNone/>
            </a:pPr>
            <a:r>
              <a:rPr lang="en-US" sz="1600" dirty="0">
                <a:solidFill>
                  <a:schemeClr val="tx1"/>
                </a:solidFill>
              </a:rPr>
              <a:t>Schlussbestand nach Runde 6</a:t>
            </a:r>
            <a:endParaRPr lang="en-US" sz="1600" dirty="0"/>
          </a:p>
        </p:txBody>
      </p:sp>
      <p:sp>
        <p:nvSpPr>
          <p:cNvPr id="7" name="Kennzahl Restwert der zwei Maschinen"/>
          <p:cNvSpPr/>
          <p:nvPr/>
        </p:nvSpPr>
        <p:spPr>
          <a:xfrm>
            <a:off x="4343400" y="1463040"/>
            <a:ext cx="3474720" cy="2377440"/>
          </a:xfrm>
          <a:prstGeom prst="roundRect">
            <a:avLst>
              <a:gd name="adj" fmla="val 4615"/>
            </a:avLst>
          </a:prstGeom>
          <a:solidFill>
            <a:schemeClr val="bg2"/>
          </a:solidFill>
          <a:ln/>
        </p:spPr>
      </p:sp>
      <p:sp>
        <p:nvSpPr>
          <p:cNvPr id="8" name="Text 5"/>
          <p:cNvSpPr txBox="1"/>
          <p:nvPr/>
        </p:nvSpPr>
        <p:spPr>
          <a:xfrm>
            <a:off x="4343400" y="1691640"/>
            <a:ext cx="3474720" cy="1097280"/>
          </a:xfrm>
          <a:prstGeom prst="rect">
            <a:avLst/>
          </a:prstGeom>
          <a:noFill/>
          <a:ln/>
        </p:spPr>
        <p:txBody>
          <a:bodyPr wrap="square" lIns="0" tIns="0" rIns="0" bIns="0" rtlCol="0" anchor="ctr"/>
          <a:lstStyle/>
          <a:p>
            <a:pPr algn="ctr" indent="0" marL="0">
              <a:buNone/>
            </a:pPr>
            <a:r>
              <a:rPr lang="en-US" sz="4800" b="1" dirty="0">
                <a:solidFill>
                  <a:schemeClr val="tx2"/>
                </a:solidFill>
                <a:latin typeface="Cambria" pitchFamily="34" charset="0"/>
                <a:ea typeface="Cambria" pitchFamily="34" charset="-122"/>
                <a:cs typeface="Cambria" pitchFamily="34" charset="-120"/>
              </a:rPr>
              <a:t>30.000 €</a:t>
            </a:r>
            <a:endParaRPr lang="en-US" sz="4800" dirty="0"/>
          </a:p>
        </p:txBody>
      </p:sp>
      <p:sp>
        <p:nvSpPr>
          <p:cNvPr id="9" name="Text 6"/>
          <p:cNvSpPr txBox="1"/>
          <p:nvPr/>
        </p:nvSpPr>
        <p:spPr>
          <a:xfrm>
            <a:off x="4526280" y="2880360"/>
            <a:ext cx="3108960" cy="731520"/>
          </a:xfrm>
          <a:prstGeom prst="rect">
            <a:avLst/>
          </a:prstGeom>
          <a:noFill/>
          <a:ln/>
        </p:spPr>
        <p:txBody>
          <a:bodyPr wrap="square" lIns="0" tIns="0" rIns="0" bIns="0" rtlCol="0" anchor="ctr"/>
          <a:lstStyle/>
          <a:p>
            <a:pPr algn="ctr" indent="0" marL="0">
              <a:buNone/>
            </a:pPr>
            <a:r>
              <a:rPr lang="en-US" sz="1600" dirty="0">
                <a:solidFill>
                  <a:schemeClr val="tx1"/>
                </a:solidFill>
              </a:rPr>
              <a:t>Restwert der zwei Maschinen</a:t>
            </a:r>
            <a:endParaRPr lang="en-US" sz="1600" dirty="0"/>
          </a:p>
        </p:txBody>
      </p:sp>
      <p:sp>
        <p:nvSpPr>
          <p:cNvPr id="10" name="Kennzahl Unternehmensverkaufswert"/>
          <p:cNvSpPr/>
          <p:nvPr/>
        </p:nvSpPr>
        <p:spPr>
          <a:xfrm>
            <a:off x="8046720" y="1463040"/>
            <a:ext cx="3474720" cy="2377440"/>
          </a:xfrm>
          <a:prstGeom prst="roundRect">
            <a:avLst>
              <a:gd name="adj" fmla="val 4615"/>
            </a:avLst>
          </a:prstGeom>
          <a:solidFill>
            <a:schemeClr val="bg2"/>
          </a:solidFill>
          <a:ln/>
        </p:spPr>
      </p:sp>
      <p:sp>
        <p:nvSpPr>
          <p:cNvPr id="11" name="Text 8"/>
          <p:cNvSpPr txBox="1"/>
          <p:nvPr/>
        </p:nvSpPr>
        <p:spPr>
          <a:xfrm>
            <a:off x="8046720" y="1691640"/>
            <a:ext cx="3474720" cy="1097280"/>
          </a:xfrm>
          <a:prstGeom prst="rect">
            <a:avLst/>
          </a:prstGeom>
          <a:noFill/>
          <a:ln/>
        </p:spPr>
        <p:txBody>
          <a:bodyPr wrap="square" lIns="0" tIns="0" rIns="0" bIns="0" rtlCol="0" anchor="ctr"/>
          <a:lstStyle/>
          <a:p>
            <a:pPr algn="ctr" indent="0" marL="0">
              <a:buNone/>
            </a:pPr>
            <a:r>
              <a:rPr lang="en-US" sz="4800" b="1" dirty="0">
                <a:solidFill>
                  <a:schemeClr val="accent2"/>
                </a:solidFill>
                <a:latin typeface="Cambria" pitchFamily="34" charset="0"/>
                <a:ea typeface="Cambria" pitchFamily="34" charset="-122"/>
                <a:cs typeface="Cambria" pitchFamily="34" charset="-120"/>
              </a:rPr>
              <a:t>83.770 €</a:t>
            </a:r>
            <a:endParaRPr lang="en-US" sz="4800" dirty="0"/>
          </a:p>
        </p:txBody>
      </p:sp>
      <p:sp>
        <p:nvSpPr>
          <p:cNvPr id="12" name="Text 9"/>
          <p:cNvSpPr txBox="1"/>
          <p:nvPr/>
        </p:nvSpPr>
        <p:spPr>
          <a:xfrm>
            <a:off x="8229600" y="2880360"/>
            <a:ext cx="3108960" cy="731520"/>
          </a:xfrm>
          <a:prstGeom prst="rect">
            <a:avLst/>
          </a:prstGeom>
          <a:noFill/>
          <a:ln/>
        </p:spPr>
        <p:txBody>
          <a:bodyPr wrap="square" lIns="0" tIns="0" rIns="0" bIns="0" rtlCol="0" anchor="ctr"/>
          <a:lstStyle/>
          <a:p>
            <a:pPr algn="ctr" indent="0" marL="0">
              <a:buNone/>
            </a:pPr>
            <a:r>
              <a:rPr lang="en-US" sz="1600" dirty="0">
                <a:solidFill>
                  <a:schemeClr val="tx1"/>
                </a:solidFill>
              </a:rPr>
              <a:t>Unternehmensverkaufswert</a:t>
            </a:r>
            <a:endParaRPr lang="en-US" sz="1600" dirty="0"/>
          </a:p>
        </p:txBody>
      </p:sp>
      <p:sp>
        <p:nvSpPr>
          <p:cNvPr id="13" name="Einordnung"/>
          <p:cNvSpPr/>
          <p:nvPr/>
        </p:nvSpPr>
        <p:spPr>
          <a:xfrm>
            <a:off x="640080" y="4206240"/>
            <a:ext cx="10881360" cy="1737360"/>
          </a:xfrm>
          <a:prstGeom prst="roundRect">
            <a:avLst>
              <a:gd name="adj" fmla="val 6316"/>
            </a:avLst>
          </a:prstGeom>
          <a:solidFill>
            <a:schemeClr val="bg2"/>
          </a:solidFill>
          <a:ln/>
        </p:spPr>
      </p:sp>
      <p:sp>
        <p:nvSpPr>
          <p:cNvPr id="14" name="Icon-Kreis FaChartLine"/>
          <p:cNvSpPr/>
          <p:nvPr/>
        </p:nvSpPr>
        <p:spPr>
          <a:xfrm>
            <a:off x="914400" y="4709160"/>
            <a:ext cx="731520" cy="731520"/>
          </a:xfrm>
          <a:prstGeom prst="ellipse">
            <a:avLst/>
          </a:prstGeom>
          <a:solidFill>
            <a:schemeClr val="accent1"/>
          </a:solidFill>
          <a:ln/>
        </p:spPr>
      </p:sp>
      <p:pic>
        <p:nvPicPr>
          <p:cNvPr id="15" name="Icon FaChartLine" descr="Symbol">    </p:cNvPr>
          <p:cNvPicPr>
            <a:picLocks noChangeAspect="1"/>
          </p:cNvPicPr>
          <p:nvPr/>
        </p:nvPicPr>
        <p:blipFill>
          <a:blip r:embed="rId1"/>
          <a:stretch>
            <a:fillRect/>
          </a:stretch>
        </p:blipFill>
        <p:spPr>
          <a:xfrm>
            <a:off x="1119226" y="4913986"/>
            <a:ext cx="321869" cy="321869"/>
          </a:xfrm>
          <a:prstGeom prst="rect">
            <a:avLst/>
          </a:prstGeom>
        </p:spPr>
      </p:pic>
      <p:sp>
        <p:nvSpPr>
          <p:cNvPr id="16" name="Text 12"/>
          <p:cNvSpPr txBox="1"/>
          <p:nvPr/>
        </p:nvSpPr>
        <p:spPr>
          <a:xfrm>
            <a:off x="1920240" y="4206240"/>
            <a:ext cx="9326880" cy="1737360"/>
          </a:xfrm>
          <a:prstGeom prst="rect">
            <a:avLst/>
          </a:prstGeom>
          <a:noFill/>
          <a:ln/>
        </p:spPr>
        <p:txBody>
          <a:bodyPr wrap="square" lIns="0" tIns="0" rIns="0" bIns="0" rtlCol="0" anchor="ctr"/>
          <a:lstStyle/>
          <a:p>
            <a:pPr indent="0" marL="0">
              <a:buNone/>
            </a:pPr>
            <a:r>
              <a:rPr lang="en-US" sz="2000" b="1" dirty="0">
                <a:solidFill>
                  <a:schemeClr val="tx2"/>
                </a:solidFill>
              </a:rPr>
              <a:t>Einordnung</a:t>
            </a:r>
            <a:endParaRPr lang="en-US" sz="2000" dirty="0"/>
          </a:p>
          <a:p>
            <a:pPr indent="0" marL="0">
              <a:buNone/>
            </a:pPr>
            <a:r>
              <a:rPr lang="en-US" sz="1600" dirty="0">
                <a:solidFill>
                  <a:schemeClr val="tx1"/>
                </a:solidFill>
              </a:rPr>
              <a:t>Startkapital 100.000 € – unser Verkaufswert liegt 16.230 € darunter. Platzierung im Vergleich zu den anderen Gruppen: folgt.</a:t>
            </a:r>
            <a:endParaRPr lang="en-US" sz="20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Reflexion: Würden wir wieder so entscheiden?</a:t>
            </a:r>
            <a:endParaRPr lang="en-US" sz="3600" dirty="0"/>
          </a:p>
        </p:txBody>
      </p:sp>
      <p:sp>
        <p:nvSpPr>
          <p:cNvPr id="4" name="Karte Das lief gut"/>
          <p:cNvSpPr/>
          <p:nvPr/>
        </p:nvSpPr>
        <p:spPr>
          <a:xfrm>
            <a:off x="640080" y="1463040"/>
            <a:ext cx="3474720" cy="3566160"/>
          </a:xfrm>
          <a:prstGeom prst="roundRect">
            <a:avLst>
              <a:gd name="adj" fmla="val 3158"/>
            </a:avLst>
          </a:prstGeom>
          <a:solidFill>
            <a:schemeClr val="bg2"/>
          </a:solidFill>
          <a:ln/>
        </p:spPr>
      </p:sp>
      <p:sp>
        <p:nvSpPr>
          <p:cNvPr id="5" name="Icon-Kreis FaThumbsUp"/>
          <p:cNvSpPr/>
          <p:nvPr/>
        </p:nvSpPr>
        <p:spPr>
          <a:xfrm>
            <a:off x="914400" y="1737360"/>
            <a:ext cx="640080" cy="640080"/>
          </a:xfrm>
          <a:prstGeom prst="ellipse">
            <a:avLst/>
          </a:prstGeom>
          <a:solidFill>
            <a:schemeClr val="accent3"/>
          </a:solidFill>
          <a:ln/>
        </p:spPr>
      </p:sp>
      <p:pic>
        <p:nvPicPr>
          <p:cNvPr id="6" name="Icon FaThumbsUp" descr="Symbol">    </p:cNvPr>
          <p:cNvPicPr>
            <a:picLocks noChangeAspect="1"/>
          </p:cNvPicPr>
          <p:nvPr/>
        </p:nvPicPr>
        <p:blipFill>
          <a:blip r:embed="rId1"/>
          <a:stretch>
            <a:fillRect/>
          </a:stretch>
        </p:blipFill>
        <p:spPr>
          <a:xfrm>
            <a:off x="1093622" y="1916582"/>
            <a:ext cx="281635" cy="281635"/>
          </a:xfrm>
          <a:prstGeom prst="rect">
            <a:avLst/>
          </a:prstGeom>
        </p:spPr>
      </p:pic>
      <p:sp>
        <p:nvSpPr>
          <p:cNvPr id="7" name="Text 3"/>
          <p:cNvSpPr txBox="1"/>
          <p:nvPr/>
        </p:nvSpPr>
        <p:spPr>
          <a:xfrm>
            <a:off x="1737360" y="1737360"/>
            <a:ext cx="2103120" cy="640080"/>
          </a:xfrm>
          <a:prstGeom prst="rect">
            <a:avLst/>
          </a:prstGeom>
          <a:noFill/>
          <a:ln/>
        </p:spPr>
        <p:txBody>
          <a:bodyPr wrap="square" lIns="0" tIns="0" rIns="0" bIns="0" rtlCol="0" anchor="ctr"/>
          <a:lstStyle/>
          <a:p>
            <a:pPr indent="0" marL="0">
              <a:buNone/>
            </a:pPr>
            <a:r>
              <a:rPr lang="en-US" sz="2000" b="1" dirty="0">
                <a:solidFill>
                  <a:schemeClr val="tx2"/>
                </a:solidFill>
              </a:rPr>
              <a:t>Das lief gut</a:t>
            </a:r>
            <a:endParaRPr lang="en-US" sz="2000" dirty="0"/>
          </a:p>
        </p:txBody>
      </p:sp>
      <p:sp>
        <p:nvSpPr>
          <p:cNvPr id="8" name="Text 4"/>
          <p:cNvSpPr txBox="1"/>
          <p:nvPr/>
        </p:nvSpPr>
        <p:spPr>
          <a:xfrm>
            <a:off x="914400" y="2651760"/>
            <a:ext cx="2926080" cy="2194560"/>
          </a:xfrm>
          <a:prstGeom prst="rect">
            <a:avLst/>
          </a:prstGeom>
          <a:noFill/>
          <a:ln/>
        </p:spPr>
        <p:txBody>
          <a:bodyPr wrap="square" lIns="0" tIns="0" rIns="0" bIns="0" rtlCol="0" anchor="t"/>
          <a:lstStyle/>
          <a:p>
            <a:pPr indent="0" marL="0">
              <a:spcAft>
                <a:spcPts val="600"/>
              </a:spcAft>
              <a:buNone/>
            </a:pPr>
            <a:r>
              <a:rPr lang="en-US" sz="1600" dirty="0">
                <a:solidFill>
                  <a:schemeClr val="tx1"/>
                </a:solidFill>
              </a:rPr>
              <a:t>Preis nach Runde 2 an den Markt angepasst – beste Runde mit 79.940 €</a:t>
            </a:r>
            <a:endParaRPr lang="en-US" sz="1600" dirty="0"/>
          </a:p>
          <a:p>
            <a:pPr indent="0" marL="0">
              <a:spcAft>
                <a:spcPts val="600"/>
              </a:spcAft>
              <a:buNone/>
            </a:pPr>
            <a:r>
              <a:rPr lang="en-US" sz="1600" dirty="0">
                <a:solidFill>
                  <a:schemeClr val="tx1"/>
                </a:solidFill>
              </a:rPr>
              <a:t>Runde 6: alles produziert und verkauft</a:t>
            </a:r>
            <a:endParaRPr lang="en-US" sz="1600" dirty="0"/>
          </a:p>
        </p:txBody>
      </p:sp>
      <p:sp>
        <p:nvSpPr>
          <p:cNvPr id="9" name="Karte Das lief schlechter"/>
          <p:cNvSpPr/>
          <p:nvPr/>
        </p:nvSpPr>
        <p:spPr>
          <a:xfrm>
            <a:off x="4343400" y="1463040"/>
            <a:ext cx="3474720" cy="3566160"/>
          </a:xfrm>
          <a:prstGeom prst="roundRect">
            <a:avLst>
              <a:gd name="adj" fmla="val 3158"/>
            </a:avLst>
          </a:prstGeom>
          <a:solidFill>
            <a:schemeClr val="bg2"/>
          </a:solidFill>
          <a:ln/>
        </p:spPr>
      </p:sp>
      <p:sp>
        <p:nvSpPr>
          <p:cNvPr id="10" name="Icon-Kreis FaThumbsDown"/>
          <p:cNvSpPr/>
          <p:nvPr/>
        </p:nvSpPr>
        <p:spPr>
          <a:xfrm>
            <a:off x="4617720" y="1737360"/>
            <a:ext cx="640080" cy="640080"/>
          </a:xfrm>
          <a:prstGeom prst="ellipse">
            <a:avLst/>
          </a:prstGeom>
          <a:solidFill>
            <a:schemeClr val="accent2"/>
          </a:solidFill>
          <a:ln/>
        </p:spPr>
      </p:sp>
      <p:pic>
        <p:nvPicPr>
          <p:cNvPr id="11" name="Icon FaThumbsDown" descr="Symbol">    </p:cNvPr>
          <p:cNvPicPr>
            <a:picLocks noChangeAspect="1"/>
          </p:cNvPicPr>
          <p:nvPr/>
        </p:nvPicPr>
        <p:blipFill>
          <a:blip r:embed="rId2"/>
          <a:stretch>
            <a:fillRect/>
          </a:stretch>
        </p:blipFill>
        <p:spPr>
          <a:xfrm>
            <a:off x="4796942" y="1916582"/>
            <a:ext cx="281635" cy="281635"/>
          </a:xfrm>
          <a:prstGeom prst="rect">
            <a:avLst/>
          </a:prstGeom>
        </p:spPr>
      </p:pic>
      <p:sp>
        <p:nvSpPr>
          <p:cNvPr id="12" name="Text 7"/>
          <p:cNvSpPr txBox="1"/>
          <p:nvPr/>
        </p:nvSpPr>
        <p:spPr>
          <a:xfrm>
            <a:off x="5440680" y="1737360"/>
            <a:ext cx="2103120" cy="640080"/>
          </a:xfrm>
          <a:prstGeom prst="rect">
            <a:avLst/>
          </a:prstGeom>
          <a:noFill/>
          <a:ln/>
        </p:spPr>
        <p:txBody>
          <a:bodyPr wrap="square" lIns="0" tIns="0" rIns="0" bIns="0" rtlCol="0" anchor="ctr"/>
          <a:lstStyle/>
          <a:p>
            <a:pPr indent="0" marL="0">
              <a:buNone/>
            </a:pPr>
            <a:r>
              <a:rPr lang="en-US" sz="2000" b="1" dirty="0">
                <a:solidFill>
                  <a:schemeClr val="tx2"/>
                </a:solidFill>
              </a:rPr>
              <a:t>Das lief schlechter</a:t>
            </a:r>
            <a:endParaRPr lang="en-US" sz="2000" dirty="0"/>
          </a:p>
        </p:txBody>
      </p:sp>
      <p:sp>
        <p:nvSpPr>
          <p:cNvPr id="13" name="Text 8"/>
          <p:cNvSpPr txBox="1"/>
          <p:nvPr/>
        </p:nvSpPr>
        <p:spPr>
          <a:xfrm>
            <a:off x="4617720" y="2651760"/>
            <a:ext cx="2926080" cy="2194560"/>
          </a:xfrm>
          <a:prstGeom prst="rect">
            <a:avLst/>
          </a:prstGeom>
          <a:noFill/>
          <a:ln/>
        </p:spPr>
        <p:txBody>
          <a:bodyPr wrap="square" lIns="0" tIns="0" rIns="0" bIns="0" rtlCol="0" anchor="t"/>
          <a:lstStyle/>
          <a:p>
            <a:pPr indent="0" marL="0">
              <a:spcAft>
                <a:spcPts val="600"/>
              </a:spcAft>
              <a:buNone/>
            </a:pPr>
            <a:r>
              <a:rPr lang="en-US" sz="1600" dirty="0">
                <a:solidFill>
                  <a:schemeClr val="tx1"/>
                </a:solidFill>
              </a:rPr>
              <a:t>Runde 2: Preis 7.600 € zu hoch, Hälfte zum Schnäppchenpreis</a:t>
            </a:r>
            <a:endParaRPr lang="en-US" sz="1600" dirty="0"/>
          </a:p>
          <a:p>
            <a:pPr indent="0" marL="0">
              <a:spcAft>
                <a:spcPts val="600"/>
              </a:spcAft>
              <a:buNone/>
            </a:pPr>
            <a:r>
              <a:rPr lang="en-US" sz="1600" dirty="0">
                <a:solidFill>
                  <a:schemeClr val="tx1"/>
                </a:solidFill>
              </a:rPr>
              <a:t>Runde 4 und 5: nur 1 Palette, Fixkosten liefen weiter</a:t>
            </a:r>
            <a:endParaRPr lang="en-US" sz="1600" dirty="0"/>
          </a:p>
          <a:p>
            <a:pPr indent="0" marL="0">
              <a:spcAft>
                <a:spcPts val="600"/>
              </a:spcAft>
              <a:buNone/>
            </a:pPr>
            <a:r>
              <a:rPr lang="en-US" sz="1600" dirty="0">
                <a:solidFill>
                  <a:schemeClr val="tx1"/>
                </a:solidFill>
              </a:rPr>
              <a:t>2. Maschine kaum ausgelastet</a:t>
            </a:r>
            <a:endParaRPr lang="en-US" sz="1600" dirty="0"/>
          </a:p>
        </p:txBody>
      </p:sp>
      <p:sp>
        <p:nvSpPr>
          <p:cNvPr id="14" name="Karte Alternativen"/>
          <p:cNvSpPr/>
          <p:nvPr/>
        </p:nvSpPr>
        <p:spPr>
          <a:xfrm>
            <a:off x="8046720" y="1463040"/>
            <a:ext cx="3474720" cy="3566160"/>
          </a:xfrm>
          <a:prstGeom prst="roundRect">
            <a:avLst>
              <a:gd name="adj" fmla="val 3158"/>
            </a:avLst>
          </a:prstGeom>
          <a:solidFill>
            <a:schemeClr val="bg2"/>
          </a:solidFill>
          <a:ln/>
        </p:spPr>
      </p:sp>
      <p:sp>
        <p:nvSpPr>
          <p:cNvPr id="15" name="Icon-Kreis FaExchangeAlt"/>
          <p:cNvSpPr/>
          <p:nvPr/>
        </p:nvSpPr>
        <p:spPr>
          <a:xfrm>
            <a:off x="8321040" y="1737360"/>
            <a:ext cx="640080" cy="640080"/>
          </a:xfrm>
          <a:prstGeom prst="ellipse">
            <a:avLst/>
          </a:prstGeom>
          <a:solidFill>
            <a:schemeClr val="accent1"/>
          </a:solidFill>
          <a:ln/>
        </p:spPr>
      </p:sp>
      <p:pic>
        <p:nvPicPr>
          <p:cNvPr id="16" name="Icon FaExchangeAlt" descr="Symbol">    </p:cNvPr>
          <p:cNvPicPr>
            <a:picLocks noChangeAspect="1"/>
          </p:cNvPicPr>
          <p:nvPr/>
        </p:nvPicPr>
        <p:blipFill>
          <a:blip r:embed="rId3"/>
          <a:stretch>
            <a:fillRect/>
          </a:stretch>
        </p:blipFill>
        <p:spPr>
          <a:xfrm>
            <a:off x="8500262" y="1916582"/>
            <a:ext cx="281635" cy="281635"/>
          </a:xfrm>
          <a:prstGeom prst="rect">
            <a:avLst/>
          </a:prstGeom>
        </p:spPr>
      </p:pic>
      <p:sp>
        <p:nvSpPr>
          <p:cNvPr id="17" name="Text 11"/>
          <p:cNvSpPr txBox="1"/>
          <p:nvPr/>
        </p:nvSpPr>
        <p:spPr>
          <a:xfrm>
            <a:off x="9144000" y="1737360"/>
            <a:ext cx="2103120" cy="640080"/>
          </a:xfrm>
          <a:prstGeom prst="rect">
            <a:avLst/>
          </a:prstGeom>
          <a:noFill/>
          <a:ln/>
        </p:spPr>
        <p:txBody>
          <a:bodyPr wrap="square" lIns="0" tIns="0" rIns="0" bIns="0" rtlCol="0" anchor="ctr"/>
          <a:lstStyle/>
          <a:p>
            <a:pPr indent="0" marL="0">
              <a:buNone/>
            </a:pPr>
            <a:r>
              <a:rPr lang="en-US" sz="2000" b="1" dirty="0">
                <a:solidFill>
                  <a:schemeClr val="tx2"/>
                </a:solidFill>
              </a:rPr>
              <a:t>Alternativen</a:t>
            </a:r>
            <a:endParaRPr lang="en-US" sz="2000" dirty="0"/>
          </a:p>
        </p:txBody>
      </p:sp>
      <p:sp>
        <p:nvSpPr>
          <p:cNvPr id="18" name="Text 12"/>
          <p:cNvSpPr txBox="1"/>
          <p:nvPr/>
        </p:nvSpPr>
        <p:spPr>
          <a:xfrm>
            <a:off x="8321040" y="2651760"/>
            <a:ext cx="2926080" cy="2194560"/>
          </a:xfrm>
          <a:prstGeom prst="rect">
            <a:avLst/>
          </a:prstGeom>
          <a:noFill/>
          <a:ln/>
        </p:spPr>
        <p:txBody>
          <a:bodyPr wrap="square" lIns="0" tIns="0" rIns="0" bIns="0" rtlCol="0" anchor="t"/>
          <a:lstStyle/>
          <a:p>
            <a:pPr indent="0" marL="0">
              <a:spcAft>
                <a:spcPts val="600"/>
              </a:spcAft>
              <a:buNone/>
            </a:pPr>
            <a:r>
              <a:rPr lang="en-US" sz="1600" dirty="0">
                <a:solidFill>
                  <a:schemeClr val="tx1"/>
                </a:solidFill>
              </a:rPr>
              <a:t>Preis um 5.900 € halten und weiter produzieren</a:t>
            </a:r>
            <a:endParaRPr lang="en-US" sz="1600" dirty="0"/>
          </a:p>
          <a:p>
            <a:pPr indent="0" marL="0">
              <a:spcAft>
                <a:spcPts val="600"/>
              </a:spcAft>
              <a:buNone/>
            </a:pPr>
            <a:r>
              <a:rPr lang="en-US" sz="1600" dirty="0">
                <a:solidFill>
                  <a:schemeClr val="tx1"/>
                </a:solidFill>
              </a:rPr>
              <a:t>Nur mit einer Maschine arbeiten (spart 30.000 € und Personal)</a:t>
            </a:r>
            <a:endParaRPr lang="en-US" sz="1600" dirty="0"/>
          </a:p>
        </p:txBody>
      </p:sp>
      <p:sp>
        <p:nvSpPr>
          <p:cNvPr id="19" name="Gesamtfazit"/>
          <p:cNvSpPr/>
          <p:nvPr/>
        </p:nvSpPr>
        <p:spPr>
          <a:xfrm>
            <a:off x="640080" y="5257800"/>
            <a:ext cx="10881360" cy="868680"/>
          </a:xfrm>
          <a:prstGeom prst="roundRect">
            <a:avLst>
              <a:gd name="adj" fmla="val 12632"/>
            </a:avLst>
          </a:prstGeom>
          <a:solidFill>
            <a:schemeClr val="bg2"/>
          </a:solidFill>
          <a:ln w="15875">
            <a:solidFill>
              <a:schemeClr val="accent5"/>
            </a:solidFill>
            <a:prstDash val="dash"/>
          </a:ln>
        </p:spPr>
      </p:sp>
      <p:sp>
        <p:nvSpPr>
          <p:cNvPr id="20" name="Text 14"/>
          <p:cNvSpPr txBox="1"/>
          <p:nvPr/>
        </p:nvSpPr>
        <p:spPr>
          <a:xfrm>
            <a:off x="868680" y="5257800"/>
            <a:ext cx="10424160" cy="868680"/>
          </a:xfrm>
          <a:prstGeom prst="rect">
            <a:avLst/>
          </a:prstGeom>
          <a:noFill/>
          <a:ln/>
        </p:spPr>
        <p:txBody>
          <a:bodyPr wrap="square" lIns="0" tIns="0" rIns="0" bIns="0" rtlCol="0" anchor="ctr"/>
          <a:lstStyle/>
          <a:p>
            <a:pPr indent="0" marL="0">
              <a:buNone/>
            </a:pPr>
            <a:r>
              <a:rPr lang="en-US" sz="1600" b="1" dirty="0">
                <a:solidFill>
                  <a:schemeClr val="tx2"/>
                </a:solidFill>
              </a:rPr>
              <a:t>Gesamtfazit: </a:t>
            </a:r>
            <a:pPr indent="0" marL="0">
              <a:buNone/>
            </a:pPr>
            <a:r>
              <a:rPr lang="en-US" sz="1600" dirty="0">
                <a:solidFill>
                  <a:schemeClr val="tx1"/>
                </a:solidFill>
              </a:rPr>
              <a:t>Der Preis war unser größter Hebel – zu hoch oder zu niedrig kostete uns jeweils Gewinn. (Entwurf)</a:t>
            </a:r>
            <a:endParaRPr lang="en-US" sz="16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Bezug zur Gründung: was im Spiel fehlte</a:t>
            </a:r>
            <a:endParaRPr lang="en-US" sz="3600" dirty="0"/>
          </a:p>
        </p:txBody>
      </p:sp>
      <p:sp>
        <p:nvSpPr>
          <p:cNvPr id="4" name="Karte Nicht im Spiel"/>
          <p:cNvSpPr/>
          <p:nvPr/>
        </p:nvSpPr>
        <p:spPr>
          <a:xfrm>
            <a:off x="640080" y="1463040"/>
            <a:ext cx="3474720" cy="3566160"/>
          </a:xfrm>
          <a:prstGeom prst="roundRect">
            <a:avLst>
              <a:gd name="adj" fmla="val 3158"/>
            </a:avLst>
          </a:prstGeom>
          <a:solidFill>
            <a:schemeClr val="bg2"/>
          </a:solidFill>
          <a:ln/>
        </p:spPr>
      </p:sp>
      <p:sp>
        <p:nvSpPr>
          <p:cNvPr id="5" name="Icon-Kreis FaBan"/>
          <p:cNvSpPr/>
          <p:nvPr/>
        </p:nvSpPr>
        <p:spPr>
          <a:xfrm>
            <a:off x="914400" y="1737360"/>
            <a:ext cx="640080" cy="640080"/>
          </a:xfrm>
          <a:prstGeom prst="ellipse">
            <a:avLst/>
          </a:prstGeom>
          <a:solidFill>
            <a:schemeClr val="accent1"/>
          </a:solidFill>
          <a:ln/>
        </p:spPr>
      </p:sp>
      <p:pic>
        <p:nvPicPr>
          <p:cNvPr id="6" name="Icon FaBan" descr="Symbol">    </p:cNvPr>
          <p:cNvPicPr>
            <a:picLocks noChangeAspect="1"/>
          </p:cNvPicPr>
          <p:nvPr/>
        </p:nvPicPr>
        <p:blipFill>
          <a:blip r:embed="rId1"/>
          <a:stretch>
            <a:fillRect/>
          </a:stretch>
        </p:blipFill>
        <p:spPr>
          <a:xfrm>
            <a:off x="1093622" y="1916582"/>
            <a:ext cx="281635" cy="281635"/>
          </a:xfrm>
          <a:prstGeom prst="rect">
            <a:avLst/>
          </a:prstGeom>
        </p:spPr>
      </p:pic>
      <p:sp>
        <p:nvSpPr>
          <p:cNvPr id="7" name="Text 3"/>
          <p:cNvSpPr txBox="1"/>
          <p:nvPr/>
        </p:nvSpPr>
        <p:spPr>
          <a:xfrm>
            <a:off x="1737360" y="1737360"/>
            <a:ext cx="2103120" cy="640080"/>
          </a:xfrm>
          <a:prstGeom prst="rect">
            <a:avLst/>
          </a:prstGeom>
          <a:noFill/>
          <a:ln/>
        </p:spPr>
        <p:txBody>
          <a:bodyPr wrap="square" lIns="0" tIns="0" rIns="0" bIns="0" rtlCol="0" anchor="ctr"/>
          <a:lstStyle/>
          <a:p>
            <a:pPr indent="0" marL="0">
              <a:buNone/>
            </a:pPr>
            <a:r>
              <a:rPr lang="en-US" sz="2000" b="1" dirty="0">
                <a:solidFill>
                  <a:schemeClr val="tx2"/>
                </a:solidFill>
              </a:rPr>
              <a:t>Nicht im Spiel</a:t>
            </a:r>
            <a:endParaRPr lang="en-US" sz="2000" dirty="0"/>
          </a:p>
        </p:txBody>
      </p:sp>
      <p:sp>
        <p:nvSpPr>
          <p:cNvPr id="8" name="Text 4"/>
          <p:cNvSpPr txBox="1"/>
          <p:nvPr/>
        </p:nvSpPr>
        <p:spPr>
          <a:xfrm>
            <a:off x="914400" y="2651760"/>
            <a:ext cx="2926080" cy="2194560"/>
          </a:xfrm>
          <a:prstGeom prst="rect">
            <a:avLst/>
          </a:prstGeom>
          <a:noFill/>
          <a:ln/>
        </p:spPr>
        <p:txBody>
          <a:bodyPr wrap="square" lIns="0" tIns="0" rIns="0" bIns="0" rtlCol="0" anchor="t"/>
          <a:lstStyle/>
          <a:p>
            <a:pPr indent="0" marL="0">
              <a:spcAft>
                <a:spcPts val="600"/>
              </a:spcAft>
              <a:buNone/>
            </a:pPr>
            <a:r>
              <a:rPr lang="en-US" sz="1600" dirty="0">
                <a:solidFill>
                  <a:schemeClr val="tx1"/>
                </a:solidFill>
              </a:rPr>
              <a:t>Mehrweg-Glas und Pfand</a:t>
            </a:r>
            <a:endParaRPr lang="en-US" sz="1600" dirty="0"/>
          </a:p>
          <a:p>
            <a:pPr indent="0" marL="0">
              <a:spcAft>
                <a:spcPts val="600"/>
              </a:spcAft>
              <a:buNone/>
            </a:pPr>
            <a:r>
              <a:rPr lang="en-US" sz="1600" dirty="0">
                <a:solidFill>
                  <a:schemeClr val="tx1"/>
                </a:solidFill>
              </a:rPr>
              <a:t>Marketing auf Social Media</a:t>
            </a:r>
            <a:endParaRPr lang="en-US" sz="1600" dirty="0"/>
          </a:p>
          <a:p>
            <a:pPr indent="0" marL="0">
              <a:spcAft>
                <a:spcPts val="600"/>
              </a:spcAft>
              <a:buNone/>
            </a:pPr>
            <a:r>
              <a:rPr lang="en-US" sz="1600" dirty="0">
                <a:solidFill>
                  <a:schemeClr val="tx1"/>
                </a:solidFill>
              </a:rPr>
              <a:t>Onlineshop als Vertriebsweg</a:t>
            </a:r>
            <a:endParaRPr lang="en-US" sz="1600" dirty="0"/>
          </a:p>
          <a:p>
            <a:pPr indent="0" marL="0">
              <a:spcAft>
                <a:spcPts val="600"/>
              </a:spcAft>
              <a:buNone/>
            </a:pPr>
            <a:r>
              <a:rPr lang="en-US" sz="1600" dirty="0">
                <a:solidFill>
                  <a:schemeClr val="tx1"/>
                </a:solidFill>
              </a:rPr>
              <a:t>Zielgruppe und besondere Sorte</a:t>
            </a:r>
            <a:endParaRPr lang="en-US" sz="1600" dirty="0"/>
          </a:p>
        </p:txBody>
      </p:sp>
      <p:sp>
        <p:nvSpPr>
          <p:cNvPr id="9" name="Karte Mögliche Auswirkung"/>
          <p:cNvSpPr/>
          <p:nvPr/>
        </p:nvSpPr>
        <p:spPr>
          <a:xfrm>
            <a:off x="4343400" y="1463040"/>
            <a:ext cx="3474720" cy="3566160"/>
          </a:xfrm>
          <a:prstGeom prst="roundRect">
            <a:avLst>
              <a:gd name="adj" fmla="val 3158"/>
            </a:avLst>
          </a:prstGeom>
          <a:solidFill>
            <a:schemeClr val="bg2"/>
          </a:solidFill>
          <a:ln/>
        </p:spPr>
      </p:sp>
      <p:sp>
        <p:nvSpPr>
          <p:cNvPr id="10" name="Icon-Kreis FaChartLine"/>
          <p:cNvSpPr/>
          <p:nvPr/>
        </p:nvSpPr>
        <p:spPr>
          <a:xfrm>
            <a:off x="4617720" y="1737360"/>
            <a:ext cx="640080" cy="640080"/>
          </a:xfrm>
          <a:prstGeom prst="ellipse">
            <a:avLst/>
          </a:prstGeom>
          <a:solidFill>
            <a:schemeClr val="accent1"/>
          </a:solidFill>
          <a:ln/>
        </p:spPr>
      </p:sp>
      <p:pic>
        <p:nvPicPr>
          <p:cNvPr id="11" name="Icon FaChartLine" descr="Symbol">    </p:cNvPr>
          <p:cNvPicPr>
            <a:picLocks noChangeAspect="1"/>
          </p:cNvPicPr>
          <p:nvPr/>
        </p:nvPicPr>
        <p:blipFill>
          <a:blip r:embed="rId2"/>
          <a:stretch>
            <a:fillRect/>
          </a:stretch>
        </p:blipFill>
        <p:spPr>
          <a:xfrm>
            <a:off x="4796942" y="1916582"/>
            <a:ext cx="281635" cy="281635"/>
          </a:xfrm>
          <a:prstGeom prst="rect">
            <a:avLst/>
          </a:prstGeom>
        </p:spPr>
      </p:pic>
      <p:sp>
        <p:nvSpPr>
          <p:cNvPr id="12" name="Text 7"/>
          <p:cNvSpPr txBox="1"/>
          <p:nvPr/>
        </p:nvSpPr>
        <p:spPr>
          <a:xfrm>
            <a:off x="5440680" y="1737360"/>
            <a:ext cx="2103120" cy="640080"/>
          </a:xfrm>
          <a:prstGeom prst="rect">
            <a:avLst/>
          </a:prstGeom>
          <a:noFill/>
          <a:ln/>
        </p:spPr>
        <p:txBody>
          <a:bodyPr wrap="square" lIns="0" tIns="0" rIns="0" bIns="0" rtlCol="0" anchor="ctr"/>
          <a:lstStyle/>
          <a:p>
            <a:pPr indent="0" marL="0">
              <a:buNone/>
            </a:pPr>
            <a:r>
              <a:rPr lang="en-US" sz="2000" b="1" dirty="0">
                <a:solidFill>
                  <a:schemeClr val="tx2"/>
                </a:solidFill>
              </a:rPr>
              <a:t>Mögliche Auswirkung</a:t>
            </a:r>
            <a:endParaRPr lang="en-US" sz="2000" dirty="0"/>
          </a:p>
        </p:txBody>
      </p:sp>
      <p:sp>
        <p:nvSpPr>
          <p:cNvPr id="13" name="Text 8"/>
          <p:cNvSpPr txBox="1"/>
          <p:nvPr/>
        </p:nvSpPr>
        <p:spPr>
          <a:xfrm>
            <a:off x="4617720" y="2651760"/>
            <a:ext cx="2926080" cy="2194560"/>
          </a:xfrm>
          <a:prstGeom prst="rect">
            <a:avLst/>
          </a:prstGeom>
          <a:noFill/>
          <a:ln/>
        </p:spPr>
        <p:txBody>
          <a:bodyPr wrap="square" lIns="0" tIns="0" rIns="0" bIns="0" rtlCol="0" anchor="t"/>
          <a:lstStyle/>
          <a:p>
            <a:pPr indent="0" marL="0">
              <a:spcAft>
                <a:spcPts val="600"/>
              </a:spcAft>
              <a:buNone/>
            </a:pPr>
            <a:r>
              <a:rPr lang="en-US" sz="1600" dirty="0">
                <a:solidFill>
                  <a:schemeClr val="tx1"/>
                </a:solidFill>
              </a:rPr>
              <a:t>Werbung hätte in Runde 4 und 5 den Absatz stützen können</a:t>
            </a:r>
            <a:endParaRPr lang="en-US" sz="1600" dirty="0"/>
          </a:p>
          <a:p>
            <a:pPr indent="0" marL="0">
              <a:spcAft>
                <a:spcPts val="600"/>
              </a:spcAft>
              <a:buNone/>
            </a:pPr>
            <a:r>
              <a:rPr lang="en-US" sz="1600" dirty="0">
                <a:solidFill>
                  <a:schemeClr val="tx1"/>
                </a:solidFill>
              </a:rPr>
              <a:t>Mehrweg kostet, spart aber Material</a:t>
            </a:r>
            <a:endParaRPr lang="en-US" sz="1600" dirty="0"/>
          </a:p>
        </p:txBody>
      </p:sp>
      <p:sp>
        <p:nvSpPr>
          <p:cNvPr id="14" name="Karte Idee zur Spielerweiterung"/>
          <p:cNvSpPr/>
          <p:nvPr/>
        </p:nvSpPr>
        <p:spPr>
          <a:xfrm>
            <a:off x="8046720" y="1463040"/>
            <a:ext cx="3474720" cy="3566160"/>
          </a:xfrm>
          <a:prstGeom prst="roundRect">
            <a:avLst>
              <a:gd name="adj" fmla="val 3158"/>
            </a:avLst>
          </a:prstGeom>
          <a:solidFill>
            <a:schemeClr val="bg2"/>
          </a:solidFill>
          <a:ln/>
        </p:spPr>
      </p:sp>
      <p:sp>
        <p:nvSpPr>
          <p:cNvPr id="15" name="Icon-Kreis FaLightbulb"/>
          <p:cNvSpPr/>
          <p:nvPr/>
        </p:nvSpPr>
        <p:spPr>
          <a:xfrm>
            <a:off x="8321040" y="1737360"/>
            <a:ext cx="640080" cy="640080"/>
          </a:xfrm>
          <a:prstGeom prst="ellipse">
            <a:avLst/>
          </a:prstGeom>
          <a:solidFill>
            <a:schemeClr val="accent2"/>
          </a:solidFill>
          <a:ln/>
        </p:spPr>
      </p:sp>
      <p:pic>
        <p:nvPicPr>
          <p:cNvPr id="16" name="Icon FaLightbulb" descr="Symbol">    </p:cNvPr>
          <p:cNvPicPr>
            <a:picLocks noChangeAspect="1"/>
          </p:cNvPicPr>
          <p:nvPr/>
        </p:nvPicPr>
        <p:blipFill>
          <a:blip r:embed="rId3"/>
          <a:stretch>
            <a:fillRect/>
          </a:stretch>
        </p:blipFill>
        <p:spPr>
          <a:xfrm>
            <a:off x="8500262" y="1916582"/>
            <a:ext cx="281635" cy="281635"/>
          </a:xfrm>
          <a:prstGeom prst="rect">
            <a:avLst/>
          </a:prstGeom>
        </p:spPr>
      </p:pic>
      <p:sp>
        <p:nvSpPr>
          <p:cNvPr id="17" name="Text 11"/>
          <p:cNvSpPr txBox="1"/>
          <p:nvPr/>
        </p:nvSpPr>
        <p:spPr>
          <a:xfrm>
            <a:off x="9144000" y="1737360"/>
            <a:ext cx="2103120" cy="640080"/>
          </a:xfrm>
          <a:prstGeom prst="rect">
            <a:avLst/>
          </a:prstGeom>
          <a:noFill/>
          <a:ln/>
        </p:spPr>
        <p:txBody>
          <a:bodyPr wrap="square" lIns="0" tIns="0" rIns="0" bIns="0" rtlCol="0" anchor="ctr"/>
          <a:lstStyle/>
          <a:p>
            <a:pPr indent="0" marL="0">
              <a:buNone/>
            </a:pPr>
            <a:r>
              <a:rPr lang="en-US" sz="2000" b="1" dirty="0">
                <a:solidFill>
                  <a:schemeClr val="tx2"/>
                </a:solidFill>
              </a:rPr>
              <a:t>Idee zur Spielerweiterung</a:t>
            </a:r>
            <a:endParaRPr lang="en-US" sz="2000" dirty="0"/>
          </a:p>
        </p:txBody>
      </p:sp>
      <p:sp>
        <p:nvSpPr>
          <p:cNvPr id="18" name="Text 12"/>
          <p:cNvSpPr txBox="1"/>
          <p:nvPr/>
        </p:nvSpPr>
        <p:spPr>
          <a:xfrm>
            <a:off x="8321040" y="2651760"/>
            <a:ext cx="2926080" cy="2194560"/>
          </a:xfrm>
          <a:prstGeom prst="rect">
            <a:avLst/>
          </a:prstGeom>
          <a:noFill/>
          <a:ln/>
        </p:spPr>
        <p:txBody>
          <a:bodyPr wrap="square" lIns="0" tIns="0" rIns="0" bIns="0" rtlCol="0" anchor="t"/>
          <a:lstStyle/>
          <a:p>
            <a:pPr indent="0" marL="0">
              <a:spcAft>
                <a:spcPts val="600"/>
              </a:spcAft>
              <a:buNone/>
            </a:pPr>
            <a:r>
              <a:rPr lang="en-US" sz="1600" dirty="0">
                <a:solidFill>
                  <a:schemeClr val="tx1"/>
                </a:solidFill>
              </a:rPr>
              <a:t>Marketingbudget als zusätzliche Entscheidung pro Runde: kostet Geld, erhöht den Absatz – nur eine Zeile mehr im Kassenbuch</a:t>
            </a:r>
            <a:endParaRPr lang="en-US" sz="1600" dirty="0"/>
          </a:p>
        </p:txBody>
      </p:sp>
      <p:sp>
        <p:nvSpPr>
          <p:cNvPr id="19" name="Kernbotschaft"/>
          <p:cNvSpPr/>
          <p:nvPr/>
        </p:nvSpPr>
        <p:spPr>
          <a:xfrm>
            <a:off x="640080" y="5257800"/>
            <a:ext cx="10881360" cy="868680"/>
          </a:xfrm>
          <a:prstGeom prst="roundRect">
            <a:avLst>
              <a:gd name="adj" fmla="val 12632"/>
            </a:avLst>
          </a:prstGeom>
          <a:solidFill>
            <a:schemeClr val="bg2"/>
          </a:solidFill>
          <a:ln w="15875">
            <a:solidFill>
              <a:schemeClr val="accent5"/>
            </a:solidFill>
            <a:prstDash val="dash"/>
          </a:ln>
        </p:spPr>
      </p:sp>
      <p:sp>
        <p:nvSpPr>
          <p:cNvPr id="20" name="Text 14"/>
          <p:cNvSpPr txBox="1"/>
          <p:nvPr/>
        </p:nvSpPr>
        <p:spPr>
          <a:xfrm>
            <a:off x="868680" y="5257800"/>
            <a:ext cx="10424160" cy="868680"/>
          </a:xfrm>
          <a:prstGeom prst="rect">
            <a:avLst/>
          </a:prstGeom>
          <a:noFill/>
          <a:ln/>
        </p:spPr>
        <p:txBody>
          <a:bodyPr wrap="square" lIns="0" tIns="0" rIns="0" bIns="0" rtlCol="0" anchor="ctr"/>
          <a:lstStyle/>
          <a:p>
            <a:pPr indent="0" marL="0">
              <a:buNone/>
            </a:pPr>
            <a:r>
              <a:rPr lang="en-US" sz="1600" b="1" dirty="0">
                <a:solidFill>
                  <a:schemeClr val="tx2"/>
                </a:solidFill>
              </a:rPr>
              <a:t>Kernbotschaft: </a:t>
            </a:r>
            <a:pPr indent="0" marL="0">
              <a:buNone/>
            </a:pPr>
            <a:r>
              <a:rPr lang="en-US" sz="1600" dirty="0">
                <a:solidFill>
                  <a:schemeClr val="tx1"/>
                </a:solidFill>
              </a:rPr>
              <a:t>Im Spiel zählt nur der Preis – unsere Gründungsidee lebt von Marke, Vertrieb und Nachhaltigkeit. (Entwurf)</a:t>
            </a:r>
            <a:endParaRPr lang="en-US" sz="16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onne"/>
          <p:cNvSpPr/>
          <p:nvPr/>
        </p:nvSpPr>
        <p:spPr>
          <a:xfrm>
            <a:off x="8686800" y="1737360"/>
            <a:ext cx="2743200" cy="2743200"/>
          </a:xfrm>
          <a:prstGeom prst="ellipse">
            <a:avLst/>
          </a:prstGeom>
          <a:solidFill>
            <a:schemeClr val="accent2"/>
          </a:solidFill>
          <a:ln/>
        </p:spPr>
      </p:sp>
      <p:sp>
        <p:nvSpPr>
          <p:cNvPr id="3" name="Text 1"/>
          <p:cNvSpPr txBox="1"/>
          <p:nvPr/>
        </p:nvSpPr>
        <p:spPr>
          <a:xfrm>
            <a:off x="822960" y="2194560"/>
            <a:ext cx="7315200" cy="118872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Vielen Dank</a:t>
            </a:r>
            <a:endParaRPr lang="en-US" sz="6000" dirty="0"/>
          </a:p>
        </p:txBody>
      </p:sp>
      <p:sp>
        <p:nvSpPr>
          <p:cNvPr id="4" name="Text 2"/>
          <p:cNvSpPr txBox="1"/>
          <p:nvPr/>
        </p:nvSpPr>
        <p:spPr>
          <a:xfrm>
            <a:off x="822960" y="3474720"/>
            <a:ext cx="7315200" cy="548640"/>
          </a:xfrm>
          <a:prstGeom prst="rect">
            <a:avLst/>
          </a:prstGeom>
          <a:noFill/>
          <a:ln/>
        </p:spPr>
        <p:txBody>
          <a:bodyPr wrap="square" lIns="0" tIns="0" rIns="0" bIns="0" rtlCol="0" anchor="ctr"/>
          <a:lstStyle/>
          <a:p>
            <a:pPr indent="0" marL="0">
              <a:buNone/>
            </a:pPr>
            <a:r>
              <a:rPr lang="en-US" sz="2400" dirty="0">
                <a:solidFill>
                  <a:schemeClr val="bg2"/>
                </a:solidFill>
              </a:rPr>
              <a:t>Wir freuen uns über eure Fragen.</a:t>
            </a:r>
            <a:endParaRPr lang="en-US" sz="2400" dirty="0"/>
          </a:p>
        </p:txBody>
      </p:sp>
      <p:sp>
        <p:nvSpPr>
          <p:cNvPr id="5" name="Text 3"/>
          <p:cNvSpPr txBox="1"/>
          <p:nvPr/>
        </p:nvSpPr>
        <p:spPr>
          <a:xfrm>
            <a:off x="822960" y="5760720"/>
            <a:ext cx="10515600" cy="365760"/>
          </a:xfrm>
          <a:prstGeom prst="rect">
            <a:avLst/>
          </a:prstGeom>
          <a:noFill/>
          <a:ln/>
        </p:spPr>
        <p:txBody>
          <a:bodyPr wrap="square" lIns="0" tIns="0" rIns="0" bIns="0" rtlCol="0" anchor="ctr"/>
          <a:lstStyle/>
          <a:p>
            <a:pPr indent="0" marL="0">
              <a:buNone/>
            </a:pPr>
            <a:r>
              <a:rPr lang="en-US" sz="1200" dirty="0">
                <a:solidFill>
                  <a:schemeClr val="accent3"/>
                </a:solidFill>
              </a:rPr>
              <a:t>Quellen: Planspiel Bertis Brause (Cornelsen), eigene Berechnungen aus Arbeitsblättern und Entscheidungsprotokoll</a:t>
            </a:r>
            <a:endParaRPr lang="en-US" sz="1200" dirty="0"/>
          </a:p>
        </p:txBody>
      </p:sp>
    </p:spTree>
  </p:cSld>
  <p:clrMapOvr>
    <a:masterClrMapping/>
  </p:clrMapOvr>
</p:sld>
</file>

<file path=ppt/theme/theme1.xml><?xml version="1.0" encoding="utf-8"?>
<a:theme xmlns:a="http://schemas.openxmlformats.org/drawingml/2006/main" name="Elbharz">
  <a:themeElements>
    <a:clrScheme name="Elbharz">
      <a:dk1>
        <a:srgbClr val="1B2A2F"/>
      </a:dk1>
      <a:lt1>
        <a:srgbClr val="FFFFFF"/>
      </a:lt1>
      <a:dk2>
        <a:srgbClr val="0F5C6B"/>
      </a:dk2>
      <a:lt2>
        <a:srgbClr val="F3F1EA"/>
      </a:lt2>
      <a:accent1>
        <a:srgbClr val="0F5C6B"/>
      </a:accent1>
      <a:accent2>
        <a:srgbClr val="D9822B"/>
      </a:accent2>
      <a:accent3>
        <a:srgbClr val="8DB33A"/>
      </a:accent3>
      <a:accent4>
        <a:srgbClr val="5F8F99"/>
      </a:accent4>
      <a:accent5>
        <a:srgbClr val="B8B8B0"/>
      </a:accent5>
      <a:accent6>
        <a:srgbClr val="7A4B1E"/>
      </a:accent6>
      <a:hlink>
        <a:srgbClr val="0F5C6B"/>
      </a:hlink>
      <a:folHlink>
        <a:srgbClr val="5F8F99"/>
      </a:folHlink>
    </a:clrScheme>
    <a:fontScheme name="Elbharz">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Elbharz Getränke GbR – Endpräsentation Planspiel Bertis Brause</dc:title>
  <dc:subject>PptxGenJS Presentation</dc:subject>
  <dc:creator>PptxGenJS</dc:creator>
  <cp:lastModifiedBy>PptxGenJS</cp:lastModifiedBy>
  <cp:revision>1</cp:revision>
  <dcterms:created xsi:type="dcterms:W3CDTF">2026-10-13T10:32:16Z</dcterms:created>
  <dcterms:modified xsi:type="dcterms:W3CDTF">2026-10-13T10:32:16Z</dcterms:modified>
</cp:coreProperties>
</file>