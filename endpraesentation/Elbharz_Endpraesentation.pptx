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leitung" id="{574cc7c7-67e9-abbc-6e6a-e85f4c6059d1}">
          <p14:sldIdLst>
            <p14:sldId id="256"/>
            <p14:sldId id="257"/>
            <p14:sldId id="258"/>
          </p14:sldIdLst>
        </p14:section>
        <p14:section name="Verlauf" id="{7cdcedc7-50e4-b84d-365a-8bcb27ab259f}">
          <p14:sldIdLst>
            <p14:sldId id="259"/>
            <p14:sldId id="260"/>
          </p14:sldIdLst>
        </p14:section>
        <p14:section name="Auswertung" id="{03fa68a4-ff2f-a1cc-9ac1-5771b92ce70f}">
          <p14:sldIdLst>
            <p14:sldId id="261"/>
            <p14:sldId id="262"/>
            <p14:sldId id="263"/>
            <p14:sldId id="264"/>
          </p14:sldIdLst>
        </p14:section>
        <p14:section name="Reflexion" id="{0488e955-fc6d-53d9-6dcf-f47940176ee1}">
          <p14:sldIdLst>
            <p14:sldId id="265"/>
          </p14:sldIdLst>
        </p14:section>
        <p14:section name="Gründung" id="{7ceda326-cec6-a9b3-505e-2782a2fa87bb}">
          <p14:sldIdLst>
            <p14:sldId id="266"/>
          </p14:sldIdLst>
        </p14:section>
        <p14:section name="Abschluss" id="{5b2d95e3-3258-2546-93ab-afe0fc941809}">
          <p14:sldIdLst>
            <p14:sldId id="267"/>
          </p14:sldIdLst>
        </p14:section>
        <p14:section name="Quellen" id="{568fb138-8a28-593c-330d-f348afe97a46}">
          <p14:sldIdLst>
            <p14:sldId id="268"/>
          </p14:sldIdLst>
        </p14:section>
        <p14:section name="Anhang" id="{12604757-d345-9617-90b1-deaa58478a15}">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400" b="0" i="0" u="none" strike="noStrike">
                <a:solidFill>
                  <a:srgbClr val="1B2A2F"/>
                </a:solidFill>
                <a:latin typeface="+mn-lt"/>
              </a:defRPr>
            </a:pPr>
            <a:r>
              <a:rPr sz="1400" b="0" i="0" u="none" strike="noStrike">
                <a:solidFill>
                  <a:srgbClr val="1B2A2F"/>
                </a:solidFill>
                <a:latin typeface="+mn-lt"/>
              </a:rPr>
              <a:t>Paletten je Runde (unter der Säule: unser Angebotspreis)</a:t>
            </a:r>
          </a:p>
        </c:rich>
      </c:tx>
      <c:layout/>
      <c:overlay val="0"/>
    </c:title>
    <c:autoTitleDeleted val="0"/>
    <c:plotArea>
      <c:layout/>
      <c:barChart>
        <c:barDir val="col"/>
        <c:grouping val="stacked"/>
        <c:varyColors val="0"/>
        <c:ser>
          <c:idx val="0"/>
          <c:order val="0"/>
          <c:tx>
            <c:strRef>
              <c:f>Sheet1!$B$1</c:f>
              <c:strCache>
                <c:ptCount val="1"/>
                <c:pt idx="0">
                  <c:v>Am Markt verkauft</c:v>
                </c:pt>
              </c:strCache>
            </c:strRef>
          </c:tx>
          <c:spPr>
            <a:solidFill>
              <a:srgbClr val="0F5C6B"/>
            </a:solidFill>
            <a:effectLst/>
          </c:spPr>
          <c:invertIfNegative val="0"/>
          <c:dLbls>
            <c:numFmt formatCode="[&lt;1]&quot;&quot;;General"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Sheet1!$A$2:$A$7</c:f>
              <c:multiLvlStrCache>
                <c:ptCount val="6"/>
                <c:lvl>
                  <c:pt idx="0">
                    <c:v>R1 · 3.000 €</c:v>
                  </c:pt>
                  <c:pt idx="1">
                    <c:v>R2 · 7.600 €</c:v>
                  </c:pt>
                  <c:pt idx="2">
                    <c:v>R3 · 5.900 €</c:v>
                  </c:pt>
                  <c:pt idx="3">
                    <c:v>R4 · 9.500 €</c:v>
                  </c:pt>
                  <c:pt idx="4">
                    <c:v>R5 · 9.500 €</c:v>
                  </c:pt>
                  <c:pt idx="5">
                    <c:v>R6 · 8.400 €</c:v>
                  </c:pt>
                </c:lvl>
              </c:multiLvlStrCache>
            </c:multiLvlStrRef>
          </c:cat>
          <c:val>
            <c:numRef>
              <c:f>Sheet1!$B$2:$B$7</c:f>
              <c:numCache>
                <c:formatCode>General</c:formatCode>
                <c:ptCount val="6"/>
                <c:pt idx="0">
                  <c:v>15</c:v>
                </c:pt>
                <c:pt idx="1">
                  <c:v>6.5</c:v>
                </c:pt>
                <c:pt idx="2">
                  <c:v>12.6</c:v>
                </c:pt>
                <c:pt idx="3">
                  <c:v>0.5</c:v>
                </c:pt>
                <c:pt idx="4">
                  <c:v>0.2</c:v>
                </c:pt>
                <c:pt idx="5">
                  <c:v>5.2</c:v>
                </c:pt>
              </c:numCache>
            </c:numRef>
          </c:val>
        </c:ser>
        <c:ser>
          <c:idx val="1"/>
          <c:order val="1"/>
          <c:tx>
            <c:strRef>
              <c:f>Sheet1!$C$1</c:f>
              <c:strCache>
                <c:ptCount val="1"/>
                <c:pt idx="0">
                  <c:v>Schnäppchenmarkt (1.000 €)</c:v>
                </c:pt>
              </c:strCache>
            </c:strRef>
          </c:tx>
          <c:spPr>
            <a:solidFill>
              <a:srgbClr val="D9822B"/>
            </a:solidFill>
            <a:effectLst/>
          </c:spPr>
          <c:invertIfNegative val="0"/>
          <c:dLbls>
            <c:numFmt formatCode="[&lt;1]&quot;&quot;;General"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Sheet1!$A$2:$A$7</c:f>
              <c:multiLvlStrCache>
                <c:ptCount val="6"/>
                <c:lvl>
                  <c:pt idx="0">
                    <c:v>R1 · 3.000 €</c:v>
                  </c:pt>
                  <c:pt idx="1">
                    <c:v>R2 · 7.600 €</c:v>
                  </c:pt>
                  <c:pt idx="2">
                    <c:v>R3 · 5.900 €</c:v>
                  </c:pt>
                  <c:pt idx="3">
                    <c:v>R4 · 9.500 €</c:v>
                  </c:pt>
                  <c:pt idx="4">
                    <c:v>R5 · 9.500 €</c:v>
                  </c:pt>
                  <c:pt idx="5">
                    <c:v>R6 · 8.400 €</c:v>
                  </c:pt>
                </c:lvl>
              </c:multiLvlStrCache>
            </c:multiLvlStrRef>
          </c:cat>
          <c:val>
            <c:numRef>
              <c:f>Sheet1!$C$2:$C$7</c:f>
              <c:numCache>
                <c:formatCode>General</c:formatCode>
                <c:ptCount val="6"/>
                <c:pt idx="0">
                  <c:v>0</c:v>
                </c:pt>
                <c:pt idx="1">
                  <c:v>6.5</c:v>
                </c:pt>
                <c:pt idx="2">
                  <c:v>5.6</c:v>
                </c:pt>
                <c:pt idx="3">
                  <c:v>0.5</c:v>
                </c:pt>
                <c:pt idx="4">
                  <c:v>0.8</c:v>
                </c:pt>
                <c:pt idx="5">
                  <c:v>7.8</c:v>
                </c:pt>
              </c:numCache>
            </c:numRef>
          </c:val>
        </c:ser>
        <c:dLbls>
          <c:numFmt formatCode="[&lt;1]&quot;&quot;;General"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2F"/>
                </a:solidFill>
                <a:latin typeface="+mn-lt"/>
              </a:defRPr>
            </a:pPr>
            <a:endParaRPr lang="en-US"/>
          </a:p>
        </c:txPr>
        <c:crossAx val="2094734552"/>
        <c:crosses val="autoZero"/>
        <c:auto val="1"/>
        <c:lblAlgn val="ctr"/>
        <c:noMultiLvlLbl val="1"/>
      </c:catAx>
      <c:valAx>
        <c:axId val="2094734552"/>
        <c:scaling>
          <c:orientation val="minMax"/>
          <c:max val="20"/>
        </c:scaling>
        <c:delete val="0"/>
        <c:axPos val="l"/>
        <c:majorGridlines>
          <c:spPr>
            <a:ln w="6350" cap="flat">
              <a:solidFill>
                <a:srgbClr val="D9D9D2"/>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F8F99"/>
                </a:solidFill>
                <a:latin typeface="+mn-lt"/>
              </a:defRPr>
            </a:pPr>
            <a:endParaRPr lang="en-US"/>
          </a:p>
        </c:txPr>
        <c:crossAx val="2094734554"/>
        <c:crosses val="autoZero"/>
        <c:crossBetween val="between"/>
        <c:majorUnit val="5"/>
      </c:valAx>
      <c:spPr>
        <a:noFill/>
        <a:ln>
          <a:noFill/>
        </a:ln>
        <a:effectLst/>
      </c:spPr>
    </c:plotArea>
    <c:legend>
      <c:legendPos val="t"/>
      <c:overlay val="0"/>
      <c:txPr>
        <a:bodyPr/>
        <a:lstStyle/>
        <a:p>
          <a:pPr>
            <a:defRPr sz="1200">
              <a:solidFill>
                <a:srgbClr val="1B2A2F"/>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400" b="0" i="0" u="none" strike="noStrike">
                <a:solidFill>
                  <a:srgbClr val="1B2A2F"/>
                </a:solidFill>
                <a:latin typeface="+mn-lt"/>
              </a:defRPr>
            </a:pPr>
            <a:r>
              <a:rPr sz="1400" b="0" i="0" u="none" strike="noStrike">
                <a:solidFill>
                  <a:srgbClr val="1B2A2F"/>
                </a:solidFill>
                <a:latin typeface="+mn-lt"/>
              </a:rPr>
              <a:t>Wirtschaftlichkeit je Runde</a:t>
            </a:r>
          </a:p>
        </c:rich>
      </c:tx>
      <c:layout/>
      <c:overlay val="0"/>
    </c:title>
    <c:autoTitleDeleted val="0"/>
    <c:plotArea>
      <c:layout/>
      <c:barChart>
        <c:barDir val="col"/>
        <c:grouping val="clustered"/>
        <c:varyColors val="0"/>
        <c:ser>
          <c:idx val="0"/>
          <c:order val="0"/>
          <c:tx>
            <c:strRef>
              <c:f>Sheet1!$B$1</c:f>
              <c:strCache>
                <c:ptCount val="1"/>
                <c:pt idx="0">
                  <c:v>Wirtschaftlichkeit</c:v>
                </c:pt>
              </c:strCache>
            </c:strRef>
          </c:tx>
          <c:spPr>
            <a:solidFill>
              <a:srgbClr val="0F5C6B"/>
            </a:solidFill>
            <a:effectLst/>
          </c:spPr>
          <c:invertIfNegative val="0"/>
          <c:dLbls>
            <c:numFmt formatCode="0.00" sourceLinked="0"/>
            <c:txPr>
              <a:bodyPr/>
              <a:lstStyle/>
              <a:p>
                <a:pPr>
                  <a:defRPr b="0" i="0" strike="noStrike" sz="1300" u="none">
                    <a:solidFill>
                      <a:srgbClr val="1B2A2F"/>
                    </a:solidFill>
                    <a:latin typeface="+mn-lt"/>
                  </a:defRPr>
                </a:pPr>
              </a:p>
            </c:txPr>
            <c:dLblPos val="outEnd"/>
            <c:showLegendKey val="0"/>
            <c:showVal val="1"/>
            <c:showCatName val="0"/>
            <c:showSerName val="0"/>
            <c:showPercent val="0"/>
            <c:showBubbleSize val="0"/>
            <c:showLeaderLines val="0"/>
          </c:dLbls>
          <c:cat>
            <c:multiLvlStrRef>
              <c:f>Sheet1!$A$2:$A$7</c:f>
              <c:multiLvlStrCache>
                <c:ptCount val="6"/>
                <c:lvl>
                  <c:pt idx="0">
                    <c:v>R1</c:v>
                  </c:pt>
                  <c:pt idx="1">
                    <c:v>R2</c:v>
                  </c:pt>
                  <c:pt idx="2">
                    <c:v>R3</c:v>
                  </c:pt>
                  <c:pt idx="3">
                    <c:v>R4</c:v>
                  </c:pt>
                  <c:pt idx="4">
                    <c:v>R5</c:v>
                  </c:pt>
                  <c:pt idx="5">
                    <c:v>R6</c:v>
                  </c:pt>
                </c:lvl>
              </c:multiLvlStrCache>
            </c:multiLvlStrRef>
          </c:cat>
          <c:val>
            <c:numRef>
              <c:f>Sheet1!$B$2:$B$7</c:f>
              <c:numCache>
                <c:formatCode>General</c:formatCode>
                <c:ptCount val="6"/>
                <c:pt idx="0">
                  <c:v>0.65</c:v>
                </c:pt>
                <c:pt idx="1">
                  <c:v>0.75</c:v>
                </c:pt>
                <c:pt idx="2">
                  <c:v>1.48</c:v>
                </c:pt>
                <c:pt idx="3">
                  <c:v>0.29</c:v>
                </c:pt>
                <c:pt idx="4">
                  <c:v>0.11</c:v>
                </c:pt>
                <c:pt idx="5">
                  <c:v>1.13</c:v>
                </c:pt>
              </c:numCache>
            </c:numRef>
          </c:val>
        </c:ser>
        <c:dLbls>
          <c:numFmt formatCode="0.00" sourceLinked="0"/>
          <c:txPr>
            <a:bodyPr/>
            <a:lstStyle/>
            <a:p>
              <a:pPr>
                <a:defRPr b="0" i="0" strike="noStrike" sz="1300" u="none">
                  <a:solidFill>
                    <a:srgbClr val="1B2A2F"/>
                  </a:solidFill>
                  <a:latin typeface="+mn-lt"/>
                </a:defRPr>
              </a:pPr>
            </a:p>
          </c:txPr>
          <c:dLblPos val="out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1"/>
          <c:order val="1"/>
          <c:tx>
            <c:strRef>
              <c:f>Sheet1!$C$1</c:f>
              <c:strCache>
                <c:ptCount val="1"/>
                <c:pt idx="0">
                  <c:v>Grenze 1,0 (Kosten gedeckt)</c:v>
                </c:pt>
              </c:strCache>
            </c:strRef>
          </c:tx>
          <c:spPr>
            <a:solidFill>
              <a:srgbClr val="D9822B"/>
            </a:solidFill>
            <a:ln w="25400" cap="flat">
              <a:solidFill>
                <a:srgbClr val="D9822B"/>
              </a:solidFill>
              <a:prstDash val="dash"/>
              <a:round/>
            </a:ln>
            <a:effectLst/>
          </c:spPr>
          <c:invertIfNegative val="0"/>
          <c:dLbls>
            <c:numFmt formatCode="#,##0" sourceLinked="0"/>
            <c:txPr>
              <a:bodyPr/>
              <a:lstStyle/>
              <a:p>
                <a:pPr>
                  <a:defRPr b="0" i="0" strike="noStrike" sz="1300" u="none">
                    <a:solidFill>
                      <a:srgbClr val="1B2A2F"/>
                    </a:solidFill>
                    <a:latin typeface="+mn-lt"/>
                  </a:defRPr>
                </a:pPr>
              </a:p>
            </c:txPr>
            <c:showLegendKey val="0"/>
            <c:showVal val="0"/>
            <c:showCatName val="0"/>
            <c:showSerName val="0"/>
            <c:showPercent val="0"/>
            <c:showBubbleSize val="0"/>
            <c:showLeaderLines val="0"/>
          </c:dLbls>
          <c:marker>
            <c:symbol val="none"/>
            <c:size val="6"/>
            <c:spPr>
              <a:solidFill>
                <a:srgbClr val="D9822B"/>
              </a:solidFill>
              <a:ln w="9525" cap="flat">
                <a:solidFill>
                  <a:srgbClr val="D9822B"/>
                </a:solidFill>
                <a:prstDash val="solid"/>
                <a:round/>
              </a:ln>
              <a:effectLst/>
            </c:spPr>
          </c:marker>
          <c:cat>
            <c:multiLvlStrRef>
              <c:f>Sheet1!$A$2:$A$7</c:f>
              <c:multiLvlStrCache>
                <c:ptCount val="6"/>
                <c:lvl>
                  <c:pt idx="0">
                    <c:v>R1</c:v>
                  </c:pt>
                  <c:pt idx="1">
                    <c:v>R2</c:v>
                  </c:pt>
                  <c:pt idx="2">
                    <c:v>R3</c:v>
                  </c:pt>
                  <c:pt idx="3">
                    <c:v>R4</c:v>
                  </c:pt>
                  <c:pt idx="4">
                    <c:v>R5</c:v>
                  </c:pt>
                  <c:pt idx="5">
                    <c:v>R6</c:v>
                  </c:pt>
                </c:lvl>
              </c:multiLvlStrCache>
            </c:multiLvlStrRef>
          </c:cat>
          <c:val>
            <c:numRef>
              <c:f>Sheet1!$C$2:$C$7</c:f>
              <c:numCache>
                <c:formatCode>General</c:formatCode>
                <c:ptCount val="6"/>
                <c:pt idx="0">
                  <c:v>1</c:v>
                </c:pt>
                <c:pt idx="1">
                  <c:v>1</c:v>
                </c:pt>
                <c:pt idx="2">
                  <c:v>1</c:v>
                </c:pt>
                <c:pt idx="3">
                  <c:v>1</c:v>
                </c:pt>
                <c:pt idx="4">
                  <c:v>1</c:v>
                </c:pt>
                <c:pt idx="5">
                  <c:v>1</c:v>
                </c:pt>
              </c:numCache>
            </c:numRef>
          </c:val>
          <c:smooth val="0"/>
        </c:ser>
        <c:dLbls>
          <c:numFmt formatCode="#,##0" sourceLinked="0"/>
          <c:txPr>
            <a:bodyPr/>
            <a:lstStyle/>
            <a:p>
              <a:pPr>
                <a:defRPr b="0" i="0" strike="noStrike" sz="1300" u="none">
                  <a:solidFill>
                    <a:srgbClr val="1B2A2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A2F"/>
                </a:solidFill>
                <a:latin typeface="+mn-lt"/>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6350" cap="flat">
              <a:solidFill>
                <a:srgbClr val="D9D9D2"/>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F8F99"/>
                </a:solidFill>
                <a:latin typeface="+mn-lt"/>
              </a:defRPr>
            </a:pPr>
            <a:endParaRPr lang="en-US"/>
          </a:p>
        </c:txPr>
        <c:crossAx val="2094734554"/>
        <c:crosses val="autoZero"/>
        <c:crossBetween val="between"/>
        <c:majorUnit val="0.2"/>
      </c:valAx>
      <c:spPr>
        <a:noFill/>
        <a:ln>
          <a:noFill/>
        </a:ln>
        <a:effectLst/>
      </c:spPr>
    </c:plotArea>
    <c:legend>
      <c:legendPos val="b"/>
      <c:overlay val="0"/>
      <c:txPr>
        <a:bodyPr/>
        <a:lstStyle/>
        <a:p>
          <a:pPr>
            <a:defRPr sz="1200">
              <a:solidFill>
                <a:srgbClr val="1B2A2F"/>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400" b="0" i="0" u="none" strike="noStrike">
                <a:solidFill>
                  <a:srgbClr val="1B2A2F"/>
                </a:solidFill>
                <a:latin typeface="+mn-lt"/>
              </a:defRPr>
            </a:pPr>
            <a:r>
              <a:rPr sz="1400" b="0" i="0" u="none" strike="noStrike">
                <a:solidFill>
                  <a:srgbClr val="1B2A2F"/>
                </a:solidFill>
                <a:latin typeface="+mn-lt"/>
              </a:rPr>
              <a:t>Schlussbestand je Runde (€)</a:t>
            </a:r>
          </a:p>
        </c:rich>
      </c:tx>
      <c:layout/>
      <c:overlay val="0"/>
    </c:title>
    <c:autoTitleDeleted val="0"/>
    <c:plotArea>
      <c:layout/>
      <c:lineChart>
        <c:varyColors val="0"/>
        <c:ser>
          <c:idx val="0"/>
          <c:order val="0"/>
          <c:tx>
            <c:strRef>
              <c:f>Sheet1!$B$1</c:f>
              <c:strCache>
                <c:ptCount val="1"/>
                <c:pt idx="0">
                  <c:v>Schlussbestand</c:v>
                </c:pt>
              </c:strCache>
            </c:strRef>
          </c:tx>
          <c:spPr>
            <a:solidFill>
              <a:srgbClr val="0F5C6B"/>
            </a:solidFill>
            <a:ln w="38100" cap="flat">
              <a:solidFill>
                <a:srgbClr val="0F5C6B"/>
              </a:solidFill>
              <a:prstDash val="solid"/>
              <a:round/>
            </a:ln>
            <a:effectLst/>
          </c:spPr>
          <c:invertIfNegative val="0"/>
          <c:dLbls>
            <c:numFmt formatCode="#,##0" sourceLinked="0"/>
            <c:txPr>
              <a:bodyPr/>
              <a:lstStyle/>
              <a:p>
                <a:pPr>
                  <a:defRPr b="0" i="0" strike="noStrike" sz="1100" u="none">
                    <a:solidFill>
                      <a:srgbClr val="1B2A2F"/>
                    </a:solidFill>
                    <a:latin typeface="+mn-lt"/>
                  </a:defRPr>
                </a:pPr>
              </a:p>
            </c:txPr>
            <c:showLegendKey val="0"/>
            <c:showVal val="0"/>
            <c:showCatName val="0"/>
            <c:showSerName val="0"/>
            <c:showPercent val="0"/>
            <c:showBubbleSize val="0"/>
            <c:showLeaderLines val="0"/>
          </c:dLbls>
          <c:marker>
            <c:symbol val="circle"/>
            <c:size val="8"/>
            <c:spPr>
              <a:solidFill>
                <a:srgbClr val="0F5C6B"/>
              </a:solidFill>
              <a:ln w="9525" cap="flat">
                <a:solidFill>
                  <a:srgbClr val="0F5C6B"/>
                </a:solidFill>
                <a:prstDash val="solid"/>
                <a:round/>
              </a:ln>
              <a:effectLst/>
            </c:spPr>
          </c:marker>
          <c:cat>
            <c:multiLvlStrRef>
              <c:f>Sheet1!$A$2:$A$8</c:f>
              <c:multiLvlStrCache>
                <c:ptCount val="7"/>
                <c:lvl>
                  <c:pt idx="0">
                    <c:v>Start</c:v>
                  </c:pt>
                  <c:pt idx="1">
                    <c:v>R1</c:v>
                  </c:pt>
                  <c:pt idx="2">
                    <c:v>R2</c:v>
                  </c:pt>
                  <c:pt idx="3">
                    <c:v>R3</c:v>
                  </c:pt>
                  <c:pt idx="4">
                    <c:v>R4</c:v>
                  </c:pt>
                  <c:pt idx="5">
                    <c:v>R5</c:v>
                  </c:pt>
                  <c:pt idx="6">
                    <c:v>R6</c:v>
                  </c:pt>
                </c:lvl>
              </c:multiLvlStrCache>
            </c:multiLvlStrRef>
          </c:cat>
          <c:val>
            <c:numRef>
              <c:f>Sheet1!$B$2:$B$8</c:f>
              <c:numCache>
                <c:formatCode>General</c:formatCode>
                <c:ptCount val="7"/>
                <c:pt idx="0">
                  <c:v>100000</c:v>
                </c:pt>
                <c:pt idx="1">
                  <c:v>76000</c:v>
                </c:pt>
                <c:pt idx="2">
                  <c:v>56900</c:v>
                </c:pt>
                <c:pt idx="3">
                  <c:v>82840</c:v>
                </c:pt>
                <c:pt idx="4">
                  <c:v>70090</c:v>
                </c:pt>
                <c:pt idx="5">
                  <c:v>47790</c:v>
                </c:pt>
                <c:pt idx="6">
                  <c:v>53770</c:v>
                </c:pt>
              </c:numCache>
            </c:numRef>
          </c:val>
          <c:smooth val="0"/>
        </c:ser>
        <c:dLbls>
          <c:numFmt formatCode="#,##0" sourceLinked="0"/>
          <c:txPr>
            <a:bodyPr/>
            <a:lstStyle/>
            <a:p>
              <a:pPr>
                <a:defRPr b="0" i="0" strike="noStrike" sz="1100" u="none">
                  <a:solidFill>
                    <a:srgbClr val="1B2A2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A2F"/>
                </a:solidFill>
                <a:latin typeface="+mn-lt"/>
              </a:defRPr>
            </a:pPr>
            <a:endParaRPr lang="en-US"/>
          </a:p>
        </c:txPr>
        <c:crossAx val="2094734552"/>
        <c:crosses val="autoZero"/>
        <c:auto val="1"/>
        <c:lblAlgn val="ctr"/>
        <c:noMultiLvlLbl val="1"/>
      </c:catAx>
      <c:valAx>
        <c:axId val="2094734552"/>
        <c:scaling>
          <c:orientation val="minMax"/>
          <c:max val="120000"/>
          <c:min val="0"/>
        </c:scaling>
        <c:delete val="0"/>
        <c:axPos val="l"/>
        <c:majorGridlines>
          <c:spPr>
            <a:ln w="6350" cap="flat">
              <a:solidFill>
                <a:srgbClr val="D9D9D2"/>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F8F99"/>
                </a:solidFill>
                <a:latin typeface="+mn-lt"/>
              </a:defRPr>
            </a:pPr>
            <a:endParaRPr lang="en-US"/>
          </a:p>
        </c:txPr>
        <c:crossAx val="2094734554"/>
        <c:crosses val="autoZero"/>
        <c:crossBetween val="between"/>
        <c:majorUnit val="4000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400" b="0" i="0" u="none" strike="noStrike">
                <a:solidFill>
                  <a:srgbClr val="1B2A2F"/>
                </a:solidFill>
                <a:latin typeface="+mn-lt"/>
              </a:defRPr>
            </a:pPr>
            <a:r>
              <a:rPr sz="1400" b="0" i="0" u="none" strike="noStrike">
                <a:solidFill>
                  <a:srgbClr val="1B2A2F"/>
                </a:solidFill>
                <a:latin typeface="+mn-lt"/>
              </a:rPr>
              <a:t>Zusatzkosten durch den Wirtschaftsdienst je Runde (€)</a:t>
            </a:r>
          </a:p>
        </c:rich>
      </c:tx>
      <c:layout/>
      <c:overlay val="0"/>
    </c:title>
    <c:autoTitleDeleted val="0"/>
    <c:plotArea>
      <c:layout/>
      <c:barChart>
        <c:barDir val="col"/>
        <c:grouping val="clustered"/>
        <c:varyColors val="0"/>
        <c:ser>
          <c:idx val="0"/>
          <c:order val="0"/>
          <c:tx>
            <c:strRef>
              <c:f>Sheet1!$B$1</c:f>
              <c:strCache>
                <c:ptCount val="1"/>
                <c:pt idx="0">
                  <c:v>Zusatzkosten (€)</c:v>
                </c:pt>
              </c:strCache>
            </c:strRef>
          </c:tx>
          <c:spPr>
            <a:solidFill>
              <a:srgbClr val="D9822B"/>
            </a:solidFill>
            <a:effectLst/>
          </c:spPr>
          <c:invertIfNegative val="0"/>
          <c:dLbls>
            <c:numFmt formatCode="#,##0" sourceLinked="0"/>
            <c:txPr>
              <a:bodyPr/>
              <a:lstStyle/>
              <a:p>
                <a:pPr>
                  <a:defRPr b="0" i="0" strike="noStrike" sz="1200" u="none">
                    <a:solidFill>
                      <a:srgbClr val="1B2A2F"/>
                    </a:solidFill>
                    <a:latin typeface="+mn-lt"/>
                  </a:defRPr>
                </a:pPr>
              </a:p>
            </c:txPr>
            <c:showLegendKey val="0"/>
            <c:showVal val="1"/>
            <c:showCatName val="0"/>
            <c:showSerName val="0"/>
            <c:showPercent val="0"/>
            <c:showBubbleSize val="0"/>
            <c:showLeaderLines val="0"/>
          </c:dLbls>
          <c:cat>
            <c:multiLvlStrRef>
              <c:f>Sheet1!$A$2:$A$7</c:f>
              <c:multiLvlStrCache>
                <c:ptCount val="6"/>
                <c:lvl>
                  <c:pt idx="0">
                    <c:v>R1</c:v>
                  </c:pt>
                  <c:pt idx="1">
                    <c:v>R2</c:v>
                  </c:pt>
                  <c:pt idx="2">
                    <c:v>R3</c:v>
                  </c:pt>
                  <c:pt idx="3">
                    <c:v>R4</c:v>
                  </c:pt>
                  <c:pt idx="4">
                    <c:v>R5</c:v>
                  </c:pt>
                  <c:pt idx="5">
                    <c:v>R6</c:v>
                  </c:pt>
                </c:lvl>
              </c:multiLvlStrCache>
            </c:multiLvlStrRef>
          </c:cat>
          <c:val>
            <c:numRef>
              <c:f>Sheet1!$B$2:$B$7</c:f>
              <c:numCache>
                <c:formatCode>General</c:formatCode>
                <c:ptCount val="6"/>
                <c:pt idx="0">
                  <c:v>0</c:v>
                </c:pt>
                <c:pt idx="1">
                  <c:v>10000</c:v>
                </c:pt>
                <c:pt idx="2">
                  <c:v>5000</c:v>
                </c:pt>
                <c:pt idx="3">
                  <c:v>2500</c:v>
                </c:pt>
                <c:pt idx="4">
                  <c:v>10000</c:v>
                </c:pt>
                <c:pt idx="5">
                  <c:v>6500</c:v>
                </c:pt>
              </c:numCache>
            </c:numRef>
          </c:val>
        </c:ser>
        <c:dLbls>
          <c:numFmt formatCode="#,##0" sourceLinked="0"/>
          <c:txPr>
            <a:bodyPr/>
            <a:lstStyle/>
            <a:p>
              <a:pPr>
                <a:defRPr b="0" i="0" strike="noStrike" sz="1200" u="none">
                  <a:solidFill>
                    <a:srgbClr val="1B2A2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2F"/>
                </a:solidFill>
                <a:latin typeface="+mn-lt"/>
              </a:defRPr>
            </a:pPr>
            <a:endParaRPr lang="en-US"/>
          </a:p>
        </c:txPr>
        <c:crossAx val="2094734552"/>
        <c:crosses val="autoZero"/>
        <c:auto val="1"/>
        <c:lblAlgn val="ctr"/>
        <c:noMultiLvlLbl val="1"/>
      </c:catAx>
      <c:valAx>
        <c:axId val="2094734552"/>
        <c:scaling>
          <c:orientation val="minMax"/>
          <c:max val="12000"/>
        </c:scaling>
        <c:delete val="0"/>
        <c:axPos val="l"/>
        <c:majorGridlines>
          <c:spPr>
            <a:ln w="6350" cap="flat">
              <a:solidFill>
                <a:srgbClr val="D9D9D2"/>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F8F99"/>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0:35 min
SPRECHTEXT (Vorschlag – bitte in eigenen Worten anpassen):
Wer von euch dreht beim Einkaufen eigentlich mal die Flasche um und liest, was drin ist? [kurz warten] Genau für solche Leute haben wir die Primatenbrause erfunden. Wir sind die Elbharz Getränke GbR aus der 11b, und in den nächsten elf Minuten zeigen wir euch, was aus unserer Idee im Planspiel geworden ist. Ehrlich gesagt: Nicht alles lief gut. Aber wir wissen jetzt ziemlich genau, warum. Los geht's mit unserer Idee.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0:45 min
SPRECHTEXT (Vorschlag – bitte in eigenen Worten anpassen):
Unsere Idee war ganz einfach: ein Getränk, dessen Rückseite man zu Ende lesen kann. Fast jedes Getränk im Regal verspricht heute irgendwas, mehr Energie, mehr Fokus. Wir wollten bewusst wenig versprechen, nur das, was man auf dem Etikett nachprüfen kann. Das war unsere einzige Vorgabe, und daran haben wir bei der Gründung alles andere gemessen, vom Namen bis zur Flasche. Gedacht ist die Primatenbrause für Leute zwischen 16 und 25, so wie unsere Persona Jasper: neunzehn, Azubi, und er dreht im Laden jede Flasche um. Und Tamarinde haben wir genommen, weil es die in Deutschland kaum in Getränken gibt. Herb statt süß.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0:40 min
SPRECHTEXT (Vorschlag – bitte in eigenen Worten anpassen):
Nachhaltigkeit war uns von Anfang an wichtig. Wir wollten Mehrweg-Glas statt Einweg. Das lohnt sich aber nur bei kurzen Wegen, denn Glas ist schwer. Deshalb regional: in Hamburg herstellen und im Norden verkaufen. Und nur eine Sorte, weil das bei Produktion, Lager und Transport Aufwand spart. Für uns hieß das: lieber wenige Dinge richtig machen, als überall ein bisschen grün zu wirken. Im Planspiel selbst spielte das allerdings gar keine Rolle. Dort ging es nur um Preis, Menge und Kosten. Dazu sagen wir am Ende noch etwas.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1:00 min
SPRECHTEXT (Vorschlag – bitte in eigenen Worten anpassen):
Jetzt zum Spiel. Hier seht ihr alle sechs Runden auf einen Blick. Jede Säule ist das, was wir produziert haben, darunter steht unser Preis pro Palette. Der dunkle Teil wurde normal verkauft. Der orange Teil ging für nur tausend Euro an den Schnäppchenmarkt, weil Brause nach einer Runde verdirbt. Man sieht ein Muster: In Runde eins waren wir billig, und alles war weg. In Runde zwei waren wir zu teuer, die Hälfte blieb liegen. In Runde drei lagen wir mit knapp sechstausend Euro richtig, das war unsere beste Runde. Und in Runde vier und fünf haben wir fast nichts mehr produziert. Auffällig ist: Genau in den Runden mit dem höchsten Preis haben wir am wenigsten verkauft. Warum das so war, schauen wir uns jetzt genauer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1:10 min
SPRECHTEXT (Vorschlag – bitte in eigenen Worten anpassen):
Drei Entscheidungen haben unser Spiel geprägt. Erstens Runde zwei: Weil in Runde eins alles weg war, dachten wir, die anderen sind teurer, und sind von 3.000 auf 7.600 Euro hoch. Gleichzeitig haben wir eine zweite Maschine für 30.000 Euro gekauft, aber keinen zweiten Mitarbeiter. Die Maschine stand also eine ganze Runde lang still. Zweitens Runde drei: Wir haben gemerkt, dass wir zu teuer waren, und sind knapp unter die 6.000 Euro gegangen, die wir bei der Konkurrenz vermutet haben. Dazu kam der zweite Mitarbeiter. Das war unsere einzige Runde mit richtig Gewinn, fast 26.000 Euro. Drittens Runde vier und fünf: In unserem Protokoll steht, wir dachten, die Beliebtheit hält nicht an, und eine Marktanalyse sagte weniger Absatz voraus. Also haben wir nur noch eine Palette produziert, aber für 9.500 Euro. Wir haben mit weniger Nachfrage gerechnet und trotzdem den höchsten Preis verlangt. Im Nachhinein passt das nicht zusammen.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1:00 min
SPRECHTEXT (Vorschlag – bitte in eigenen Worten anpassen):
Um das auszuwerten, haben wir zwei Kennzahlen berechnet. Die erste ist die Wirtschaftlichkeit: Umsatz geteilt durch Kosten. In Runde drei hatten wir knapp 80.000 Euro Umsatz und 54.000 Euro Kosten. Das ergibt 1,48. Für jeden Euro, den wir ausgegeben haben, kamen also fast anderthalb Euro zurück. Alles über eins ist Gewinn. Die zweite Kennzahl ist die Absatzquote: Wie viel unserer Produktion haben wir zum normalen Preis verkauft? In Runde drei waren das 70 Prozent. Die Zahl zeigt, ob unser Preis zum Markt gepasst hat. Wichtig ist noch: Die Wirtschaftlichkeit rechnet Maschinenkäufe komplett in die Runde, in der wir sie gekauft haben. Deshalb sehen Runde eins und zwei schlechter aus, als der laufende Betrieb eigentlich war. Alle Werte für jede Runde stehen in unserem Auswertungsbogen und im Anhang.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0:50 min
SPRECHTEXT (Vorschlag – bitte in eigenen Worten anpassen):
Links seht ihr die Wirtschaftlichkeit für jede Runde. Die gestrichelte Linie ist die Eins, also die Grenze zwischen Gewinn und Verlust. Darüber liegen nur Runde drei und Runde sechs. Über alle Runden zusammen kommen wir auf 0,84: rund 240.000 Euro Umsatz bei rund 287.000 Euro Kosten. Rechts seht ihr, was mit unserem Startkapital passiert ist. Wir sind mit 100.000 Euro gestartet. Die Maschinenkäufe haben uns am Anfang runtergezogen, nach Runde drei ging es wieder hoch, und nach Runde fünf waren wir mit unter 48.000 Euro am Tiefpunkt. Man sieht gut: Nach unserer besten Runde ging es durch zwei schwache Runden direkt wieder nach unten. Am Ende stehen knapp 54.000 Euro in der Kasse.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0:50 min
SPRECHTEXT (Vorschlag – bitte in eigenen Worten anpassen):
Am Ende des Spiels wird das Unternehmen verkauft. Der Wert ist das Geld in der Kasse plus das, was die Maschinen noch wert sind. Jede Maschine verliert pro Runde, in der sie läuft, zehn Prozent. Die erste lief sechs Runden und ist noch 12.000 Euro wert. Die zweite lief nur vier Runden, weil sie in Runde zwei stillstand. Sie ist noch 18.000 Euro wert. Zusammen kommen wir auf 83.770 Euro. Das sind gut 16.000 Euro weniger, als wir am Anfang hatten. Allein die zwei Maschinen haben 60.000 Euro gekostet, davon steckt nur noch die Hälfte im Unternehmenswert. Und hier kommt die Frage: warum nur so wenig?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0:50 min
SPRECHTEXT (Vorschlag – bitte in eigenen Worten anpassen):
Ein Teil davon lag nicht an uns. Ab Runde zwei kamen die Meldungen des Wirtschaftsdienstes, und jede hat uns Geld gekostet. Insgesamt waren das 34.000 Euro, am meisten in Runde zwei und fünf mit je 10.000. Rein rechnerisch hätten wir ohne diese Kosten am Ende rund 118.000 Euro gehabt, also mehr als unser Startkapital. Das soll keine Ausrede sein. Die Meldungen konnten wir nicht verhindern, aber wir hätten Rücklagen einplanen können, statt in Runde zwei direkt eine zweite Maschine zu kaufen. Für uns war das eine wichtige Erkenntnis: Ein Unternehmen braucht einen Puffer für Dinge, die man nicht planen kann. [Optional: pro Runde ein Stichwort zur Meldung nennen.]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1:10 min
SPRECHTEXT (Vorschlag – bitte in eigenen Worten anpassen):
Würden wir wieder so entscheiden? Teilweise. Gut war, dass wir vorsichtig mit nur einer Maschine gestartet sind, das empfiehlt sogar die Spielanleitung, und dass wir nach Runde zwei schnell reagiert haben. Schlecht war vor allem unser Preis ab Runde vier. Die Regel kannten wir ja: Der Preis bestimmt den Absatz. Trotzdem haben wir genau dann die höchsten Preise verlangt, als wir mit wenig Nachfrage gerechnet haben. Dazu kamen die Fixkosten: Für eine einzige Palette haben wir jeweils 13.000 Euro für Personal und Miete bezahlt. Und die zweite Maschine haben wir eigentlich nur in Runde drei gebraucht. Beim nächsten Mal würden wir beim Preis aus Runde drei bleiben, Maschinen nur kaufen, wenn wir sie auch auslasten und besetzen können, und das Personal an die Produktion anpassen. Unser wichtigstes Learning: Der Preis war unser stärkster Hebel, und Fixkosten laufen weiter, auch wenn man kaum etwas verkauft.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1:05 min
SPRECHTEXT (Vorschlag – bitte in eigenen Worten anpassen):
Zum Schluss der Blick zurück auf unsere Gründung. Vieles, was uns wichtig war, kam im Spiel gar nicht vor. Mehrweg hätte uns zusätzliche Kosten gebracht, für Rücknahme und Spülen. Unsere Zielgruppe hätte bedeutet, dass nicht nur der Preis zählt, sondern auch, wen man anspricht. Mit Social Media hätten wir in Runde vier und fünf Werbung machen können, statt nur eine Palette anzubieten. Und Tamarinde-Limette ist etwas Besonderes, damit hätten wir vielleicht einen höheren Preis verlangen können. Im Spiel war aber jede Brause gleich. Deshalb schlagen wir zwei einfache Erweiterungen vor: ein Marketingbudget, bei dem es für je 2.000 Euro eine Palette mehr Absatz gibt, und eine Mehrweg-Option, die 1.000 Euro pro Runde kostet und dafür eine Palette mehr Absatz bringt. Beides ist nur eine Zeile mehr im Kassenbuch, und das Spiel käme näher an das, was wir uns bei der Gründung überlegt haben.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 ca. 0:30 min
SPRECHTEXT (Vorschlag – bitte in eigenen Worten anpassen):
Am Anfang haben wir gesagt: Die Rückseite unserer Flasche kann man zu Ende lesen. Unsere Bilanz auch. Sie war nicht gut, aber wir wissen jetzt genau, warum. Und unser Slogan, „Was dein Körper schon immer wollte“, verspricht bewusst nichts, was nicht auf dem Etikett steht. Genau so ehrlich wollten wir auch diese Präsentation halten. Vielen Dank fürs Zuhören, wir freuen uns auf eure 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Quellenfolie – wird nicht vorgetragen, steht für die Lehrkraft.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Backup-Folie für Rückfragen – wird nicht vorgetragen.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rtlCol="0"/>
          <a:lstStyle>
            <a:lvl1pPr algn="l" indent="0" marL="0">
              <a:buNone/>
              <a:defRPr lang="en-US" sz="36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9-1.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Logo Elbharz">    </p:cNvPr>
          <p:cNvPicPr>
            <a:picLocks noChangeAspect="1"/>
          </p:cNvPicPr>
          <p:nvPr/>
        </p:nvPicPr>
        <p:blipFill>
          <a:blip r:embed="rId1"/>
          <a:stretch>
            <a:fillRect/>
          </a:stretch>
        </p:blipFill>
        <p:spPr>
          <a:xfrm>
            <a:off x="731520" y="411480"/>
            <a:ext cx="1371600" cy="1371600"/>
          </a:xfrm>
          <a:prstGeom prst="rect">
            <a:avLst/>
          </a:prstGeom>
        </p:spPr>
      </p:pic>
      <p:sp>
        <p:nvSpPr>
          <p:cNvPr id="3" name="Text 0"/>
          <p:cNvSpPr txBox="1"/>
          <p:nvPr/>
        </p:nvSpPr>
        <p:spPr>
          <a:xfrm>
            <a:off x="822960" y="2011680"/>
            <a:ext cx="603504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PLANSPIEL BERTIS BRAUSE · ENDPRÄSENTATION</a:t>
            </a:r>
            <a:endParaRPr lang="en-US" sz="1400" dirty="0"/>
          </a:p>
        </p:txBody>
      </p:sp>
      <p:sp>
        <p:nvSpPr>
          <p:cNvPr id="4" name="Text 1"/>
          <p:cNvSpPr txBox="1"/>
          <p:nvPr/>
        </p:nvSpPr>
        <p:spPr>
          <a:xfrm>
            <a:off x="822960" y="2468880"/>
            <a:ext cx="6583680" cy="1188720"/>
          </a:xfrm>
          <a:prstGeom prst="rect">
            <a:avLst/>
          </a:prstGeom>
          <a:noFill/>
          <a:ln/>
        </p:spPr>
        <p:txBody>
          <a:bodyPr wrap="square" lIns="0" tIns="0" rIns="0" bIns="0" rtlCol="0" anchor="ctr"/>
          <a:lstStyle/>
          <a:p>
            <a:pPr indent="0" marL="0">
              <a:buNone/>
            </a:pPr>
            <a:r>
              <a:rPr lang="en-US" sz="6000" b="1" dirty="0">
                <a:solidFill>
                  <a:schemeClr val="bg1"/>
                </a:solidFill>
                <a:latin typeface="Cambria" pitchFamily="34" charset="0"/>
                <a:ea typeface="Cambria" pitchFamily="34" charset="-122"/>
                <a:cs typeface="Cambria" pitchFamily="34" charset="-120"/>
              </a:rPr>
              <a:t>Primatenbrause</a:t>
            </a:r>
            <a:endParaRPr lang="en-US" sz="6000" dirty="0"/>
          </a:p>
        </p:txBody>
      </p:sp>
      <p:sp>
        <p:nvSpPr>
          <p:cNvPr id="5" name="Text 2"/>
          <p:cNvSpPr txBox="1"/>
          <p:nvPr/>
        </p:nvSpPr>
        <p:spPr>
          <a:xfrm>
            <a:off x="822960" y="3749040"/>
            <a:ext cx="5669280" cy="914400"/>
          </a:xfrm>
          <a:prstGeom prst="rect">
            <a:avLst/>
          </a:prstGeom>
          <a:noFill/>
          <a:ln/>
        </p:spPr>
        <p:txBody>
          <a:bodyPr wrap="square" lIns="0" tIns="0" rIns="0" bIns="0" rtlCol="0" anchor="ctr"/>
          <a:lstStyle/>
          <a:p>
            <a:pPr indent="0" marL="0">
              <a:buNone/>
            </a:pPr>
            <a:r>
              <a:rPr lang="en-US" sz="2200" dirty="0">
                <a:solidFill>
                  <a:schemeClr val="bg2"/>
                </a:solidFill>
              </a:rPr>
              <a:t>Von der Idee zum Verkaufswert – unser Weg durch sechs Spielrunden</a:t>
            </a:r>
            <a:endParaRPr lang="en-US" sz="2200" dirty="0"/>
          </a:p>
        </p:txBody>
      </p:sp>
      <p:sp>
        <p:nvSpPr>
          <p:cNvPr id="6" name="Text 3"/>
          <p:cNvSpPr txBox="1"/>
          <p:nvPr/>
        </p:nvSpPr>
        <p:spPr>
          <a:xfrm>
            <a:off x="822960" y="5760720"/>
            <a:ext cx="5486400" cy="365760"/>
          </a:xfrm>
          <a:prstGeom prst="rect">
            <a:avLst/>
          </a:prstGeom>
          <a:noFill/>
          <a:ln/>
        </p:spPr>
        <p:txBody>
          <a:bodyPr wrap="square" lIns="0" tIns="0" rIns="0" bIns="0" rtlCol="0" anchor="ctr"/>
          <a:lstStyle/>
          <a:p>
            <a:pPr indent="0" marL="0">
              <a:buNone/>
            </a:pPr>
            <a:r>
              <a:rPr lang="en-US" sz="1600" dirty="0">
                <a:solidFill>
                  <a:schemeClr val="accent3"/>
                </a:solidFill>
              </a:rPr>
              <a:t>Elbharz Getränke GbR · Klasse 11b</a:t>
            </a:r>
            <a:endParaRPr lang="en-US" sz="1600" dirty="0"/>
          </a:p>
        </p:txBody>
      </p:sp>
      <p:sp>
        <p:nvSpPr>
          <p:cNvPr id="7" name="Sonne"/>
          <p:cNvSpPr/>
          <p:nvPr/>
        </p:nvSpPr>
        <p:spPr>
          <a:xfrm>
            <a:off x="8001000" y="960120"/>
            <a:ext cx="3657600" cy="3657600"/>
          </a:xfrm>
          <a:prstGeom prst="ellipse">
            <a:avLst/>
          </a:prstGeom>
          <a:solidFill>
            <a:schemeClr val="accent2"/>
          </a:solidFill>
          <a:ln/>
        </p:spPr>
      </p:sp>
      <p:pic>
        <p:nvPicPr>
          <p:cNvPr id="8" name="Flasche" descr="Flasche Primatenbrause">    </p:cNvPr>
          <p:cNvPicPr>
            <a:picLocks noChangeAspect="1"/>
          </p:cNvPicPr>
          <p:nvPr/>
        </p:nvPicPr>
        <p:blipFill>
          <a:blip r:embed="rId2"/>
          <a:stretch>
            <a:fillRect/>
          </a:stretch>
        </p:blipFill>
        <p:spPr>
          <a:xfrm>
            <a:off x="8691733" y="502920"/>
            <a:ext cx="2276134" cy="5394960"/>
          </a:xfrm>
          <a:prstGeom prst="rect">
            <a:avLst/>
          </a:prstGeom>
        </p:spPr>
      </p:pic>
      <p:sp>
        <p:nvSpPr>
          <p:cNvPr id="9" name="Zutatenkreis"/>
          <p:cNvSpPr/>
          <p:nvPr/>
        </p:nvSpPr>
        <p:spPr>
          <a:xfrm>
            <a:off x="6720840" y="4160520"/>
            <a:ext cx="1920240" cy="1920240"/>
          </a:xfrm>
          <a:prstGeom prst="ellipse">
            <a:avLst/>
          </a:prstGeom>
          <a:solidFill>
            <a:schemeClr val="accent3"/>
          </a:solidFill>
          <a:ln/>
        </p:spPr>
      </p:sp>
      <p:pic>
        <p:nvPicPr>
          <p:cNvPr id="10" name="Tamarinde" descr="Tamarinde">    </p:cNvPr>
          <p:cNvPicPr>
            <a:picLocks noChangeAspect="1"/>
          </p:cNvPicPr>
          <p:nvPr/>
        </p:nvPicPr>
        <p:blipFill>
          <a:blip r:embed="rId3"/>
          <a:stretch>
            <a:fillRect/>
          </a:stretch>
        </p:blipFill>
        <p:spPr>
          <a:xfrm>
            <a:off x="6995160" y="4526280"/>
            <a:ext cx="1417320" cy="1417320"/>
          </a:xfrm>
          <a:prstGeom prst="rect">
            <a:avLst/>
          </a:prstGeom>
        </p:spPr>
      </p:pic>
      <p:pic>
        <p:nvPicPr>
          <p:cNvPr id="11" name="Limette" descr="Limette">    </p:cNvPr>
          <p:cNvPicPr>
            <a:picLocks noChangeAspect="1"/>
          </p:cNvPicPr>
          <p:nvPr/>
        </p:nvPicPr>
        <p:blipFill>
          <a:blip r:embed="rId4"/>
          <a:stretch>
            <a:fillRect/>
          </a:stretch>
        </p:blipFill>
        <p:spPr>
          <a:xfrm>
            <a:off x="6446520" y="4069080"/>
            <a:ext cx="1371600" cy="685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Wer wir sind – in 30 Sekunden</a:t>
            </a:r>
            <a:endParaRPr lang="en-US" sz="3600" dirty="0"/>
          </a:p>
        </p:txBody>
      </p:sp>
      <p:sp>
        <p:nvSpPr>
          <p:cNvPr id="3" name="Kapitelpunkt Einleitung"/>
          <p:cNvSpPr/>
          <p:nvPr/>
        </p:nvSpPr>
        <p:spPr>
          <a:xfrm>
            <a:off x="640080" y="6437376"/>
            <a:ext cx="109728" cy="109728"/>
          </a:xfrm>
          <a:prstGeom prst="ellipse">
            <a:avLst/>
          </a:prstGeom>
          <a:solidFill>
            <a:schemeClr val="accent2"/>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5"/>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5"/>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sp>
        <p:nvSpPr>
          <p:cNvPr id="14" name="Leitgedanke"/>
          <p:cNvSpPr/>
          <p:nvPr/>
        </p:nvSpPr>
        <p:spPr>
          <a:xfrm>
            <a:off x="640080" y="1463040"/>
            <a:ext cx="3749040" cy="4480560"/>
          </a:xfrm>
          <a:prstGeom prst="roundRect">
            <a:avLst>
              <a:gd name="adj" fmla="val 2927"/>
            </a:avLst>
          </a:prstGeom>
          <a:solidFill>
            <a:schemeClr val="accent1"/>
          </a:solidFill>
          <a:ln/>
        </p:spPr>
      </p:sp>
      <p:sp>
        <p:nvSpPr>
          <p:cNvPr id="15" name="Text 12"/>
          <p:cNvSpPr txBox="1"/>
          <p:nvPr/>
        </p:nvSpPr>
        <p:spPr>
          <a:xfrm>
            <a:off x="960120" y="1737360"/>
            <a:ext cx="3108960" cy="3931920"/>
          </a:xfrm>
          <a:prstGeom prst="rect">
            <a:avLst/>
          </a:prstGeom>
          <a:noFill/>
          <a:ln/>
        </p:spPr>
        <p:txBody>
          <a:bodyPr wrap="square" lIns="0" tIns="0" rIns="0" bIns="0" rtlCol="0" anchor="ctr"/>
          <a:lstStyle/>
          <a:p>
            <a:pPr indent="0" marL="0">
              <a:spcAft>
                <a:spcPts val="1400"/>
              </a:spcAft>
              <a:buNone/>
            </a:pPr>
            <a:r>
              <a:rPr lang="en-US" sz="3000" b="1" dirty="0">
                <a:solidFill>
                  <a:schemeClr val="bg1"/>
                </a:solidFill>
                <a:latin typeface="Cambria" pitchFamily="34" charset="0"/>
                <a:ea typeface="Cambria" pitchFamily="34" charset="-122"/>
                <a:cs typeface="Cambria" pitchFamily="34" charset="-120"/>
              </a:rPr>
              <a:t>Ein Getränk, dessen Rückseite man zu Ende lesen kann.</a:t>
            </a:r>
            <a:endParaRPr lang="en-US" sz="3000" dirty="0"/>
          </a:p>
          <a:p>
            <a:pPr indent="0" marL="0">
              <a:buNone/>
            </a:pPr>
            <a:r>
              <a:rPr lang="en-US" sz="1600" dirty="0">
                <a:solidFill>
                  <a:schemeClr val="bg2"/>
                </a:solidFill>
              </a:rPr>
              <a:t>Unsere einzige Vorgabe – daran haben wir bei der Gründung alles andere gemessen.</a:t>
            </a:r>
            <a:endParaRPr lang="en-US" sz="3000" dirty="0"/>
          </a:p>
        </p:txBody>
      </p:sp>
      <p:sp>
        <p:nvSpPr>
          <p:cNvPr id="16" name="Etikett Rückseite"/>
          <p:cNvSpPr/>
          <p:nvPr/>
        </p:nvSpPr>
        <p:spPr>
          <a:xfrm>
            <a:off x="4663440" y="1463040"/>
            <a:ext cx="3108960" cy="4480560"/>
          </a:xfrm>
          <a:prstGeom prst="roundRect">
            <a:avLst>
              <a:gd name="adj" fmla="val 2353"/>
            </a:avLst>
          </a:prstGeom>
          <a:solidFill>
            <a:schemeClr val="bg1"/>
          </a:solidFill>
          <a:ln w="25400">
            <a:solidFill>
              <a:schemeClr val="accent1"/>
            </a:solidFill>
            <a:prstDash val="solid"/>
          </a:ln>
          <a:effectLst>
            <a:outerShdw sx="100000" sy="100000" kx="0" ky="0" algn="bl" rotWithShape="0" blurRad="101600" dist="38100" dir="5400000">
              <a:srgbClr val="1B2A2F">
                <a:alpha val="18000"/>
              </a:srgbClr>
            </a:outerShdw>
          </a:effectLst>
        </p:spPr>
      </p:sp>
      <p:sp>
        <p:nvSpPr>
          <p:cNvPr id="17" name="Text 14"/>
          <p:cNvSpPr txBox="1"/>
          <p:nvPr/>
        </p:nvSpPr>
        <p:spPr>
          <a:xfrm>
            <a:off x="4937760" y="1691640"/>
            <a:ext cx="2560320" cy="274320"/>
          </a:xfrm>
          <a:prstGeom prst="rect">
            <a:avLst/>
          </a:prstGeom>
          <a:noFill/>
          <a:ln/>
        </p:spPr>
        <p:txBody>
          <a:bodyPr wrap="square" lIns="0" tIns="0" rIns="0" bIns="0" rtlCol="0" anchor="ctr"/>
          <a:lstStyle/>
          <a:p>
            <a:pPr indent="0" marL="0">
              <a:buNone/>
            </a:pPr>
            <a:r>
              <a:rPr lang="en-US" sz="1200" b="1" spc="300" kern="0" dirty="0">
                <a:solidFill>
                  <a:schemeClr val="accent2"/>
                </a:solidFill>
              </a:rPr>
              <a:t>RÜCKSEITE</a:t>
            </a:r>
            <a:endParaRPr lang="en-US" sz="1200" dirty="0"/>
          </a:p>
        </p:txBody>
      </p:sp>
      <p:sp>
        <p:nvSpPr>
          <p:cNvPr id="18" name="Text 15"/>
          <p:cNvSpPr txBox="1"/>
          <p:nvPr/>
        </p:nvSpPr>
        <p:spPr>
          <a:xfrm>
            <a:off x="4937760" y="1965960"/>
            <a:ext cx="256032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Zutaten</a:t>
            </a:r>
            <a:endParaRPr lang="en-US" sz="2200" dirty="0"/>
          </a:p>
        </p:txBody>
      </p:sp>
      <p:sp>
        <p:nvSpPr>
          <p:cNvPr id="19" name="Punkt Wasser"/>
          <p:cNvSpPr/>
          <p:nvPr/>
        </p:nvSpPr>
        <p:spPr>
          <a:xfrm>
            <a:off x="4956048" y="2660904"/>
            <a:ext cx="128016" cy="128016"/>
          </a:xfrm>
          <a:prstGeom prst="ellipse">
            <a:avLst/>
          </a:prstGeom>
          <a:solidFill>
            <a:schemeClr val="accent3"/>
          </a:solidFill>
          <a:ln/>
        </p:spPr>
      </p:sp>
      <p:sp>
        <p:nvSpPr>
          <p:cNvPr id="20" name="Text 17"/>
          <p:cNvSpPr txBox="1"/>
          <p:nvPr/>
        </p:nvSpPr>
        <p:spPr>
          <a:xfrm>
            <a:off x="5212080" y="2560320"/>
            <a:ext cx="2286000" cy="329184"/>
          </a:xfrm>
          <a:prstGeom prst="rect">
            <a:avLst/>
          </a:prstGeom>
          <a:noFill/>
          <a:ln/>
        </p:spPr>
        <p:txBody>
          <a:bodyPr wrap="square" lIns="0" tIns="0" rIns="0" bIns="0" rtlCol="0" anchor="ctr"/>
          <a:lstStyle/>
          <a:p>
            <a:pPr indent="0" marL="0">
              <a:buNone/>
            </a:pPr>
            <a:r>
              <a:rPr lang="en-US" sz="1600" dirty="0">
                <a:solidFill>
                  <a:schemeClr val="tx1"/>
                </a:solidFill>
              </a:rPr>
              <a:t>Wasser</a:t>
            </a:r>
            <a:endParaRPr lang="en-US" sz="1600" dirty="0"/>
          </a:p>
        </p:txBody>
      </p:sp>
      <p:sp>
        <p:nvSpPr>
          <p:cNvPr id="21" name="Punkt Kohlensäure"/>
          <p:cNvSpPr/>
          <p:nvPr/>
        </p:nvSpPr>
        <p:spPr>
          <a:xfrm>
            <a:off x="4956048" y="3044952"/>
            <a:ext cx="128016" cy="128016"/>
          </a:xfrm>
          <a:prstGeom prst="ellipse">
            <a:avLst/>
          </a:prstGeom>
          <a:solidFill>
            <a:schemeClr val="accent3"/>
          </a:solidFill>
          <a:ln/>
        </p:spPr>
      </p:sp>
      <p:sp>
        <p:nvSpPr>
          <p:cNvPr id="22" name="Text 19"/>
          <p:cNvSpPr txBox="1"/>
          <p:nvPr/>
        </p:nvSpPr>
        <p:spPr>
          <a:xfrm>
            <a:off x="5212080" y="2944368"/>
            <a:ext cx="2286000" cy="329184"/>
          </a:xfrm>
          <a:prstGeom prst="rect">
            <a:avLst/>
          </a:prstGeom>
          <a:noFill/>
          <a:ln/>
        </p:spPr>
        <p:txBody>
          <a:bodyPr wrap="square" lIns="0" tIns="0" rIns="0" bIns="0" rtlCol="0" anchor="ctr"/>
          <a:lstStyle/>
          <a:p>
            <a:pPr indent="0" marL="0">
              <a:buNone/>
            </a:pPr>
            <a:r>
              <a:rPr lang="en-US" sz="1600" dirty="0">
                <a:solidFill>
                  <a:schemeClr val="tx1"/>
                </a:solidFill>
              </a:rPr>
              <a:t>Kohlensäure</a:t>
            </a:r>
            <a:endParaRPr lang="en-US" sz="1600" dirty="0"/>
          </a:p>
        </p:txBody>
      </p:sp>
      <p:sp>
        <p:nvSpPr>
          <p:cNvPr id="23" name="Punkt Tamarinde"/>
          <p:cNvSpPr/>
          <p:nvPr/>
        </p:nvSpPr>
        <p:spPr>
          <a:xfrm>
            <a:off x="4956048" y="3429000"/>
            <a:ext cx="128016" cy="128016"/>
          </a:xfrm>
          <a:prstGeom prst="ellipse">
            <a:avLst/>
          </a:prstGeom>
          <a:solidFill>
            <a:schemeClr val="accent3"/>
          </a:solidFill>
          <a:ln/>
        </p:spPr>
      </p:sp>
      <p:sp>
        <p:nvSpPr>
          <p:cNvPr id="24" name="Text 21"/>
          <p:cNvSpPr txBox="1"/>
          <p:nvPr/>
        </p:nvSpPr>
        <p:spPr>
          <a:xfrm>
            <a:off x="5212080" y="3328416"/>
            <a:ext cx="2286000" cy="329184"/>
          </a:xfrm>
          <a:prstGeom prst="rect">
            <a:avLst/>
          </a:prstGeom>
          <a:noFill/>
          <a:ln/>
        </p:spPr>
        <p:txBody>
          <a:bodyPr wrap="square" lIns="0" tIns="0" rIns="0" bIns="0" rtlCol="0" anchor="ctr"/>
          <a:lstStyle/>
          <a:p>
            <a:pPr indent="0" marL="0">
              <a:buNone/>
            </a:pPr>
            <a:r>
              <a:rPr lang="en-US" sz="1600" dirty="0">
                <a:solidFill>
                  <a:schemeClr val="tx1"/>
                </a:solidFill>
              </a:rPr>
              <a:t>Tamarinde</a:t>
            </a:r>
            <a:endParaRPr lang="en-US" sz="1600" dirty="0"/>
          </a:p>
        </p:txBody>
      </p:sp>
      <p:sp>
        <p:nvSpPr>
          <p:cNvPr id="25" name="Punkt Limettensaft"/>
          <p:cNvSpPr/>
          <p:nvPr/>
        </p:nvSpPr>
        <p:spPr>
          <a:xfrm>
            <a:off x="4956048" y="3813048"/>
            <a:ext cx="128016" cy="128016"/>
          </a:xfrm>
          <a:prstGeom prst="ellipse">
            <a:avLst/>
          </a:prstGeom>
          <a:solidFill>
            <a:schemeClr val="accent3"/>
          </a:solidFill>
          <a:ln/>
        </p:spPr>
      </p:sp>
      <p:sp>
        <p:nvSpPr>
          <p:cNvPr id="26" name="Text 23"/>
          <p:cNvSpPr txBox="1"/>
          <p:nvPr/>
        </p:nvSpPr>
        <p:spPr>
          <a:xfrm>
            <a:off x="5212080" y="3712464"/>
            <a:ext cx="2286000" cy="329184"/>
          </a:xfrm>
          <a:prstGeom prst="rect">
            <a:avLst/>
          </a:prstGeom>
          <a:noFill/>
          <a:ln/>
        </p:spPr>
        <p:txBody>
          <a:bodyPr wrap="square" lIns="0" tIns="0" rIns="0" bIns="0" rtlCol="0" anchor="ctr"/>
          <a:lstStyle/>
          <a:p>
            <a:pPr indent="0" marL="0">
              <a:buNone/>
            </a:pPr>
            <a:r>
              <a:rPr lang="en-US" sz="1600" dirty="0">
                <a:solidFill>
                  <a:schemeClr val="tx1"/>
                </a:solidFill>
              </a:rPr>
              <a:t>Limettensaft</a:t>
            </a:r>
            <a:endParaRPr lang="en-US" sz="1600" dirty="0"/>
          </a:p>
        </p:txBody>
      </p:sp>
      <p:sp>
        <p:nvSpPr>
          <p:cNvPr id="27" name="Punkt Meersalz"/>
          <p:cNvSpPr/>
          <p:nvPr/>
        </p:nvSpPr>
        <p:spPr>
          <a:xfrm>
            <a:off x="4956048" y="4197096"/>
            <a:ext cx="128016" cy="128016"/>
          </a:xfrm>
          <a:prstGeom prst="ellipse">
            <a:avLst/>
          </a:prstGeom>
          <a:solidFill>
            <a:schemeClr val="accent3"/>
          </a:solidFill>
          <a:ln/>
        </p:spPr>
      </p:sp>
      <p:sp>
        <p:nvSpPr>
          <p:cNvPr id="28" name="Text 25"/>
          <p:cNvSpPr txBox="1"/>
          <p:nvPr/>
        </p:nvSpPr>
        <p:spPr>
          <a:xfrm>
            <a:off x="5212080" y="4096512"/>
            <a:ext cx="2286000" cy="329184"/>
          </a:xfrm>
          <a:prstGeom prst="rect">
            <a:avLst/>
          </a:prstGeom>
          <a:noFill/>
          <a:ln/>
        </p:spPr>
        <p:txBody>
          <a:bodyPr wrap="square" lIns="0" tIns="0" rIns="0" bIns="0" rtlCol="0" anchor="ctr"/>
          <a:lstStyle/>
          <a:p>
            <a:pPr indent="0" marL="0">
              <a:buNone/>
            </a:pPr>
            <a:r>
              <a:rPr lang="en-US" sz="1600" dirty="0">
                <a:solidFill>
                  <a:schemeClr val="tx1"/>
                </a:solidFill>
              </a:rPr>
              <a:t>Meersalz</a:t>
            </a:r>
            <a:endParaRPr lang="en-US" sz="1600" dirty="0"/>
          </a:p>
        </p:txBody>
      </p:sp>
      <p:sp>
        <p:nvSpPr>
          <p:cNvPr id="29" name="Punkt Magnesium"/>
          <p:cNvSpPr/>
          <p:nvPr/>
        </p:nvSpPr>
        <p:spPr>
          <a:xfrm>
            <a:off x="4956048" y="4581144"/>
            <a:ext cx="128016" cy="128016"/>
          </a:xfrm>
          <a:prstGeom prst="ellipse">
            <a:avLst/>
          </a:prstGeom>
          <a:solidFill>
            <a:schemeClr val="accent3"/>
          </a:solidFill>
          <a:ln/>
        </p:spPr>
      </p:sp>
      <p:sp>
        <p:nvSpPr>
          <p:cNvPr id="30" name="Text 27"/>
          <p:cNvSpPr txBox="1"/>
          <p:nvPr/>
        </p:nvSpPr>
        <p:spPr>
          <a:xfrm>
            <a:off x="5212080" y="4480560"/>
            <a:ext cx="2286000" cy="329184"/>
          </a:xfrm>
          <a:prstGeom prst="rect">
            <a:avLst/>
          </a:prstGeom>
          <a:noFill/>
          <a:ln/>
        </p:spPr>
        <p:txBody>
          <a:bodyPr wrap="square" lIns="0" tIns="0" rIns="0" bIns="0" rtlCol="0" anchor="ctr"/>
          <a:lstStyle/>
          <a:p>
            <a:pPr indent="0" marL="0">
              <a:buNone/>
            </a:pPr>
            <a:r>
              <a:rPr lang="en-US" sz="1600" dirty="0">
                <a:solidFill>
                  <a:schemeClr val="tx1"/>
                </a:solidFill>
              </a:rPr>
              <a:t>Magnesium</a:t>
            </a:r>
            <a:endParaRPr lang="en-US" sz="1600" dirty="0"/>
          </a:p>
        </p:txBody>
      </p:sp>
      <p:sp>
        <p:nvSpPr>
          <p:cNvPr id="31" name="Text 28"/>
          <p:cNvSpPr txBox="1"/>
          <p:nvPr/>
        </p:nvSpPr>
        <p:spPr>
          <a:xfrm>
            <a:off x="4937760" y="5074920"/>
            <a:ext cx="2560320" cy="457200"/>
          </a:xfrm>
          <a:prstGeom prst="rect">
            <a:avLst/>
          </a:prstGeom>
          <a:noFill/>
          <a:ln/>
        </p:spPr>
        <p:txBody>
          <a:bodyPr wrap="square" lIns="0" tIns="0" rIns="0" bIns="0" rtlCol="0" anchor="ctr"/>
          <a:lstStyle/>
          <a:p>
            <a:pPr indent="0" marL="0">
              <a:buNone/>
            </a:pPr>
            <a:r>
              <a:rPr lang="en-US" sz="1600" b="1" i="1" dirty="0">
                <a:solidFill>
                  <a:schemeClr val="accent2"/>
                </a:solidFill>
              </a:rPr>
              <a:t>6 Zutaten. Mehr nicht.</a:t>
            </a:r>
            <a:endParaRPr lang="en-US" sz="1600" dirty="0"/>
          </a:p>
        </p:txBody>
      </p:sp>
      <p:sp>
        <p:nvSpPr>
          <p:cNvPr id="32" name="Karte Unternehmen"/>
          <p:cNvSpPr/>
          <p:nvPr/>
        </p:nvSpPr>
        <p:spPr>
          <a:xfrm>
            <a:off x="8046720" y="1463040"/>
            <a:ext cx="3474720" cy="1371600"/>
          </a:xfrm>
          <a:prstGeom prst="roundRect">
            <a:avLst>
              <a:gd name="adj" fmla="val 8000"/>
            </a:avLst>
          </a:prstGeom>
          <a:solidFill>
            <a:schemeClr val="bg2"/>
          </a:solidFill>
          <a:ln/>
        </p:spPr>
      </p:sp>
      <p:sp>
        <p:nvSpPr>
          <p:cNvPr id="33" name="Icon-Kreis FaBuilding"/>
          <p:cNvSpPr/>
          <p:nvPr/>
        </p:nvSpPr>
        <p:spPr>
          <a:xfrm>
            <a:off x="8275320" y="1828800"/>
            <a:ext cx="640080" cy="640080"/>
          </a:xfrm>
          <a:prstGeom prst="ellipse">
            <a:avLst/>
          </a:prstGeom>
          <a:solidFill>
            <a:schemeClr val="accent1"/>
          </a:solidFill>
          <a:ln/>
        </p:spPr>
      </p:sp>
      <p:pic>
        <p:nvPicPr>
          <p:cNvPr id="34" name="Icon FaBuilding" descr="Symbol Building">    </p:cNvPr>
          <p:cNvPicPr>
            <a:picLocks noChangeAspect="1"/>
          </p:cNvPicPr>
          <p:nvPr/>
        </p:nvPicPr>
        <p:blipFill>
          <a:blip r:embed="rId1"/>
          <a:stretch>
            <a:fillRect/>
          </a:stretch>
        </p:blipFill>
        <p:spPr>
          <a:xfrm>
            <a:off x="8448142" y="2001622"/>
            <a:ext cx="294437" cy="294437"/>
          </a:xfrm>
          <a:prstGeom prst="rect">
            <a:avLst/>
          </a:prstGeom>
        </p:spPr>
      </p:pic>
      <p:sp>
        <p:nvSpPr>
          <p:cNvPr id="35" name="Text 31"/>
          <p:cNvSpPr txBox="1"/>
          <p:nvPr/>
        </p:nvSpPr>
        <p:spPr>
          <a:xfrm>
            <a:off x="9098280" y="1463040"/>
            <a:ext cx="2286000" cy="1371600"/>
          </a:xfrm>
          <a:prstGeom prst="rect">
            <a:avLst/>
          </a:prstGeom>
          <a:noFill/>
          <a:ln/>
        </p:spPr>
        <p:txBody>
          <a:bodyPr wrap="square" lIns="0" tIns="0" rIns="0" bIns="0" rtlCol="0" anchor="ctr"/>
          <a:lstStyle/>
          <a:p>
            <a:pPr indent="0" marL="0">
              <a:buNone/>
            </a:pPr>
            <a:r>
              <a:rPr lang="en-US" sz="1800" b="1" dirty="0">
                <a:solidFill>
                  <a:schemeClr val="tx2"/>
                </a:solidFill>
              </a:rPr>
              <a:t>Unternehmen</a:t>
            </a:r>
            <a:endParaRPr lang="en-US" sz="1800" dirty="0"/>
          </a:p>
          <a:p>
            <a:pPr indent="0" marL="0">
              <a:buNone/>
            </a:pPr>
            <a:r>
              <a:rPr lang="en-US" sz="1400" dirty="0">
                <a:solidFill>
                  <a:schemeClr val="tx1"/>
                </a:solidFill>
              </a:rPr>
              <a:t>Elbharz Getränke GbR, Hamburg – 4 Gesellschafter</a:t>
            </a:r>
            <a:endParaRPr lang="en-US" sz="1800" dirty="0"/>
          </a:p>
        </p:txBody>
      </p:sp>
      <p:sp>
        <p:nvSpPr>
          <p:cNvPr id="36" name="Karte Zielgruppe"/>
          <p:cNvSpPr/>
          <p:nvPr/>
        </p:nvSpPr>
        <p:spPr>
          <a:xfrm>
            <a:off x="8046720" y="3017520"/>
            <a:ext cx="3474720" cy="1371600"/>
          </a:xfrm>
          <a:prstGeom prst="roundRect">
            <a:avLst>
              <a:gd name="adj" fmla="val 8000"/>
            </a:avLst>
          </a:prstGeom>
          <a:solidFill>
            <a:schemeClr val="bg2"/>
          </a:solidFill>
          <a:ln/>
        </p:spPr>
      </p:sp>
      <p:sp>
        <p:nvSpPr>
          <p:cNvPr id="37" name="Icon-Kreis FaUserAlt"/>
          <p:cNvSpPr/>
          <p:nvPr/>
        </p:nvSpPr>
        <p:spPr>
          <a:xfrm>
            <a:off x="8275320" y="3383280"/>
            <a:ext cx="640080" cy="640080"/>
          </a:xfrm>
          <a:prstGeom prst="ellipse">
            <a:avLst/>
          </a:prstGeom>
          <a:solidFill>
            <a:schemeClr val="accent2"/>
          </a:solidFill>
          <a:ln/>
        </p:spPr>
      </p:sp>
      <p:pic>
        <p:nvPicPr>
          <p:cNvPr id="38" name="Icon FaUserAlt" descr="Symbol UserAlt">    </p:cNvPr>
          <p:cNvPicPr>
            <a:picLocks noChangeAspect="1"/>
          </p:cNvPicPr>
          <p:nvPr/>
        </p:nvPicPr>
        <p:blipFill>
          <a:blip r:embed="rId2"/>
          <a:stretch>
            <a:fillRect/>
          </a:stretch>
        </p:blipFill>
        <p:spPr>
          <a:xfrm>
            <a:off x="8448142" y="3556102"/>
            <a:ext cx="294437" cy="294437"/>
          </a:xfrm>
          <a:prstGeom prst="rect">
            <a:avLst/>
          </a:prstGeom>
        </p:spPr>
      </p:pic>
      <p:sp>
        <p:nvSpPr>
          <p:cNvPr id="39" name="Text 34"/>
          <p:cNvSpPr txBox="1"/>
          <p:nvPr/>
        </p:nvSpPr>
        <p:spPr>
          <a:xfrm>
            <a:off x="9098280" y="3017520"/>
            <a:ext cx="2286000" cy="1371600"/>
          </a:xfrm>
          <a:prstGeom prst="rect">
            <a:avLst/>
          </a:prstGeom>
          <a:noFill/>
          <a:ln/>
        </p:spPr>
        <p:txBody>
          <a:bodyPr wrap="square" lIns="0" tIns="0" rIns="0" bIns="0" rtlCol="0" anchor="ctr"/>
          <a:lstStyle/>
          <a:p>
            <a:pPr indent="0" marL="0">
              <a:buNone/>
            </a:pPr>
            <a:r>
              <a:rPr lang="en-US" sz="1800" b="1" dirty="0">
                <a:solidFill>
                  <a:schemeClr val="tx2"/>
                </a:solidFill>
              </a:rPr>
              <a:t>Zielgruppe</a:t>
            </a:r>
            <a:endParaRPr lang="en-US" sz="1800" dirty="0"/>
          </a:p>
          <a:p>
            <a:pPr indent="0" marL="0">
              <a:buNone/>
            </a:pPr>
            <a:r>
              <a:rPr lang="en-US" sz="1400" dirty="0">
                <a:solidFill>
                  <a:schemeClr val="tx1"/>
                </a:solidFill>
              </a:rPr>
              <a:t>16–25 Jahre, Persona Jasper (19): liest Zutatenlisten</a:t>
            </a:r>
            <a:endParaRPr lang="en-US" sz="1800" dirty="0"/>
          </a:p>
        </p:txBody>
      </p:sp>
      <p:sp>
        <p:nvSpPr>
          <p:cNvPr id="40" name="Karte Vertrieb"/>
          <p:cNvSpPr/>
          <p:nvPr/>
        </p:nvSpPr>
        <p:spPr>
          <a:xfrm>
            <a:off x="8046720" y="4572000"/>
            <a:ext cx="3474720" cy="1371600"/>
          </a:xfrm>
          <a:prstGeom prst="roundRect">
            <a:avLst>
              <a:gd name="adj" fmla="val 8000"/>
            </a:avLst>
          </a:prstGeom>
          <a:solidFill>
            <a:schemeClr val="bg2"/>
          </a:solidFill>
          <a:ln/>
        </p:spPr>
      </p:sp>
      <p:sp>
        <p:nvSpPr>
          <p:cNvPr id="41" name="Icon-Kreis FaStore"/>
          <p:cNvSpPr/>
          <p:nvPr/>
        </p:nvSpPr>
        <p:spPr>
          <a:xfrm>
            <a:off x="8275320" y="4937760"/>
            <a:ext cx="640080" cy="640080"/>
          </a:xfrm>
          <a:prstGeom prst="ellipse">
            <a:avLst/>
          </a:prstGeom>
          <a:solidFill>
            <a:schemeClr val="accent3"/>
          </a:solidFill>
          <a:ln/>
        </p:spPr>
      </p:sp>
      <p:pic>
        <p:nvPicPr>
          <p:cNvPr id="42" name="Icon FaStore" descr="Symbol Store">    </p:cNvPr>
          <p:cNvPicPr>
            <a:picLocks noChangeAspect="1"/>
          </p:cNvPicPr>
          <p:nvPr/>
        </p:nvPicPr>
        <p:blipFill>
          <a:blip r:embed="rId3"/>
          <a:stretch>
            <a:fillRect/>
          </a:stretch>
        </p:blipFill>
        <p:spPr>
          <a:xfrm>
            <a:off x="8448142" y="5110582"/>
            <a:ext cx="294437" cy="294437"/>
          </a:xfrm>
          <a:prstGeom prst="rect">
            <a:avLst/>
          </a:prstGeom>
        </p:spPr>
      </p:pic>
      <p:sp>
        <p:nvSpPr>
          <p:cNvPr id="43" name="Text 37"/>
          <p:cNvSpPr txBox="1"/>
          <p:nvPr/>
        </p:nvSpPr>
        <p:spPr>
          <a:xfrm>
            <a:off x="9098280" y="4572000"/>
            <a:ext cx="2286000" cy="1371600"/>
          </a:xfrm>
          <a:prstGeom prst="rect">
            <a:avLst/>
          </a:prstGeom>
          <a:noFill/>
          <a:ln/>
        </p:spPr>
        <p:txBody>
          <a:bodyPr wrap="square" lIns="0" tIns="0" rIns="0" bIns="0" rtlCol="0" anchor="ctr"/>
          <a:lstStyle/>
          <a:p>
            <a:pPr indent="0" marL="0">
              <a:buNone/>
            </a:pPr>
            <a:r>
              <a:rPr lang="en-US" sz="1800" b="1" dirty="0">
                <a:solidFill>
                  <a:schemeClr val="tx2"/>
                </a:solidFill>
              </a:rPr>
              <a:t>Vertrieb</a:t>
            </a:r>
            <a:endParaRPr lang="en-US" sz="1800" dirty="0"/>
          </a:p>
          <a:p>
            <a:pPr indent="0" marL="0">
              <a:buNone/>
            </a:pPr>
            <a:r>
              <a:rPr lang="en-US" sz="1400" dirty="0">
                <a:solidFill>
                  <a:schemeClr val="tx1"/>
                </a:solidFill>
              </a:rPr>
              <a:t>Online &amp; Social Media, dann regionaler Handel</a:t>
            </a:r>
            <a:endParaRPr lang="en-US" sz="18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Nachhaltigkeit war Teil der Idee</a:t>
            </a:r>
            <a:endParaRPr lang="en-US" sz="3600" dirty="0"/>
          </a:p>
        </p:txBody>
      </p:sp>
      <p:sp>
        <p:nvSpPr>
          <p:cNvPr id="3" name="Kapitelpunkt Einleitung"/>
          <p:cNvSpPr/>
          <p:nvPr/>
        </p:nvSpPr>
        <p:spPr>
          <a:xfrm>
            <a:off x="640080" y="6437376"/>
            <a:ext cx="109728" cy="109728"/>
          </a:xfrm>
          <a:prstGeom prst="ellipse">
            <a:avLst/>
          </a:prstGeom>
          <a:solidFill>
            <a:schemeClr val="accent2"/>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5"/>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5"/>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sp>
        <p:nvSpPr>
          <p:cNvPr id="14" name="Karte Mehrweg"/>
          <p:cNvSpPr/>
          <p:nvPr/>
        </p:nvSpPr>
        <p:spPr>
          <a:xfrm>
            <a:off x="640080" y="1463040"/>
            <a:ext cx="3520440" cy="3429000"/>
          </a:xfrm>
          <a:prstGeom prst="roundRect">
            <a:avLst>
              <a:gd name="adj" fmla="val 3200"/>
            </a:avLst>
          </a:prstGeom>
          <a:solidFill>
            <a:schemeClr val="bg2"/>
          </a:solidFill>
          <a:ln/>
        </p:spPr>
      </p:sp>
      <p:pic>
        <p:nvPicPr>
          <p:cNvPr id="15" name="Leere Flasche" descr="Leere Mehrwegflasche (Umriss)">    </p:cNvPr>
          <p:cNvPicPr>
            <a:picLocks noChangeAspect="1"/>
          </p:cNvPicPr>
          <p:nvPr/>
        </p:nvPicPr>
        <p:blipFill>
          <a:blip r:embed="rId1"/>
          <a:stretch>
            <a:fillRect/>
          </a:stretch>
        </p:blipFill>
        <p:spPr>
          <a:xfrm>
            <a:off x="2014514" y="1691640"/>
            <a:ext cx="771571" cy="1828800"/>
          </a:xfrm>
          <a:prstGeom prst="rect">
            <a:avLst/>
          </a:prstGeom>
        </p:spPr>
      </p:pic>
      <p:sp>
        <p:nvSpPr>
          <p:cNvPr id="16" name="Text 12"/>
          <p:cNvSpPr txBox="1"/>
          <p:nvPr/>
        </p:nvSpPr>
        <p:spPr>
          <a:xfrm>
            <a:off x="868680" y="3657600"/>
            <a:ext cx="3063240" cy="1097280"/>
          </a:xfrm>
          <a:prstGeom prst="rect">
            <a:avLst/>
          </a:prstGeom>
          <a:noFill/>
          <a:ln/>
        </p:spPr>
        <p:txBody>
          <a:bodyPr wrap="square" lIns="0" tIns="0" rIns="0" bIns="0" rtlCol="0" anchor="t"/>
          <a:lstStyle/>
          <a:p>
            <a:pPr indent="0" marL="0">
              <a:spcAft>
                <a:spcPts val="400"/>
              </a:spcAft>
              <a:buNone/>
            </a:pPr>
            <a:r>
              <a:rPr lang="en-US" sz="2000" b="1" dirty="0">
                <a:solidFill>
                  <a:schemeClr val="tx2"/>
                </a:solidFill>
              </a:rPr>
              <a:t>Mehrweg-Glas</a:t>
            </a:r>
            <a:endParaRPr lang="en-US" sz="2000" dirty="0"/>
          </a:p>
          <a:p>
            <a:pPr indent="0" marL="0">
              <a:buNone/>
            </a:pPr>
            <a:r>
              <a:rPr lang="en-US" sz="1500" dirty="0">
                <a:solidFill>
                  <a:schemeClr val="tx1"/>
                </a:solidFill>
              </a:rPr>
              <a:t>Leere Flasche zurück, spülen, neu befüllen – Pfand statt Einweg</a:t>
            </a:r>
            <a:endParaRPr lang="en-US" sz="2000" dirty="0"/>
          </a:p>
        </p:txBody>
      </p:sp>
      <p:sp>
        <p:nvSpPr>
          <p:cNvPr id="17" name="Karte Regional"/>
          <p:cNvSpPr/>
          <p:nvPr/>
        </p:nvSpPr>
        <p:spPr>
          <a:xfrm>
            <a:off x="4320540" y="1463040"/>
            <a:ext cx="3520440" cy="3429000"/>
          </a:xfrm>
          <a:prstGeom prst="roundRect">
            <a:avLst>
              <a:gd name="adj" fmla="val 3200"/>
            </a:avLst>
          </a:prstGeom>
          <a:solidFill>
            <a:schemeClr val="bg2"/>
          </a:solidFill>
          <a:ln/>
        </p:spPr>
      </p:sp>
      <p:sp>
        <p:nvSpPr>
          <p:cNvPr id="18" name="Icon-Kreis FaMapMarkerAlt"/>
          <p:cNvSpPr/>
          <p:nvPr/>
        </p:nvSpPr>
        <p:spPr>
          <a:xfrm>
            <a:off x="5394960" y="1828800"/>
            <a:ext cx="1371600" cy="1371600"/>
          </a:xfrm>
          <a:prstGeom prst="ellipse">
            <a:avLst/>
          </a:prstGeom>
          <a:solidFill>
            <a:schemeClr val="accent3"/>
          </a:solidFill>
          <a:ln/>
        </p:spPr>
      </p:sp>
      <p:pic>
        <p:nvPicPr>
          <p:cNvPr id="19" name="Icon FaMapMarkerAlt" descr="Symbol MapMarkerAlt">    </p:cNvPr>
          <p:cNvPicPr>
            <a:picLocks noChangeAspect="1"/>
          </p:cNvPicPr>
          <p:nvPr/>
        </p:nvPicPr>
        <p:blipFill>
          <a:blip r:embed="rId2"/>
          <a:stretch>
            <a:fillRect/>
          </a:stretch>
        </p:blipFill>
        <p:spPr>
          <a:xfrm>
            <a:off x="5765292" y="2199132"/>
            <a:ext cx="630936" cy="630936"/>
          </a:xfrm>
          <a:prstGeom prst="rect">
            <a:avLst/>
          </a:prstGeom>
        </p:spPr>
      </p:pic>
      <p:sp>
        <p:nvSpPr>
          <p:cNvPr id="20" name="Text 15"/>
          <p:cNvSpPr txBox="1"/>
          <p:nvPr/>
        </p:nvSpPr>
        <p:spPr>
          <a:xfrm>
            <a:off x="4549140" y="3246120"/>
            <a:ext cx="3063240" cy="320040"/>
          </a:xfrm>
          <a:prstGeom prst="rect">
            <a:avLst/>
          </a:prstGeom>
          <a:noFill/>
          <a:ln/>
        </p:spPr>
        <p:txBody>
          <a:bodyPr wrap="square" lIns="0" tIns="0" rIns="0" bIns="0" rtlCol="0" anchor="ctr"/>
          <a:lstStyle/>
          <a:p>
            <a:pPr algn="ctr" indent="0" marL="0">
              <a:buNone/>
            </a:pPr>
            <a:r>
              <a:rPr lang="en-US" sz="1400" b="1" dirty="0">
                <a:solidFill>
                  <a:schemeClr val="accent4"/>
                </a:solidFill>
              </a:rPr>
              <a:t>Hamburg · Norddeutschland</a:t>
            </a:r>
            <a:endParaRPr lang="en-US" sz="1400" dirty="0"/>
          </a:p>
        </p:txBody>
      </p:sp>
      <p:sp>
        <p:nvSpPr>
          <p:cNvPr id="21" name="Text 16"/>
          <p:cNvSpPr txBox="1"/>
          <p:nvPr/>
        </p:nvSpPr>
        <p:spPr>
          <a:xfrm>
            <a:off x="4549140" y="3657600"/>
            <a:ext cx="3063240" cy="1097280"/>
          </a:xfrm>
          <a:prstGeom prst="rect">
            <a:avLst/>
          </a:prstGeom>
          <a:noFill/>
          <a:ln/>
        </p:spPr>
        <p:txBody>
          <a:bodyPr wrap="square" lIns="0" tIns="0" rIns="0" bIns="0" rtlCol="0" anchor="t"/>
          <a:lstStyle/>
          <a:p>
            <a:pPr indent="0" marL="0">
              <a:spcAft>
                <a:spcPts val="400"/>
              </a:spcAft>
              <a:buNone/>
            </a:pPr>
            <a:r>
              <a:rPr lang="en-US" sz="2000" b="1" dirty="0">
                <a:solidFill>
                  <a:schemeClr val="tx2"/>
                </a:solidFill>
              </a:rPr>
              <a:t>Regional</a:t>
            </a:r>
            <a:endParaRPr lang="en-US" sz="2000" dirty="0"/>
          </a:p>
          <a:p>
            <a:pPr indent="0" marL="0">
              <a:buNone/>
            </a:pPr>
            <a:r>
              <a:rPr lang="en-US" sz="1500" dirty="0">
                <a:solidFill>
                  <a:schemeClr val="tx1"/>
                </a:solidFill>
              </a:rPr>
              <a:t>In Hamburg hergestellt, im Norden verkauft – kurze Wege, damit Mehrweg sich lohnt</a:t>
            </a:r>
            <a:endParaRPr lang="en-US" sz="2000" dirty="0"/>
          </a:p>
        </p:txBody>
      </p:sp>
      <p:sp>
        <p:nvSpPr>
          <p:cNvPr id="22" name="Karte Eine Sorte"/>
          <p:cNvSpPr/>
          <p:nvPr/>
        </p:nvSpPr>
        <p:spPr>
          <a:xfrm>
            <a:off x="8001000" y="1463040"/>
            <a:ext cx="3520440" cy="3429000"/>
          </a:xfrm>
          <a:prstGeom prst="roundRect">
            <a:avLst>
              <a:gd name="adj" fmla="val 3200"/>
            </a:avLst>
          </a:prstGeom>
          <a:solidFill>
            <a:schemeClr val="bg2"/>
          </a:solidFill>
          <a:ln/>
        </p:spPr>
      </p:sp>
      <p:sp>
        <p:nvSpPr>
          <p:cNvPr id="23" name="Icon-Kreis FaIndustry"/>
          <p:cNvSpPr/>
          <p:nvPr/>
        </p:nvSpPr>
        <p:spPr>
          <a:xfrm>
            <a:off x="8321040" y="1783080"/>
            <a:ext cx="731520" cy="731520"/>
          </a:xfrm>
          <a:prstGeom prst="ellipse">
            <a:avLst/>
          </a:prstGeom>
          <a:solidFill>
            <a:schemeClr val="accent3"/>
          </a:solidFill>
          <a:ln/>
        </p:spPr>
      </p:sp>
      <p:pic>
        <p:nvPicPr>
          <p:cNvPr id="24" name="Icon FaIndustry" descr="Symbol Industry">    </p:cNvPr>
          <p:cNvPicPr>
            <a:picLocks noChangeAspect="1"/>
          </p:cNvPicPr>
          <p:nvPr/>
        </p:nvPicPr>
        <p:blipFill>
          <a:blip r:embed="rId3"/>
          <a:stretch>
            <a:fillRect/>
          </a:stretch>
        </p:blipFill>
        <p:spPr>
          <a:xfrm>
            <a:off x="8518550" y="1980590"/>
            <a:ext cx="336499" cy="336499"/>
          </a:xfrm>
          <a:prstGeom prst="rect">
            <a:avLst/>
          </a:prstGeom>
        </p:spPr>
      </p:pic>
      <p:sp>
        <p:nvSpPr>
          <p:cNvPr id="25" name="Text 19"/>
          <p:cNvSpPr txBox="1"/>
          <p:nvPr/>
        </p:nvSpPr>
        <p:spPr>
          <a:xfrm>
            <a:off x="8138160" y="2606040"/>
            <a:ext cx="1097280" cy="320040"/>
          </a:xfrm>
          <a:prstGeom prst="rect">
            <a:avLst/>
          </a:prstGeom>
          <a:noFill/>
          <a:ln/>
        </p:spPr>
        <p:txBody>
          <a:bodyPr wrap="square" lIns="0" tIns="0" rIns="0" bIns="0" rtlCol="0" anchor="ctr"/>
          <a:lstStyle/>
          <a:p>
            <a:pPr algn="ctr" indent="0" marL="0">
              <a:buNone/>
            </a:pPr>
            <a:r>
              <a:rPr lang="en-US" sz="1300" dirty="0">
                <a:solidFill>
                  <a:schemeClr val="tx1"/>
                </a:solidFill>
              </a:rPr>
              <a:t>Produktion</a:t>
            </a:r>
            <a:endParaRPr lang="en-US" sz="1300" dirty="0"/>
          </a:p>
        </p:txBody>
      </p:sp>
      <p:sp>
        <p:nvSpPr>
          <p:cNvPr id="26" name="Text 20"/>
          <p:cNvSpPr txBox="1"/>
          <p:nvPr/>
        </p:nvSpPr>
        <p:spPr>
          <a:xfrm>
            <a:off x="9052560" y="1874520"/>
            <a:ext cx="320040" cy="548640"/>
          </a:xfrm>
          <a:prstGeom prst="rect">
            <a:avLst/>
          </a:prstGeom>
          <a:noFill/>
          <a:ln/>
        </p:spPr>
        <p:txBody>
          <a:bodyPr wrap="square" lIns="0" tIns="0" rIns="0" bIns="0" rtlCol="0" anchor="ctr"/>
          <a:lstStyle/>
          <a:p>
            <a:pPr algn="ctr" indent="0" marL="0">
              <a:buNone/>
            </a:pPr>
            <a:r>
              <a:rPr lang="en-US" sz="2800" b="1" dirty="0">
                <a:solidFill>
                  <a:schemeClr val="accent3"/>
                </a:solidFill>
              </a:rPr>
              <a:t>›</a:t>
            </a:r>
            <a:endParaRPr lang="en-US" sz="2800" dirty="0"/>
          </a:p>
        </p:txBody>
      </p:sp>
      <p:sp>
        <p:nvSpPr>
          <p:cNvPr id="27" name="Icon-Kreis FaWarehouse"/>
          <p:cNvSpPr/>
          <p:nvPr/>
        </p:nvSpPr>
        <p:spPr>
          <a:xfrm>
            <a:off x="9372600" y="1783080"/>
            <a:ext cx="731520" cy="731520"/>
          </a:xfrm>
          <a:prstGeom prst="ellipse">
            <a:avLst/>
          </a:prstGeom>
          <a:solidFill>
            <a:schemeClr val="accent3"/>
          </a:solidFill>
          <a:ln/>
        </p:spPr>
      </p:sp>
      <p:pic>
        <p:nvPicPr>
          <p:cNvPr id="28" name="Icon FaWarehouse" descr="Symbol Warehouse">    </p:cNvPr>
          <p:cNvPicPr>
            <a:picLocks noChangeAspect="1"/>
          </p:cNvPicPr>
          <p:nvPr/>
        </p:nvPicPr>
        <p:blipFill>
          <a:blip r:embed="rId4"/>
          <a:stretch>
            <a:fillRect/>
          </a:stretch>
        </p:blipFill>
        <p:spPr>
          <a:xfrm>
            <a:off x="9570110" y="1980590"/>
            <a:ext cx="336499" cy="336499"/>
          </a:xfrm>
          <a:prstGeom prst="rect">
            <a:avLst/>
          </a:prstGeom>
        </p:spPr>
      </p:pic>
      <p:sp>
        <p:nvSpPr>
          <p:cNvPr id="29" name="Text 22"/>
          <p:cNvSpPr txBox="1"/>
          <p:nvPr/>
        </p:nvSpPr>
        <p:spPr>
          <a:xfrm>
            <a:off x="9189720" y="2606040"/>
            <a:ext cx="1097280" cy="320040"/>
          </a:xfrm>
          <a:prstGeom prst="rect">
            <a:avLst/>
          </a:prstGeom>
          <a:noFill/>
          <a:ln/>
        </p:spPr>
        <p:txBody>
          <a:bodyPr wrap="square" lIns="0" tIns="0" rIns="0" bIns="0" rtlCol="0" anchor="ctr"/>
          <a:lstStyle/>
          <a:p>
            <a:pPr algn="ctr" indent="0" marL="0">
              <a:buNone/>
            </a:pPr>
            <a:r>
              <a:rPr lang="en-US" sz="1300" dirty="0">
                <a:solidFill>
                  <a:schemeClr val="tx1"/>
                </a:solidFill>
              </a:rPr>
              <a:t>Lager</a:t>
            </a:r>
            <a:endParaRPr lang="en-US" sz="1300" dirty="0"/>
          </a:p>
        </p:txBody>
      </p:sp>
      <p:sp>
        <p:nvSpPr>
          <p:cNvPr id="30" name="Text 23"/>
          <p:cNvSpPr txBox="1"/>
          <p:nvPr/>
        </p:nvSpPr>
        <p:spPr>
          <a:xfrm>
            <a:off x="10104120" y="1874520"/>
            <a:ext cx="320040" cy="548640"/>
          </a:xfrm>
          <a:prstGeom prst="rect">
            <a:avLst/>
          </a:prstGeom>
          <a:noFill/>
          <a:ln/>
        </p:spPr>
        <p:txBody>
          <a:bodyPr wrap="square" lIns="0" tIns="0" rIns="0" bIns="0" rtlCol="0" anchor="ctr"/>
          <a:lstStyle/>
          <a:p>
            <a:pPr algn="ctr" indent="0" marL="0">
              <a:buNone/>
            </a:pPr>
            <a:r>
              <a:rPr lang="en-US" sz="2800" b="1" dirty="0">
                <a:solidFill>
                  <a:schemeClr val="accent3"/>
                </a:solidFill>
              </a:rPr>
              <a:t>›</a:t>
            </a:r>
            <a:endParaRPr lang="en-US" sz="2800" dirty="0"/>
          </a:p>
        </p:txBody>
      </p:sp>
      <p:sp>
        <p:nvSpPr>
          <p:cNvPr id="31" name="Icon-Kreis FaTruck"/>
          <p:cNvSpPr/>
          <p:nvPr/>
        </p:nvSpPr>
        <p:spPr>
          <a:xfrm>
            <a:off x="10424160" y="1783080"/>
            <a:ext cx="731520" cy="731520"/>
          </a:xfrm>
          <a:prstGeom prst="ellipse">
            <a:avLst/>
          </a:prstGeom>
          <a:solidFill>
            <a:schemeClr val="accent3"/>
          </a:solidFill>
          <a:ln/>
        </p:spPr>
      </p:sp>
      <p:pic>
        <p:nvPicPr>
          <p:cNvPr id="32" name="Icon FaTruck" descr="Symbol Truck">    </p:cNvPr>
          <p:cNvPicPr>
            <a:picLocks noChangeAspect="1"/>
          </p:cNvPicPr>
          <p:nvPr/>
        </p:nvPicPr>
        <p:blipFill>
          <a:blip r:embed="rId5"/>
          <a:stretch>
            <a:fillRect/>
          </a:stretch>
        </p:blipFill>
        <p:spPr>
          <a:xfrm>
            <a:off x="10621670" y="1980590"/>
            <a:ext cx="336499" cy="336499"/>
          </a:xfrm>
          <a:prstGeom prst="rect">
            <a:avLst/>
          </a:prstGeom>
        </p:spPr>
      </p:pic>
      <p:sp>
        <p:nvSpPr>
          <p:cNvPr id="33" name="Text 25"/>
          <p:cNvSpPr txBox="1"/>
          <p:nvPr/>
        </p:nvSpPr>
        <p:spPr>
          <a:xfrm>
            <a:off x="10241280" y="2606040"/>
            <a:ext cx="1097280" cy="320040"/>
          </a:xfrm>
          <a:prstGeom prst="rect">
            <a:avLst/>
          </a:prstGeom>
          <a:noFill/>
          <a:ln/>
        </p:spPr>
        <p:txBody>
          <a:bodyPr wrap="square" lIns="0" tIns="0" rIns="0" bIns="0" rtlCol="0" anchor="ctr"/>
          <a:lstStyle/>
          <a:p>
            <a:pPr algn="ctr" indent="0" marL="0">
              <a:buNone/>
            </a:pPr>
            <a:r>
              <a:rPr lang="en-US" sz="1300" dirty="0">
                <a:solidFill>
                  <a:schemeClr val="tx1"/>
                </a:solidFill>
              </a:rPr>
              <a:t>Transport</a:t>
            </a:r>
            <a:endParaRPr lang="en-US" sz="1300" dirty="0"/>
          </a:p>
        </p:txBody>
      </p:sp>
      <p:sp>
        <p:nvSpPr>
          <p:cNvPr id="34" name="Text 26"/>
          <p:cNvSpPr txBox="1"/>
          <p:nvPr/>
        </p:nvSpPr>
        <p:spPr>
          <a:xfrm>
            <a:off x="8229600" y="3657600"/>
            <a:ext cx="3063240" cy="1097280"/>
          </a:xfrm>
          <a:prstGeom prst="rect">
            <a:avLst/>
          </a:prstGeom>
          <a:noFill/>
          <a:ln/>
        </p:spPr>
        <p:txBody>
          <a:bodyPr wrap="square" lIns="0" tIns="0" rIns="0" bIns="0" rtlCol="0" anchor="t"/>
          <a:lstStyle/>
          <a:p>
            <a:pPr indent="0" marL="0">
              <a:spcAft>
                <a:spcPts val="400"/>
              </a:spcAft>
              <a:buNone/>
            </a:pPr>
            <a:r>
              <a:rPr lang="en-US" sz="2000" b="1" dirty="0">
                <a:solidFill>
                  <a:schemeClr val="tx2"/>
                </a:solidFill>
              </a:rPr>
              <a:t>Eine Sorte</a:t>
            </a:r>
            <a:endParaRPr lang="en-US" sz="2000" dirty="0"/>
          </a:p>
          <a:p>
            <a:pPr indent="0" marL="0">
              <a:buNone/>
            </a:pPr>
            <a:r>
              <a:rPr lang="en-US" sz="1500" dirty="0">
                <a:solidFill>
                  <a:schemeClr val="tx1"/>
                </a:solidFill>
              </a:rPr>
              <a:t>Weniger Aufwand in jedem dieser drei Schritte</a:t>
            </a:r>
            <a:endParaRPr lang="en-US" sz="2000" dirty="0"/>
          </a:p>
        </p:txBody>
      </p:sp>
      <p:sp>
        <p:nvSpPr>
          <p:cNvPr id="35" name="Hinweis Spiel"/>
          <p:cNvSpPr/>
          <p:nvPr/>
        </p:nvSpPr>
        <p:spPr>
          <a:xfrm>
            <a:off x="640080" y="5120640"/>
            <a:ext cx="10881360" cy="960120"/>
          </a:xfrm>
          <a:prstGeom prst="roundRect">
            <a:avLst>
              <a:gd name="adj" fmla="val 11429"/>
            </a:avLst>
          </a:prstGeom>
          <a:solidFill>
            <a:schemeClr val="accent1"/>
          </a:solidFill>
          <a:ln/>
        </p:spPr>
      </p:sp>
      <p:sp>
        <p:nvSpPr>
          <p:cNvPr id="36" name="Text 28"/>
          <p:cNvSpPr txBox="1"/>
          <p:nvPr/>
        </p:nvSpPr>
        <p:spPr>
          <a:xfrm>
            <a:off x="914400" y="5120640"/>
            <a:ext cx="10424160" cy="960120"/>
          </a:xfrm>
          <a:prstGeom prst="rect">
            <a:avLst/>
          </a:prstGeom>
          <a:noFill/>
          <a:ln/>
        </p:spPr>
        <p:txBody>
          <a:bodyPr wrap="square" lIns="0" tIns="0" rIns="0" bIns="0" rtlCol="0" anchor="ctr"/>
          <a:lstStyle/>
          <a:p>
            <a:pPr indent="0" marL="0">
              <a:buNone/>
            </a:pPr>
            <a:r>
              <a:rPr lang="en-US" sz="1700" b="1" dirty="0">
                <a:solidFill>
                  <a:schemeClr val="accent2"/>
                </a:solidFill>
              </a:rPr>
              <a:t>Und im Planspiel? </a:t>
            </a:r>
            <a:pPr indent="0" marL="0">
              <a:buNone/>
            </a:pPr>
            <a:r>
              <a:rPr lang="en-US" sz="1700" dirty="0">
                <a:solidFill>
                  <a:schemeClr val="bg1"/>
                </a:solidFill>
              </a:rPr>
              <a:t>Dort entschied nur der Preis über den Absatz – Nachhaltigkeit kam nicht vor. Mehr dazu am Ende.</a:t>
            </a:r>
            <a:endParaRPr lang="en-US" sz="17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Produziert, angeboten, verkauft</a:t>
            </a:r>
            <a:endParaRPr lang="en-US" sz="3600" dirty="0"/>
          </a:p>
        </p:txBody>
      </p:sp>
      <p:sp>
        <p:nvSpPr>
          <p:cNvPr id="3" name="Kapitelpunkt Einleitung"/>
          <p:cNvSpPr/>
          <p:nvPr/>
        </p:nvSpPr>
        <p:spPr>
          <a:xfrm>
            <a:off x="640080" y="6437376"/>
            <a:ext cx="109728" cy="109728"/>
          </a:xfrm>
          <a:prstGeom prst="ellipse">
            <a:avLst/>
          </a:prstGeom>
          <a:solidFill>
            <a:schemeClr val="accent5"/>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2"/>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5"/>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graphicFrame>
        <p:nvGraphicFramePr>
          <p:cNvPr id="14" name="Chart 0" descr=""/>
          <p:cNvGraphicFramePr/>
          <p:nvPr/>
        </p:nvGraphicFramePr>
        <p:xfrm>
          <a:off x="640080" y="1371600"/>
          <a:ext cx="7223760" cy="4800600"/>
        </p:xfrm>
        <a:graphic xmlns:a="http://schemas.openxmlformats.org/drawingml/2006/main">
          <a:graphicData uri="http://schemas.openxmlformats.org/drawingml/2006/chart">
            <c:chart xmlns:c="http://schemas.openxmlformats.org/drawingml/2006/chart" r:id="rId1"/>
          </a:graphicData>
        </a:graphic>
      </p:graphicFrame>
      <p:sp>
        <p:nvSpPr>
          <p:cNvPr id="15" name="Fakt 100 %"/>
          <p:cNvSpPr/>
          <p:nvPr/>
        </p:nvSpPr>
        <p:spPr>
          <a:xfrm>
            <a:off x="8138160" y="1463040"/>
            <a:ext cx="3383280" cy="1417320"/>
          </a:xfrm>
          <a:prstGeom prst="roundRect">
            <a:avLst>
              <a:gd name="adj" fmla="val 7742"/>
            </a:avLst>
          </a:prstGeom>
          <a:solidFill>
            <a:schemeClr val="bg2"/>
          </a:solidFill>
          <a:ln/>
        </p:spPr>
      </p:sp>
      <p:sp>
        <p:nvSpPr>
          <p:cNvPr id="16" name="Text 12"/>
          <p:cNvSpPr txBox="1"/>
          <p:nvPr/>
        </p:nvSpPr>
        <p:spPr>
          <a:xfrm>
            <a:off x="8366760" y="1572768"/>
            <a:ext cx="3017520" cy="54864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100 %</a:t>
            </a:r>
            <a:endParaRPr lang="en-US" sz="2800" dirty="0"/>
          </a:p>
        </p:txBody>
      </p:sp>
      <p:sp>
        <p:nvSpPr>
          <p:cNvPr id="17" name="Text 13"/>
          <p:cNvSpPr txBox="1"/>
          <p:nvPr/>
        </p:nvSpPr>
        <p:spPr>
          <a:xfrm>
            <a:off x="8366760" y="2148840"/>
            <a:ext cx="3017520" cy="640080"/>
          </a:xfrm>
          <a:prstGeom prst="rect">
            <a:avLst/>
          </a:prstGeom>
          <a:noFill/>
          <a:ln/>
        </p:spPr>
        <p:txBody>
          <a:bodyPr wrap="square" lIns="0" tIns="0" rIns="0" bIns="0" rtlCol="0" anchor="ctr"/>
          <a:lstStyle/>
          <a:p>
            <a:pPr indent="0" marL="0">
              <a:buNone/>
            </a:pPr>
            <a:r>
              <a:rPr lang="en-US" sz="1500" dirty="0">
                <a:solidFill>
                  <a:schemeClr val="tx1"/>
                </a:solidFill>
              </a:rPr>
              <a:t>verkauft in R1 – zu 3.000 € ging alles weg</a:t>
            </a:r>
            <a:endParaRPr lang="en-US" sz="1500" dirty="0"/>
          </a:p>
        </p:txBody>
      </p:sp>
      <p:sp>
        <p:nvSpPr>
          <p:cNvPr id="18" name="Fakt 70 %"/>
          <p:cNvSpPr/>
          <p:nvPr/>
        </p:nvSpPr>
        <p:spPr>
          <a:xfrm>
            <a:off x="8138160" y="3063240"/>
            <a:ext cx="3383280" cy="1417320"/>
          </a:xfrm>
          <a:prstGeom prst="roundRect">
            <a:avLst>
              <a:gd name="adj" fmla="val 7742"/>
            </a:avLst>
          </a:prstGeom>
          <a:solidFill>
            <a:schemeClr val="bg2"/>
          </a:solidFill>
          <a:ln/>
        </p:spPr>
      </p:sp>
      <p:sp>
        <p:nvSpPr>
          <p:cNvPr id="19" name="Text 15"/>
          <p:cNvSpPr txBox="1"/>
          <p:nvPr/>
        </p:nvSpPr>
        <p:spPr>
          <a:xfrm>
            <a:off x="8366760" y="3172968"/>
            <a:ext cx="3017520" cy="548640"/>
          </a:xfrm>
          <a:prstGeom prst="rect">
            <a:avLst/>
          </a:prstGeom>
          <a:noFill/>
          <a:ln/>
        </p:spPr>
        <p:txBody>
          <a:bodyPr wrap="square" lIns="0" tIns="0" rIns="0" bIns="0" rtlCol="0" anchor="ctr"/>
          <a:lstStyle/>
          <a:p>
            <a:pPr indent="0" marL="0">
              <a:buNone/>
            </a:pPr>
            <a:r>
              <a:rPr lang="en-US" sz="2800" b="1" dirty="0">
                <a:solidFill>
                  <a:schemeClr val="accent3"/>
                </a:solidFill>
                <a:latin typeface="Cambria" pitchFamily="34" charset="0"/>
                <a:ea typeface="Cambria" pitchFamily="34" charset="-122"/>
                <a:cs typeface="Cambria" pitchFamily="34" charset="-120"/>
              </a:rPr>
              <a:t>70 %</a:t>
            </a:r>
            <a:endParaRPr lang="en-US" sz="2800" dirty="0"/>
          </a:p>
        </p:txBody>
      </p:sp>
      <p:sp>
        <p:nvSpPr>
          <p:cNvPr id="20" name="Text 16"/>
          <p:cNvSpPr txBox="1"/>
          <p:nvPr/>
        </p:nvSpPr>
        <p:spPr>
          <a:xfrm>
            <a:off x="8366760" y="3749040"/>
            <a:ext cx="3017520" cy="640080"/>
          </a:xfrm>
          <a:prstGeom prst="rect">
            <a:avLst/>
          </a:prstGeom>
          <a:noFill/>
          <a:ln/>
        </p:spPr>
        <p:txBody>
          <a:bodyPr wrap="square" lIns="0" tIns="0" rIns="0" bIns="0" rtlCol="0" anchor="ctr"/>
          <a:lstStyle/>
          <a:p>
            <a:pPr indent="0" marL="0">
              <a:buNone/>
            </a:pPr>
            <a:r>
              <a:rPr lang="en-US" sz="1500" dirty="0">
                <a:solidFill>
                  <a:schemeClr val="tx1"/>
                </a:solidFill>
              </a:rPr>
              <a:t>verkauft in R3 bei 5.900 € – unsere beste Runde</a:t>
            </a:r>
            <a:endParaRPr lang="en-US" sz="1500" dirty="0"/>
          </a:p>
        </p:txBody>
      </p:sp>
      <p:sp>
        <p:nvSpPr>
          <p:cNvPr id="21" name="Fakt 1 Palette"/>
          <p:cNvSpPr/>
          <p:nvPr/>
        </p:nvSpPr>
        <p:spPr>
          <a:xfrm>
            <a:off x="8138160" y="4663440"/>
            <a:ext cx="3383280" cy="1417320"/>
          </a:xfrm>
          <a:prstGeom prst="roundRect">
            <a:avLst>
              <a:gd name="adj" fmla="val 7742"/>
            </a:avLst>
          </a:prstGeom>
          <a:solidFill>
            <a:schemeClr val="bg2"/>
          </a:solidFill>
          <a:ln/>
        </p:spPr>
      </p:sp>
      <p:sp>
        <p:nvSpPr>
          <p:cNvPr id="22" name="Text 18"/>
          <p:cNvSpPr txBox="1"/>
          <p:nvPr/>
        </p:nvSpPr>
        <p:spPr>
          <a:xfrm>
            <a:off x="8366760" y="4773168"/>
            <a:ext cx="3017520" cy="548640"/>
          </a:xfrm>
          <a:prstGeom prst="rect">
            <a:avLst/>
          </a:prstGeom>
          <a:noFill/>
          <a:ln/>
        </p:spPr>
        <p:txBody>
          <a:bodyPr wrap="square" lIns="0" tIns="0" rIns="0" bIns="0" rtlCol="0" anchor="ctr"/>
          <a:lstStyle/>
          <a:p>
            <a:pPr indent="0" marL="0">
              <a:buNone/>
            </a:pPr>
            <a:r>
              <a:rPr lang="en-US" sz="2800" b="1" dirty="0">
                <a:solidFill>
                  <a:schemeClr val="accent2"/>
                </a:solidFill>
                <a:latin typeface="Cambria" pitchFamily="34" charset="0"/>
                <a:ea typeface="Cambria" pitchFamily="34" charset="-122"/>
                <a:cs typeface="Cambria" pitchFamily="34" charset="-120"/>
              </a:rPr>
              <a:t>1 Palette</a:t>
            </a:r>
            <a:endParaRPr lang="en-US" sz="2800" dirty="0"/>
          </a:p>
        </p:txBody>
      </p:sp>
      <p:sp>
        <p:nvSpPr>
          <p:cNvPr id="23" name="Text 19"/>
          <p:cNvSpPr txBox="1"/>
          <p:nvPr/>
        </p:nvSpPr>
        <p:spPr>
          <a:xfrm>
            <a:off x="8366760" y="5349240"/>
            <a:ext cx="3017520" cy="640080"/>
          </a:xfrm>
          <a:prstGeom prst="rect">
            <a:avLst/>
          </a:prstGeom>
          <a:noFill/>
          <a:ln/>
        </p:spPr>
        <p:txBody>
          <a:bodyPr wrap="square" lIns="0" tIns="0" rIns="0" bIns="0" rtlCol="0" anchor="ctr"/>
          <a:lstStyle/>
          <a:p>
            <a:pPr indent="0" marL="0">
              <a:buNone/>
            </a:pPr>
            <a:r>
              <a:rPr lang="en-US" sz="1500" dirty="0">
                <a:solidFill>
                  <a:schemeClr val="tx1"/>
                </a:solidFill>
              </a:rPr>
              <a:t>in R4 und R5 – wir erwarteten kaum Absatz</a:t>
            </a:r>
            <a:endParaRPr lang="en-US" sz="15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Drei Entscheidungen, die unser Spiel geprägt haben</a:t>
            </a:r>
            <a:endParaRPr lang="en-US" sz="3600" dirty="0"/>
          </a:p>
        </p:txBody>
      </p:sp>
      <p:sp>
        <p:nvSpPr>
          <p:cNvPr id="3" name="Kapitelpunkt Einleitung"/>
          <p:cNvSpPr/>
          <p:nvPr/>
        </p:nvSpPr>
        <p:spPr>
          <a:xfrm>
            <a:off x="640080" y="6437376"/>
            <a:ext cx="109728" cy="109728"/>
          </a:xfrm>
          <a:prstGeom prst="ellipse">
            <a:avLst/>
          </a:prstGeom>
          <a:solidFill>
            <a:schemeClr val="accent5"/>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2"/>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5"/>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sp>
        <p:nvSpPr>
          <p:cNvPr id="14" name="Entscheidung Runde 2"/>
          <p:cNvSpPr/>
          <p:nvPr/>
        </p:nvSpPr>
        <p:spPr>
          <a:xfrm>
            <a:off x="640080" y="1417320"/>
            <a:ext cx="3520440" cy="4709160"/>
          </a:xfrm>
          <a:prstGeom prst="roundRect">
            <a:avLst>
              <a:gd name="adj" fmla="val 3117"/>
            </a:avLst>
          </a:prstGeom>
          <a:solidFill>
            <a:schemeClr val="bg2"/>
          </a:solidFill>
          <a:ln/>
        </p:spPr>
      </p:sp>
      <p:sp>
        <p:nvSpPr>
          <p:cNvPr id="15" name="Text 12"/>
          <p:cNvSpPr txBox="1"/>
          <p:nvPr/>
        </p:nvSpPr>
        <p:spPr>
          <a:xfrm>
            <a:off x="914400" y="1600200"/>
            <a:ext cx="2971800" cy="365760"/>
          </a:xfrm>
          <a:prstGeom prst="rect">
            <a:avLst/>
          </a:prstGeom>
          <a:noFill/>
          <a:ln/>
        </p:spPr>
        <p:txBody>
          <a:bodyPr wrap="square" lIns="0" tIns="0" rIns="0" bIns="0" rtlCol="0" anchor="ctr"/>
          <a:lstStyle/>
          <a:p>
            <a:pPr indent="0" marL="0">
              <a:buNone/>
            </a:pPr>
            <a:r>
              <a:rPr lang="en-US" sz="1600" b="1" dirty="0">
                <a:solidFill>
                  <a:schemeClr val="accent4"/>
                </a:solidFill>
              </a:rPr>
              <a:t>Runde 2</a:t>
            </a:r>
            <a:endParaRPr lang="en-US" sz="1600" dirty="0"/>
          </a:p>
        </p:txBody>
      </p:sp>
      <p:sp>
        <p:nvSpPr>
          <p:cNvPr id="16" name="Text 13"/>
          <p:cNvSpPr txBox="1"/>
          <p:nvPr/>
        </p:nvSpPr>
        <p:spPr>
          <a:xfrm>
            <a:off x="914400" y="1965960"/>
            <a:ext cx="2971800" cy="68580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7.600 €</a:t>
            </a:r>
            <a:endParaRPr lang="en-US" sz="3600" dirty="0"/>
          </a:p>
        </p:txBody>
      </p:sp>
      <p:sp>
        <p:nvSpPr>
          <p:cNvPr id="17" name="Text 14"/>
          <p:cNvSpPr txBox="1"/>
          <p:nvPr/>
        </p:nvSpPr>
        <p:spPr>
          <a:xfrm>
            <a:off x="914400" y="2788920"/>
            <a:ext cx="2971800" cy="274320"/>
          </a:xfrm>
          <a:prstGeom prst="rect">
            <a:avLst/>
          </a:prstGeom>
          <a:noFill/>
          <a:ln/>
        </p:spPr>
        <p:txBody>
          <a:bodyPr wrap="square" lIns="0" tIns="0" rIns="0" bIns="0" rtlCol="0" anchor="ctr"/>
          <a:lstStyle/>
          <a:p>
            <a:pPr indent="0" marL="0">
              <a:buNone/>
            </a:pPr>
            <a:r>
              <a:rPr lang="en-US" sz="1300" b="1" dirty="0">
                <a:solidFill>
                  <a:schemeClr val="accent2"/>
                </a:solidFill>
              </a:rPr>
              <a:t>Was wir dachten</a:t>
            </a:r>
            <a:endParaRPr lang="en-US" sz="1300" dirty="0"/>
          </a:p>
        </p:txBody>
      </p:sp>
      <p:sp>
        <p:nvSpPr>
          <p:cNvPr id="18" name="Text 15"/>
          <p:cNvSpPr txBox="1"/>
          <p:nvPr/>
        </p:nvSpPr>
        <p:spPr>
          <a:xfrm>
            <a:off x="914400" y="3063240"/>
            <a:ext cx="2971800" cy="868680"/>
          </a:xfrm>
          <a:prstGeom prst="rect">
            <a:avLst/>
          </a:prstGeom>
          <a:noFill/>
          <a:ln/>
        </p:spPr>
        <p:txBody>
          <a:bodyPr wrap="square" lIns="0" tIns="0" rIns="0" bIns="0" rtlCol="0" anchor="t"/>
          <a:lstStyle/>
          <a:p>
            <a:pPr indent="0" marL="0">
              <a:buNone/>
            </a:pPr>
            <a:r>
              <a:rPr lang="en-US" sz="1600" i="1" dirty="0">
                <a:solidFill>
                  <a:schemeClr val="tx1"/>
                </a:solidFill>
              </a:rPr>
              <a:t>„Alles war weg – die anderen sind wohl teurer.“</a:t>
            </a:r>
            <a:endParaRPr lang="en-US" sz="1600" dirty="0"/>
          </a:p>
        </p:txBody>
      </p:sp>
      <p:sp>
        <p:nvSpPr>
          <p:cNvPr id="19" name="Text 16"/>
          <p:cNvSpPr txBox="1"/>
          <p:nvPr/>
        </p:nvSpPr>
        <p:spPr>
          <a:xfrm>
            <a:off x="914400" y="3977640"/>
            <a:ext cx="2971800" cy="274320"/>
          </a:xfrm>
          <a:prstGeom prst="rect">
            <a:avLst/>
          </a:prstGeom>
          <a:noFill/>
          <a:ln/>
        </p:spPr>
        <p:txBody>
          <a:bodyPr wrap="square" lIns="0" tIns="0" rIns="0" bIns="0" rtlCol="0" anchor="ctr"/>
          <a:lstStyle/>
          <a:p>
            <a:pPr indent="0" marL="0">
              <a:buNone/>
            </a:pPr>
            <a:r>
              <a:rPr lang="en-US" sz="1300" b="1" dirty="0">
                <a:solidFill>
                  <a:schemeClr val="accent2"/>
                </a:solidFill>
              </a:rPr>
              <a:t>Was wir gemacht haben</a:t>
            </a:r>
            <a:endParaRPr lang="en-US" sz="1300" dirty="0"/>
          </a:p>
        </p:txBody>
      </p:sp>
      <p:sp>
        <p:nvSpPr>
          <p:cNvPr id="20" name="Text 17"/>
          <p:cNvSpPr txBox="1"/>
          <p:nvPr/>
        </p:nvSpPr>
        <p:spPr>
          <a:xfrm>
            <a:off x="914400" y="4251960"/>
            <a:ext cx="2971800" cy="868680"/>
          </a:xfrm>
          <a:prstGeom prst="rect">
            <a:avLst/>
          </a:prstGeom>
          <a:noFill/>
          <a:ln/>
        </p:spPr>
        <p:txBody>
          <a:bodyPr wrap="square" lIns="0" tIns="0" rIns="0" bIns="0" rtlCol="0" anchor="t"/>
          <a:lstStyle/>
          <a:p>
            <a:pPr indent="0" marL="0">
              <a:buNone/>
            </a:pPr>
            <a:r>
              <a:rPr lang="en-US" sz="1600" dirty="0">
                <a:solidFill>
                  <a:schemeClr val="tx1"/>
                </a:solidFill>
              </a:rPr>
              <a:t>Preis drastisch rauf. 2. Maschine gekauft – aber ohne Mitarbeiter.</a:t>
            </a:r>
            <a:endParaRPr lang="en-US" sz="1600" dirty="0"/>
          </a:p>
        </p:txBody>
      </p:sp>
      <p:sp>
        <p:nvSpPr>
          <p:cNvPr id="21" name="Ergebnis Runde 2"/>
          <p:cNvSpPr/>
          <p:nvPr/>
        </p:nvSpPr>
        <p:spPr>
          <a:xfrm>
            <a:off x="914400" y="5257800"/>
            <a:ext cx="2971800" cy="594360"/>
          </a:xfrm>
          <a:prstGeom prst="roundRect">
            <a:avLst>
              <a:gd name="adj" fmla="val 12308"/>
            </a:avLst>
          </a:prstGeom>
          <a:solidFill>
            <a:schemeClr val="bg1"/>
          </a:solidFill>
          <a:ln/>
        </p:spPr>
      </p:sp>
      <p:sp>
        <p:nvSpPr>
          <p:cNvPr id="22" name="Text 19"/>
          <p:cNvSpPr txBox="1"/>
          <p:nvPr/>
        </p:nvSpPr>
        <p:spPr>
          <a:xfrm>
            <a:off x="1051560" y="5257800"/>
            <a:ext cx="2697480" cy="594360"/>
          </a:xfrm>
          <a:prstGeom prst="rect">
            <a:avLst/>
          </a:prstGeom>
          <a:noFill/>
          <a:ln/>
        </p:spPr>
        <p:txBody>
          <a:bodyPr wrap="square" lIns="0" tIns="0" rIns="0" bIns="0" rtlCol="0" anchor="ctr"/>
          <a:lstStyle/>
          <a:p>
            <a:pPr indent="0" marL="0">
              <a:buNone/>
            </a:pPr>
            <a:r>
              <a:rPr lang="en-US" sz="1400" dirty="0">
                <a:solidFill>
                  <a:schemeClr val="tx1"/>
                </a:solidFill>
              </a:rPr>
              <a:t>Ergebnis  </a:t>
            </a:r>
            <a:pPr indent="0" marL="0">
              <a:buNone/>
            </a:pPr>
            <a:r>
              <a:rPr lang="en-US" sz="2200" b="1" dirty="0">
                <a:solidFill>
                  <a:srgbClr val="8A4A12"/>
                </a:solidFill>
                <a:latin typeface="Cambria" pitchFamily="34" charset="0"/>
                <a:ea typeface="Cambria" pitchFamily="34" charset="-122"/>
                <a:cs typeface="Cambria" pitchFamily="34" charset="-120"/>
              </a:rPr>
              <a:t>−19.100 €</a:t>
            </a:r>
            <a:endParaRPr lang="en-US" sz="1400" dirty="0"/>
          </a:p>
        </p:txBody>
      </p:sp>
      <p:sp>
        <p:nvSpPr>
          <p:cNvPr id="23" name="Entscheidung Runde 3"/>
          <p:cNvSpPr/>
          <p:nvPr/>
        </p:nvSpPr>
        <p:spPr>
          <a:xfrm>
            <a:off x="4320540" y="1417320"/>
            <a:ext cx="3520440" cy="4709160"/>
          </a:xfrm>
          <a:prstGeom prst="roundRect">
            <a:avLst>
              <a:gd name="adj" fmla="val 3117"/>
            </a:avLst>
          </a:prstGeom>
          <a:solidFill>
            <a:schemeClr val="bg2"/>
          </a:solidFill>
          <a:ln/>
        </p:spPr>
      </p:sp>
      <p:sp>
        <p:nvSpPr>
          <p:cNvPr id="24" name="Text 21"/>
          <p:cNvSpPr txBox="1"/>
          <p:nvPr/>
        </p:nvSpPr>
        <p:spPr>
          <a:xfrm>
            <a:off x="4594860" y="1600200"/>
            <a:ext cx="2971800" cy="365760"/>
          </a:xfrm>
          <a:prstGeom prst="rect">
            <a:avLst/>
          </a:prstGeom>
          <a:noFill/>
          <a:ln/>
        </p:spPr>
        <p:txBody>
          <a:bodyPr wrap="square" lIns="0" tIns="0" rIns="0" bIns="0" rtlCol="0" anchor="ctr"/>
          <a:lstStyle/>
          <a:p>
            <a:pPr indent="0" marL="0">
              <a:buNone/>
            </a:pPr>
            <a:r>
              <a:rPr lang="en-US" sz="1600" b="1" dirty="0">
                <a:solidFill>
                  <a:schemeClr val="accent4"/>
                </a:solidFill>
              </a:rPr>
              <a:t>Runde 3</a:t>
            </a:r>
            <a:endParaRPr lang="en-US" sz="1600" dirty="0"/>
          </a:p>
        </p:txBody>
      </p:sp>
      <p:sp>
        <p:nvSpPr>
          <p:cNvPr id="25" name="Text 22"/>
          <p:cNvSpPr txBox="1"/>
          <p:nvPr/>
        </p:nvSpPr>
        <p:spPr>
          <a:xfrm>
            <a:off x="4594860" y="1965960"/>
            <a:ext cx="2971800" cy="68580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5.900 €</a:t>
            </a:r>
            <a:endParaRPr lang="en-US" sz="3600" dirty="0"/>
          </a:p>
        </p:txBody>
      </p:sp>
      <p:sp>
        <p:nvSpPr>
          <p:cNvPr id="26" name="Text 23"/>
          <p:cNvSpPr txBox="1"/>
          <p:nvPr/>
        </p:nvSpPr>
        <p:spPr>
          <a:xfrm>
            <a:off x="4594860" y="2788920"/>
            <a:ext cx="2971800" cy="274320"/>
          </a:xfrm>
          <a:prstGeom prst="rect">
            <a:avLst/>
          </a:prstGeom>
          <a:noFill/>
          <a:ln/>
        </p:spPr>
        <p:txBody>
          <a:bodyPr wrap="square" lIns="0" tIns="0" rIns="0" bIns="0" rtlCol="0" anchor="ctr"/>
          <a:lstStyle/>
          <a:p>
            <a:pPr indent="0" marL="0">
              <a:buNone/>
            </a:pPr>
            <a:r>
              <a:rPr lang="en-US" sz="1300" b="1" dirty="0">
                <a:solidFill>
                  <a:schemeClr val="accent2"/>
                </a:solidFill>
              </a:rPr>
              <a:t>Was wir dachten</a:t>
            </a:r>
            <a:endParaRPr lang="en-US" sz="1300" dirty="0"/>
          </a:p>
        </p:txBody>
      </p:sp>
      <p:sp>
        <p:nvSpPr>
          <p:cNvPr id="27" name="Text 24"/>
          <p:cNvSpPr txBox="1"/>
          <p:nvPr/>
        </p:nvSpPr>
        <p:spPr>
          <a:xfrm>
            <a:off x="4594860" y="3063240"/>
            <a:ext cx="2971800" cy="868680"/>
          </a:xfrm>
          <a:prstGeom prst="rect">
            <a:avLst/>
          </a:prstGeom>
          <a:noFill/>
          <a:ln/>
        </p:spPr>
        <p:txBody>
          <a:bodyPr wrap="square" lIns="0" tIns="0" rIns="0" bIns="0" rtlCol="0" anchor="t"/>
          <a:lstStyle/>
          <a:p>
            <a:pPr indent="0" marL="0">
              <a:buNone/>
            </a:pPr>
            <a:r>
              <a:rPr lang="en-US" sz="1600" i="1" dirty="0">
                <a:solidFill>
                  <a:schemeClr val="tx1"/>
                </a:solidFill>
              </a:rPr>
              <a:t>„Wir waren zu teuer. Die Konkurrenz liegt bei ca. 6.000 €.“</a:t>
            </a:r>
            <a:endParaRPr lang="en-US" sz="1600" dirty="0"/>
          </a:p>
        </p:txBody>
      </p:sp>
      <p:sp>
        <p:nvSpPr>
          <p:cNvPr id="28" name="Text 25"/>
          <p:cNvSpPr txBox="1"/>
          <p:nvPr/>
        </p:nvSpPr>
        <p:spPr>
          <a:xfrm>
            <a:off x="4594860" y="3977640"/>
            <a:ext cx="2971800" cy="274320"/>
          </a:xfrm>
          <a:prstGeom prst="rect">
            <a:avLst/>
          </a:prstGeom>
          <a:noFill/>
          <a:ln/>
        </p:spPr>
        <p:txBody>
          <a:bodyPr wrap="square" lIns="0" tIns="0" rIns="0" bIns="0" rtlCol="0" anchor="ctr"/>
          <a:lstStyle/>
          <a:p>
            <a:pPr indent="0" marL="0">
              <a:buNone/>
            </a:pPr>
            <a:r>
              <a:rPr lang="en-US" sz="1300" b="1" dirty="0">
                <a:solidFill>
                  <a:schemeClr val="accent2"/>
                </a:solidFill>
              </a:rPr>
              <a:t>Was wir gemacht haben</a:t>
            </a:r>
            <a:endParaRPr lang="en-US" sz="1300" dirty="0"/>
          </a:p>
        </p:txBody>
      </p:sp>
      <p:sp>
        <p:nvSpPr>
          <p:cNvPr id="29" name="Text 26"/>
          <p:cNvSpPr txBox="1"/>
          <p:nvPr/>
        </p:nvSpPr>
        <p:spPr>
          <a:xfrm>
            <a:off x="4594860" y="4251960"/>
            <a:ext cx="2971800" cy="868680"/>
          </a:xfrm>
          <a:prstGeom prst="rect">
            <a:avLst/>
          </a:prstGeom>
          <a:noFill/>
          <a:ln/>
        </p:spPr>
        <p:txBody>
          <a:bodyPr wrap="square" lIns="0" tIns="0" rIns="0" bIns="0" rtlCol="0" anchor="t"/>
          <a:lstStyle/>
          <a:p>
            <a:pPr indent="0" marL="0">
              <a:buNone/>
            </a:pPr>
            <a:r>
              <a:rPr lang="en-US" sz="1600" dirty="0">
                <a:solidFill>
                  <a:schemeClr val="tx1"/>
                </a:solidFill>
              </a:rPr>
              <a:t>Knapp darunter angeboten, 2. Mitarbeiter eingestellt.</a:t>
            </a:r>
            <a:endParaRPr lang="en-US" sz="1600" dirty="0"/>
          </a:p>
        </p:txBody>
      </p:sp>
      <p:sp>
        <p:nvSpPr>
          <p:cNvPr id="30" name="Ergebnis Runde 3"/>
          <p:cNvSpPr/>
          <p:nvPr/>
        </p:nvSpPr>
        <p:spPr>
          <a:xfrm>
            <a:off x="4594860" y="5257800"/>
            <a:ext cx="2971800" cy="594360"/>
          </a:xfrm>
          <a:prstGeom prst="roundRect">
            <a:avLst>
              <a:gd name="adj" fmla="val 12308"/>
            </a:avLst>
          </a:prstGeom>
          <a:solidFill>
            <a:srgbClr val="E3EFCF"/>
          </a:solidFill>
          <a:ln/>
        </p:spPr>
      </p:sp>
      <p:sp>
        <p:nvSpPr>
          <p:cNvPr id="31" name="Text 28"/>
          <p:cNvSpPr txBox="1"/>
          <p:nvPr/>
        </p:nvSpPr>
        <p:spPr>
          <a:xfrm>
            <a:off x="4732020" y="5257800"/>
            <a:ext cx="2697480" cy="594360"/>
          </a:xfrm>
          <a:prstGeom prst="rect">
            <a:avLst/>
          </a:prstGeom>
          <a:noFill/>
          <a:ln/>
        </p:spPr>
        <p:txBody>
          <a:bodyPr wrap="square" lIns="0" tIns="0" rIns="0" bIns="0" rtlCol="0" anchor="ctr"/>
          <a:lstStyle/>
          <a:p>
            <a:pPr indent="0" marL="0">
              <a:buNone/>
            </a:pPr>
            <a:r>
              <a:rPr lang="en-US" sz="1400" dirty="0">
                <a:solidFill>
                  <a:schemeClr val="tx1"/>
                </a:solidFill>
              </a:rPr>
              <a:t>Ergebnis  </a:t>
            </a:r>
            <a:pPr indent="0" marL="0">
              <a:buNone/>
            </a:pPr>
            <a:r>
              <a:rPr lang="en-US" sz="2200" b="1" dirty="0">
                <a:solidFill>
                  <a:srgbClr val="3D6610"/>
                </a:solidFill>
                <a:latin typeface="Cambria" pitchFamily="34" charset="0"/>
                <a:ea typeface="Cambria" pitchFamily="34" charset="-122"/>
                <a:cs typeface="Cambria" pitchFamily="34" charset="-120"/>
              </a:rPr>
              <a:t>+25.940 €</a:t>
            </a:r>
            <a:endParaRPr lang="en-US" sz="1400" dirty="0"/>
          </a:p>
        </p:txBody>
      </p:sp>
      <p:sp>
        <p:nvSpPr>
          <p:cNvPr id="32" name="Entscheidung Runde 4 + 5"/>
          <p:cNvSpPr/>
          <p:nvPr/>
        </p:nvSpPr>
        <p:spPr>
          <a:xfrm>
            <a:off x="8001000" y="1417320"/>
            <a:ext cx="3520440" cy="4709160"/>
          </a:xfrm>
          <a:prstGeom prst="roundRect">
            <a:avLst>
              <a:gd name="adj" fmla="val 3117"/>
            </a:avLst>
          </a:prstGeom>
          <a:solidFill>
            <a:schemeClr val="bg2"/>
          </a:solidFill>
          <a:ln/>
        </p:spPr>
      </p:sp>
      <p:sp>
        <p:nvSpPr>
          <p:cNvPr id="33" name="Text 30"/>
          <p:cNvSpPr txBox="1"/>
          <p:nvPr/>
        </p:nvSpPr>
        <p:spPr>
          <a:xfrm>
            <a:off x="8275320" y="1600200"/>
            <a:ext cx="2971800" cy="365760"/>
          </a:xfrm>
          <a:prstGeom prst="rect">
            <a:avLst/>
          </a:prstGeom>
          <a:noFill/>
          <a:ln/>
        </p:spPr>
        <p:txBody>
          <a:bodyPr wrap="square" lIns="0" tIns="0" rIns="0" bIns="0" rtlCol="0" anchor="ctr"/>
          <a:lstStyle/>
          <a:p>
            <a:pPr indent="0" marL="0">
              <a:buNone/>
            </a:pPr>
            <a:r>
              <a:rPr lang="en-US" sz="1600" b="1" dirty="0">
                <a:solidFill>
                  <a:schemeClr val="accent4"/>
                </a:solidFill>
              </a:rPr>
              <a:t>Runde 4 + 5</a:t>
            </a:r>
            <a:endParaRPr lang="en-US" sz="1600" dirty="0"/>
          </a:p>
        </p:txBody>
      </p:sp>
      <p:sp>
        <p:nvSpPr>
          <p:cNvPr id="34" name="Text 31"/>
          <p:cNvSpPr txBox="1"/>
          <p:nvPr/>
        </p:nvSpPr>
        <p:spPr>
          <a:xfrm>
            <a:off x="8275320" y="1965960"/>
            <a:ext cx="2971800" cy="68580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9.500 €</a:t>
            </a:r>
            <a:endParaRPr lang="en-US" sz="3600" dirty="0"/>
          </a:p>
        </p:txBody>
      </p:sp>
      <p:sp>
        <p:nvSpPr>
          <p:cNvPr id="35" name="Text 32"/>
          <p:cNvSpPr txBox="1"/>
          <p:nvPr/>
        </p:nvSpPr>
        <p:spPr>
          <a:xfrm>
            <a:off x="8275320" y="2788920"/>
            <a:ext cx="2971800" cy="274320"/>
          </a:xfrm>
          <a:prstGeom prst="rect">
            <a:avLst/>
          </a:prstGeom>
          <a:noFill/>
          <a:ln/>
        </p:spPr>
        <p:txBody>
          <a:bodyPr wrap="square" lIns="0" tIns="0" rIns="0" bIns="0" rtlCol="0" anchor="ctr"/>
          <a:lstStyle/>
          <a:p>
            <a:pPr indent="0" marL="0">
              <a:buNone/>
            </a:pPr>
            <a:r>
              <a:rPr lang="en-US" sz="1300" b="1" dirty="0">
                <a:solidFill>
                  <a:schemeClr val="accent2"/>
                </a:solidFill>
              </a:rPr>
              <a:t>Was wir dachten</a:t>
            </a:r>
            <a:endParaRPr lang="en-US" sz="1300" dirty="0"/>
          </a:p>
        </p:txBody>
      </p:sp>
      <p:sp>
        <p:nvSpPr>
          <p:cNvPr id="36" name="Text 33"/>
          <p:cNvSpPr txBox="1"/>
          <p:nvPr/>
        </p:nvSpPr>
        <p:spPr>
          <a:xfrm>
            <a:off x="8275320" y="3063240"/>
            <a:ext cx="2971800" cy="868680"/>
          </a:xfrm>
          <a:prstGeom prst="rect">
            <a:avLst/>
          </a:prstGeom>
          <a:noFill/>
          <a:ln/>
        </p:spPr>
        <p:txBody>
          <a:bodyPr wrap="square" lIns="0" tIns="0" rIns="0" bIns="0" rtlCol="0" anchor="t"/>
          <a:lstStyle/>
          <a:p>
            <a:pPr indent="0" marL="0">
              <a:buNone/>
            </a:pPr>
            <a:r>
              <a:rPr lang="en-US" sz="1600" i="1" dirty="0">
                <a:solidFill>
                  <a:schemeClr val="tx1"/>
                </a:solidFill>
              </a:rPr>
              <a:t>„Die Beliebtheit hält nicht an.“ – Marktanalyse: weniger Absatz</a:t>
            </a:r>
            <a:endParaRPr lang="en-US" sz="1600" dirty="0"/>
          </a:p>
        </p:txBody>
      </p:sp>
      <p:sp>
        <p:nvSpPr>
          <p:cNvPr id="37" name="Text 34"/>
          <p:cNvSpPr txBox="1"/>
          <p:nvPr/>
        </p:nvSpPr>
        <p:spPr>
          <a:xfrm>
            <a:off x="8275320" y="3977640"/>
            <a:ext cx="2971800" cy="274320"/>
          </a:xfrm>
          <a:prstGeom prst="rect">
            <a:avLst/>
          </a:prstGeom>
          <a:noFill/>
          <a:ln/>
        </p:spPr>
        <p:txBody>
          <a:bodyPr wrap="square" lIns="0" tIns="0" rIns="0" bIns="0" rtlCol="0" anchor="ctr"/>
          <a:lstStyle/>
          <a:p>
            <a:pPr indent="0" marL="0">
              <a:buNone/>
            </a:pPr>
            <a:r>
              <a:rPr lang="en-US" sz="1300" b="1" dirty="0">
                <a:solidFill>
                  <a:schemeClr val="accent2"/>
                </a:solidFill>
              </a:rPr>
              <a:t>Was wir gemacht haben</a:t>
            </a:r>
            <a:endParaRPr lang="en-US" sz="1300" dirty="0"/>
          </a:p>
        </p:txBody>
      </p:sp>
      <p:sp>
        <p:nvSpPr>
          <p:cNvPr id="38" name="Text 35"/>
          <p:cNvSpPr txBox="1"/>
          <p:nvPr/>
        </p:nvSpPr>
        <p:spPr>
          <a:xfrm>
            <a:off x="8275320" y="4251960"/>
            <a:ext cx="2971800" cy="868680"/>
          </a:xfrm>
          <a:prstGeom prst="rect">
            <a:avLst/>
          </a:prstGeom>
          <a:noFill/>
          <a:ln/>
        </p:spPr>
        <p:txBody>
          <a:bodyPr wrap="square" lIns="0" tIns="0" rIns="0" bIns="0" rtlCol="0" anchor="t"/>
          <a:lstStyle/>
          <a:p>
            <a:pPr indent="0" marL="0">
              <a:buNone/>
            </a:pPr>
            <a:r>
              <a:rPr lang="en-US" sz="1600" dirty="0">
                <a:solidFill>
                  <a:schemeClr val="tx1"/>
                </a:solidFill>
              </a:rPr>
              <a:t>Nur 1 Palette – aber zum Höchstpreis.</a:t>
            </a:r>
            <a:endParaRPr lang="en-US" sz="1600" dirty="0"/>
          </a:p>
        </p:txBody>
      </p:sp>
      <p:sp>
        <p:nvSpPr>
          <p:cNvPr id="39" name="Ergebnis Runde 4 + 5"/>
          <p:cNvSpPr/>
          <p:nvPr/>
        </p:nvSpPr>
        <p:spPr>
          <a:xfrm>
            <a:off x="8275320" y="5257800"/>
            <a:ext cx="2971800" cy="594360"/>
          </a:xfrm>
          <a:prstGeom prst="roundRect">
            <a:avLst>
              <a:gd name="adj" fmla="val 12308"/>
            </a:avLst>
          </a:prstGeom>
          <a:solidFill>
            <a:schemeClr val="bg1"/>
          </a:solidFill>
          <a:ln/>
        </p:spPr>
      </p:sp>
      <p:sp>
        <p:nvSpPr>
          <p:cNvPr id="40" name="Text 37"/>
          <p:cNvSpPr txBox="1"/>
          <p:nvPr/>
        </p:nvSpPr>
        <p:spPr>
          <a:xfrm>
            <a:off x="8412480" y="5257800"/>
            <a:ext cx="2697480" cy="594360"/>
          </a:xfrm>
          <a:prstGeom prst="rect">
            <a:avLst/>
          </a:prstGeom>
          <a:noFill/>
          <a:ln/>
        </p:spPr>
        <p:txBody>
          <a:bodyPr wrap="square" lIns="0" tIns="0" rIns="0" bIns="0" rtlCol="0" anchor="ctr"/>
          <a:lstStyle/>
          <a:p>
            <a:pPr indent="0" marL="0">
              <a:buNone/>
            </a:pPr>
            <a:r>
              <a:rPr lang="en-US" sz="1400" dirty="0">
                <a:solidFill>
                  <a:schemeClr val="tx1"/>
                </a:solidFill>
              </a:rPr>
              <a:t>Ergebnis  </a:t>
            </a:r>
            <a:pPr indent="0" marL="0">
              <a:buNone/>
            </a:pPr>
            <a:r>
              <a:rPr lang="en-US" sz="2200" b="1" dirty="0">
                <a:solidFill>
                  <a:srgbClr val="8A4A12"/>
                </a:solidFill>
                <a:latin typeface="Cambria" pitchFamily="34" charset="0"/>
                <a:ea typeface="Cambria" pitchFamily="34" charset="-122"/>
                <a:cs typeface="Cambria" pitchFamily="34" charset="-120"/>
              </a:rPr>
              <a:t>−35.050 €</a:t>
            </a:r>
            <a:endParaRPr lang="en-US" sz="1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So haben wir ausgewertet: zwei Kennzahlen</a:t>
            </a:r>
            <a:endParaRPr lang="en-US" sz="3600" dirty="0"/>
          </a:p>
        </p:txBody>
      </p:sp>
      <p:sp>
        <p:nvSpPr>
          <p:cNvPr id="3" name="Kapitelpunkt Einleitung"/>
          <p:cNvSpPr/>
          <p:nvPr/>
        </p:nvSpPr>
        <p:spPr>
          <a:xfrm>
            <a:off x="640080" y="6437376"/>
            <a:ext cx="109728" cy="109728"/>
          </a:xfrm>
          <a:prstGeom prst="ellipse">
            <a:avLst/>
          </a:prstGeom>
          <a:solidFill>
            <a:schemeClr val="accent5"/>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5"/>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2"/>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sp>
        <p:nvSpPr>
          <p:cNvPr id="14" name="Kennzahl Wirtschaftlichkeit"/>
          <p:cNvSpPr/>
          <p:nvPr/>
        </p:nvSpPr>
        <p:spPr>
          <a:xfrm>
            <a:off x="640080" y="1417320"/>
            <a:ext cx="5349240" cy="4206240"/>
          </a:xfrm>
          <a:prstGeom prst="roundRect">
            <a:avLst>
              <a:gd name="adj" fmla="val 2609"/>
            </a:avLst>
          </a:prstGeom>
          <a:solidFill>
            <a:schemeClr val="bg2"/>
          </a:solidFill>
          <a:ln/>
        </p:spPr>
      </p:sp>
      <p:sp>
        <p:nvSpPr>
          <p:cNvPr id="15" name="Icon-Kreis FaBalanceScale"/>
          <p:cNvSpPr/>
          <p:nvPr/>
        </p:nvSpPr>
        <p:spPr>
          <a:xfrm>
            <a:off x="960120" y="1691640"/>
            <a:ext cx="731520" cy="731520"/>
          </a:xfrm>
          <a:prstGeom prst="ellipse">
            <a:avLst/>
          </a:prstGeom>
          <a:solidFill>
            <a:schemeClr val="accent1"/>
          </a:solidFill>
          <a:ln/>
        </p:spPr>
      </p:sp>
      <p:pic>
        <p:nvPicPr>
          <p:cNvPr id="16" name="Icon FaBalanceScale" descr="Symbol BalanceScale">    </p:cNvPr>
          <p:cNvPicPr>
            <a:picLocks noChangeAspect="1"/>
          </p:cNvPicPr>
          <p:nvPr/>
        </p:nvPicPr>
        <p:blipFill>
          <a:blip r:embed="rId1"/>
          <a:stretch>
            <a:fillRect/>
          </a:stretch>
        </p:blipFill>
        <p:spPr>
          <a:xfrm>
            <a:off x="1157630" y="1889150"/>
            <a:ext cx="336499" cy="336499"/>
          </a:xfrm>
          <a:prstGeom prst="rect">
            <a:avLst/>
          </a:prstGeom>
        </p:spPr>
      </p:pic>
      <p:sp>
        <p:nvSpPr>
          <p:cNvPr id="17" name="Text 13"/>
          <p:cNvSpPr txBox="1"/>
          <p:nvPr/>
        </p:nvSpPr>
        <p:spPr>
          <a:xfrm>
            <a:off x="1874520" y="1691640"/>
            <a:ext cx="3886200" cy="731520"/>
          </a:xfrm>
          <a:prstGeom prst="rect">
            <a:avLst/>
          </a:prstGeom>
          <a:noFill/>
          <a:ln/>
        </p:spPr>
        <p:txBody>
          <a:bodyPr wrap="square" lIns="0" tIns="0" rIns="0" bIns="0" rtlCol="0" anchor="ctr"/>
          <a:lstStyle/>
          <a:p>
            <a:pPr indent="0" marL="0">
              <a:buNone/>
            </a:pPr>
            <a:r>
              <a:rPr lang="en-US" sz="2600" b="1" dirty="0">
                <a:solidFill>
                  <a:schemeClr val="tx2"/>
                </a:solidFill>
                <a:latin typeface="Cambria" pitchFamily="34" charset="0"/>
                <a:ea typeface="Cambria" pitchFamily="34" charset="-122"/>
                <a:cs typeface="Cambria" pitchFamily="34" charset="-120"/>
              </a:rPr>
              <a:t>Wirtschaftlichkeit</a:t>
            </a:r>
            <a:endParaRPr lang="en-US" sz="2600" dirty="0"/>
          </a:p>
        </p:txBody>
      </p:sp>
      <p:sp>
        <p:nvSpPr>
          <p:cNvPr id="18" name="Text 14"/>
          <p:cNvSpPr txBox="1"/>
          <p:nvPr/>
        </p:nvSpPr>
        <p:spPr>
          <a:xfrm>
            <a:off x="960120" y="2697480"/>
            <a:ext cx="4709160" cy="548640"/>
          </a:xfrm>
          <a:prstGeom prst="rect">
            <a:avLst/>
          </a:prstGeom>
          <a:noFill/>
          <a:ln/>
        </p:spPr>
        <p:txBody>
          <a:bodyPr wrap="square" lIns="0" tIns="0" rIns="0" bIns="0" rtlCol="0" anchor="ctr"/>
          <a:lstStyle/>
          <a:p>
            <a:pPr indent="0" marL="0">
              <a:buNone/>
            </a:pPr>
            <a:r>
              <a:rPr lang="en-US" sz="2200" b="1" dirty="0">
                <a:solidFill>
                  <a:schemeClr val="tx1"/>
                </a:solidFill>
              </a:rPr>
              <a:t>Umsatzerlöse ÷ Kosten</a:t>
            </a:r>
            <a:endParaRPr lang="en-US" sz="2200" dirty="0"/>
          </a:p>
        </p:txBody>
      </p:sp>
      <p:sp>
        <p:nvSpPr>
          <p:cNvPr id="19" name="Text 15"/>
          <p:cNvSpPr txBox="1"/>
          <p:nvPr/>
        </p:nvSpPr>
        <p:spPr>
          <a:xfrm>
            <a:off x="960120" y="3383280"/>
            <a:ext cx="4709160" cy="320040"/>
          </a:xfrm>
          <a:prstGeom prst="rect">
            <a:avLst/>
          </a:prstGeom>
          <a:noFill/>
          <a:ln/>
        </p:spPr>
        <p:txBody>
          <a:bodyPr wrap="square" lIns="0" tIns="0" rIns="0" bIns="0" rtlCol="0" anchor="ctr"/>
          <a:lstStyle/>
          <a:p>
            <a:pPr indent="0" marL="0">
              <a:buNone/>
            </a:pPr>
            <a:r>
              <a:rPr lang="en-US" sz="1400" b="1" dirty="0">
                <a:solidFill>
                  <a:schemeClr val="accent2"/>
                </a:solidFill>
              </a:rPr>
              <a:t>Beispiel Runde 3</a:t>
            </a:r>
            <a:endParaRPr lang="en-US" sz="1400" dirty="0"/>
          </a:p>
        </p:txBody>
      </p:sp>
      <p:sp>
        <p:nvSpPr>
          <p:cNvPr id="20" name="Text 16"/>
          <p:cNvSpPr txBox="1"/>
          <p:nvPr/>
        </p:nvSpPr>
        <p:spPr>
          <a:xfrm>
            <a:off x="960120" y="3703320"/>
            <a:ext cx="4709160" cy="548640"/>
          </a:xfrm>
          <a:prstGeom prst="rect">
            <a:avLst/>
          </a:prstGeom>
          <a:noFill/>
          <a:ln/>
        </p:spPr>
        <p:txBody>
          <a:bodyPr wrap="square" lIns="0" tIns="0" rIns="0" bIns="0" rtlCol="0" anchor="ctr"/>
          <a:lstStyle/>
          <a:p>
            <a:pPr indent="0" marL="0">
              <a:buNone/>
            </a:pPr>
            <a:r>
              <a:rPr lang="en-US" sz="2400" dirty="0">
                <a:solidFill>
                  <a:schemeClr val="tx2"/>
                </a:solidFill>
                <a:latin typeface="Cambria" pitchFamily="34" charset="0"/>
                <a:ea typeface="Cambria" pitchFamily="34" charset="-122"/>
                <a:cs typeface="Cambria" pitchFamily="34" charset="-120"/>
              </a:rPr>
              <a:t>79.940 € ÷ 54.000 € = 1,48</a:t>
            </a:r>
            <a:endParaRPr lang="en-US" sz="2400" dirty="0"/>
          </a:p>
        </p:txBody>
      </p:sp>
      <p:sp>
        <p:nvSpPr>
          <p:cNvPr id="21" name="Text 17"/>
          <p:cNvSpPr txBox="1"/>
          <p:nvPr/>
        </p:nvSpPr>
        <p:spPr>
          <a:xfrm>
            <a:off x="960120" y="4389120"/>
            <a:ext cx="4709160" cy="1005840"/>
          </a:xfrm>
          <a:prstGeom prst="rect">
            <a:avLst/>
          </a:prstGeom>
          <a:noFill/>
          <a:ln/>
        </p:spPr>
        <p:txBody>
          <a:bodyPr wrap="square" lIns="0" tIns="0" rIns="0" bIns="0" rtlCol="0" anchor="t"/>
          <a:lstStyle/>
          <a:p>
            <a:pPr indent="0" marL="0">
              <a:buNone/>
            </a:pPr>
            <a:r>
              <a:rPr lang="en-US" sz="1600" dirty="0">
                <a:solidFill>
                  <a:schemeClr val="tx1"/>
                </a:solidFill>
              </a:rPr>
              <a:t>Über 1 = Gewinn. Zeigt, ob der Umsatz die Kosten einer Runde deckt.</a:t>
            </a:r>
            <a:endParaRPr lang="en-US" sz="1600" dirty="0"/>
          </a:p>
        </p:txBody>
      </p:sp>
      <p:sp>
        <p:nvSpPr>
          <p:cNvPr id="22" name="Kennzahl Absatzquote"/>
          <p:cNvSpPr/>
          <p:nvPr/>
        </p:nvSpPr>
        <p:spPr>
          <a:xfrm>
            <a:off x="6172200" y="1417320"/>
            <a:ext cx="5349240" cy="4206240"/>
          </a:xfrm>
          <a:prstGeom prst="roundRect">
            <a:avLst>
              <a:gd name="adj" fmla="val 2609"/>
            </a:avLst>
          </a:prstGeom>
          <a:solidFill>
            <a:schemeClr val="bg2"/>
          </a:solidFill>
          <a:ln/>
        </p:spPr>
      </p:sp>
      <p:sp>
        <p:nvSpPr>
          <p:cNvPr id="23" name="Icon-Kreis FaChartLine"/>
          <p:cNvSpPr/>
          <p:nvPr/>
        </p:nvSpPr>
        <p:spPr>
          <a:xfrm>
            <a:off x="6492240" y="1691640"/>
            <a:ext cx="731520" cy="731520"/>
          </a:xfrm>
          <a:prstGeom prst="ellipse">
            <a:avLst/>
          </a:prstGeom>
          <a:solidFill>
            <a:schemeClr val="accent2"/>
          </a:solidFill>
          <a:ln/>
        </p:spPr>
      </p:sp>
      <p:pic>
        <p:nvPicPr>
          <p:cNvPr id="24" name="Icon FaChartLine" descr="Symbol ChartLine">    </p:cNvPr>
          <p:cNvPicPr>
            <a:picLocks noChangeAspect="1"/>
          </p:cNvPicPr>
          <p:nvPr/>
        </p:nvPicPr>
        <p:blipFill>
          <a:blip r:embed="rId2"/>
          <a:stretch>
            <a:fillRect/>
          </a:stretch>
        </p:blipFill>
        <p:spPr>
          <a:xfrm>
            <a:off x="6689750" y="1889150"/>
            <a:ext cx="336499" cy="336499"/>
          </a:xfrm>
          <a:prstGeom prst="rect">
            <a:avLst/>
          </a:prstGeom>
        </p:spPr>
      </p:pic>
      <p:sp>
        <p:nvSpPr>
          <p:cNvPr id="25" name="Text 20"/>
          <p:cNvSpPr txBox="1"/>
          <p:nvPr/>
        </p:nvSpPr>
        <p:spPr>
          <a:xfrm>
            <a:off x="7406640" y="1691640"/>
            <a:ext cx="3886200" cy="731520"/>
          </a:xfrm>
          <a:prstGeom prst="rect">
            <a:avLst/>
          </a:prstGeom>
          <a:noFill/>
          <a:ln/>
        </p:spPr>
        <p:txBody>
          <a:bodyPr wrap="square" lIns="0" tIns="0" rIns="0" bIns="0" rtlCol="0" anchor="ctr"/>
          <a:lstStyle/>
          <a:p>
            <a:pPr indent="0" marL="0">
              <a:buNone/>
            </a:pPr>
            <a:r>
              <a:rPr lang="en-US" sz="2600" b="1" dirty="0">
                <a:solidFill>
                  <a:schemeClr val="tx2"/>
                </a:solidFill>
                <a:latin typeface="Cambria" pitchFamily="34" charset="0"/>
                <a:ea typeface="Cambria" pitchFamily="34" charset="-122"/>
                <a:cs typeface="Cambria" pitchFamily="34" charset="-120"/>
              </a:rPr>
              <a:t>Absatzquote</a:t>
            </a:r>
            <a:endParaRPr lang="en-US" sz="2600" dirty="0"/>
          </a:p>
        </p:txBody>
      </p:sp>
      <p:sp>
        <p:nvSpPr>
          <p:cNvPr id="26" name="Text 21"/>
          <p:cNvSpPr txBox="1"/>
          <p:nvPr/>
        </p:nvSpPr>
        <p:spPr>
          <a:xfrm>
            <a:off x="6492240" y="2697480"/>
            <a:ext cx="4709160" cy="548640"/>
          </a:xfrm>
          <a:prstGeom prst="rect">
            <a:avLst/>
          </a:prstGeom>
          <a:noFill/>
          <a:ln/>
        </p:spPr>
        <p:txBody>
          <a:bodyPr wrap="square" lIns="0" tIns="0" rIns="0" bIns="0" rtlCol="0" anchor="ctr"/>
          <a:lstStyle/>
          <a:p>
            <a:pPr indent="0" marL="0">
              <a:buNone/>
            </a:pPr>
            <a:r>
              <a:rPr lang="en-US" sz="2200" b="1" dirty="0">
                <a:solidFill>
                  <a:schemeClr val="tx1"/>
                </a:solidFill>
              </a:rPr>
              <a:t>am Markt verkauft ÷ produziert</a:t>
            </a:r>
            <a:endParaRPr lang="en-US" sz="2200" dirty="0"/>
          </a:p>
        </p:txBody>
      </p:sp>
      <p:sp>
        <p:nvSpPr>
          <p:cNvPr id="27" name="Text 22"/>
          <p:cNvSpPr txBox="1"/>
          <p:nvPr/>
        </p:nvSpPr>
        <p:spPr>
          <a:xfrm>
            <a:off x="6492240" y="3383280"/>
            <a:ext cx="4709160" cy="320040"/>
          </a:xfrm>
          <a:prstGeom prst="rect">
            <a:avLst/>
          </a:prstGeom>
          <a:noFill/>
          <a:ln/>
        </p:spPr>
        <p:txBody>
          <a:bodyPr wrap="square" lIns="0" tIns="0" rIns="0" bIns="0" rtlCol="0" anchor="ctr"/>
          <a:lstStyle/>
          <a:p>
            <a:pPr indent="0" marL="0">
              <a:buNone/>
            </a:pPr>
            <a:r>
              <a:rPr lang="en-US" sz="1400" b="1" dirty="0">
                <a:solidFill>
                  <a:schemeClr val="accent2"/>
                </a:solidFill>
              </a:rPr>
              <a:t>Beispiel Runde 3</a:t>
            </a:r>
            <a:endParaRPr lang="en-US" sz="1400" dirty="0"/>
          </a:p>
        </p:txBody>
      </p:sp>
      <p:sp>
        <p:nvSpPr>
          <p:cNvPr id="28" name="Text 23"/>
          <p:cNvSpPr txBox="1"/>
          <p:nvPr/>
        </p:nvSpPr>
        <p:spPr>
          <a:xfrm>
            <a:off x="6492240" y="3703320"/>
            <a:ext cx="4709160" cy="548640"/>
          </a:xfrm>
          <a:prstGeom prst="rect">
            <a:avLst/>
          </a:prstGeom>
          <a:noFill/>
          <a:ln/>
        </p:spPr>
        <p:txBody>
          <a:bodyPr wrap="square" lIns="0" tIns="0" rIns="0" bIns="0" rtlCol="0" anchor="ctr"/>
          <a:lstStyle/>
          <a:p>
            <a:pPr indent="0" marL="0">
              <a:buNone/>
            </a:pPr>
            <a:r>
              <a:rPr lang="en-US" sz="2400" dirty="0">
                <a:solidFill>
                  <a:schemeClr val="tx2"/>
                </a:solidFill>
                <a:latin typeface="Cambria" pitchFamily="34" charset="0"/>
                <a:ea typeface="Cambria" pitchFamily="34" charset="-122"/>
                <a:cs typeface="Cambria" pitchFamily="34" charset="-120"/>
              </a:rPr>
              <a:t>12,6 ÷ 18 Paletten = 70 %</a:t>
            </a:r>
            <a:endParaRPr lang="en-US" sz="2400" dirty="0"/>
          </a:p>
        </p:txBody>
      </p:sp>
      <p:sp>
        <p:nvSpPr>
          <p:cNvPr id="29" name="Text 24"/>
          <p:cNvSpPr txBox="1"/>
          <p:nvPr/>
        </p:nvSpPr>
        <p:spPr>
          <a:xfrm>
            <a:off x="6492240" y="4389120"/>
            <a:ext cx="4709160" cy="1005840"/>
          </a:xfrm>
          <a:prstGeom prst="rect">
            <a:avLst/>
          </a:prstGeom>
          <a:noFill/>
          <a:ln/>
        </p:spPr>
        <p:txBody>
          <a:bodyPr wrap="square" lIns="0" tIns="0" rIns="0" bIns="0" rtlCol="0" anchor="t"/>
          <a:lstStyle/>
          <a:p>
            <a:pPr indent="0" marL="0">
              <a:buNone/>
            </a:pPr>
            <a:r>
              <a:rPr lang="en-US" sz="1600" dirty="0">
                <a:solidFill>
                  <a:schemeClr val="tx1"/>
                </a:solidFill>
              </a:rPr>
              <a:t>Zeigt, ob unser Preis zum Markt gepasst hat.</a:t>
            </a:r>
            <a:endParaRPr lang="en-US" sz="1600" dirty="0"/>
          </a:p>
        </p:txBody>
      </p:sp>
      <p:sp>
        <p:nvSpPr>
          <p:cNvPr id="30" name="Text 25"/>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400" i="1" dirty="0">
                <a:solidFill>
                  <a:schemeClr val="accent4"/>
                </a:solidFill>
              </a:rPr>
              <a:t>Alle Werte je Runde: Auswertungsbogen M15 und Anhang</a:t>
            </a:r>
            <a:endParaRPr lang="en-US" sz="1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Wirtschaftlichkeit und Schlussbestand</a:t>
            </a:r>
            <a:endParaRPr lang="en-US" sz="3600" dirty="0"/>
          </a:p>
        </p:txBody>
      </p:sp>
      <p:sp>
        <p:nvSpPr>
          <p:cNvPr id="3" name="Kapitelpunkt Einleitung"/>
          <p:cNvSpPr/>
          <p:nvPr/>
        </p:nvSpPr>
        <p:spPr>
          <a:xfrm>
            <a:off x="640080" y="6437376"/>
            <a:ext cx="109728" cy="109728"/>
          </a:xfrm>
          <a:prstGeom prst="ellipse">
            <a:avLst/>
          </a:prstGeom>
          <a:solidFill>
            <a:schemeClr val="accent5"/>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5"/>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2"/>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graphicFrame>
        <p:nvGraphicFramePr>
          <p:cNvPr id="14" name="Chart 0" descr=""/>
          <p:cNvGraphicFramePr/>
          <p:nvPr/>
        </p:nvGraphicFramePr>
        <p:xfrm>
          <a:off x="640080" y="1371600"/>
          <a:ext cx="5486400" cy="416052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Chart 1" descr=""/>
          <p:cNvGraphicFramePr/>
          <p:nvPr/>
        </p:nvGraphicFramePr>
        <p:xfrm>
          <a:off x="6309360" y="1371600"/>
          <a:ext cx="5212080" cy="3246120"/>
        </p:xfrm>
        <a:graphic xmlns:a="http://schemas.openxmlformats.org/drawingml/2006/main">
          <a:graphicData uri="http://schemas.openxmlformats.org/drawingml/2006/chart">
            <c:chart xmlns:c="http://schemas.openxmlformats.org/drawingml/2006/chart" r:id="rId2"/>
          </a:graphicData>
        </a:graphic>
      </p:graphicFrame>
      <p:sp>
        <p:nvSpPr>
          <p:cNvPr id="16" name="Eckwert Start"/>
          <p:cNvSpPr/>
          <p:nvPr/>
        </p:nvSpPr>
        <p:spPr>
          <a:xfrm>
            <a:off x="6309360" y="4709160"/>
            <a:ext cx="1234440" cy="822960"/>
          </a:xfrm>
          <a:prstGeom prst="roundRect">
            <a:avLst>
              <a:gd name="adj" fmla="val 13333"/>
            </a:avLst>
          </a:prstGeom>
          <a:solidFill>
            <a:schemeClr val="bg2"/>
          </a:solidFill>
          <a:ln/>
        </p:spPr>
      </p:sp>
      <p:sp>
        <p:nvSpPr>
          <p:cNvPr id="17" name="Text 12"/>
          <p:cNvSpPr txBox="1"/>
          <p:nvPr/>
        </p:nvSpPr>
        <p:spPr>
          <a:xfrm>
            <a:off x="6355080" y="4709160"/>
            <a:ext cx="1143000" cy="822960"/>
          </a:xfrm>
          <a:prstGeom prst="rect">
            <a:avLst/>
          </a:prstGeom>
          <a:noFill/>
          <a:ln/>
        </p:spPr>
        <p:txBody>
          <a:bodyPr wrap="square" lIns="0" tIns="0" rIns="0" bIns="0" rtlCol="0" anchor="ctr"/>
          <a:lstStyle/>
          <a:p>
            <a:pPr algn="ctr" indent="0" marL="0">
              <a:buNone/>
            </a:pPr>
            <a:r>
              <a:rPr lang="en-US" sz="1500" b="1" dirty="0">
                <a:solidFill>
                  <a:schemeClr val="tx2"/>
                </a:solidFill>
              </a:rPr>
              <a:t>100.000 €</a:t>
            </a:r>
            <a:endParaRPr lang="en-US" sz="1500" dirty="0"/>
          </a:p>
          <a:p>
            <a:pPr algn="ctr" indent="0" marL="0">
              <a:buNone/>
            </a:pPr>
            <a:r>
              <a:rPr lang="en-US" sz="1100" dirty="0">
                <a:solidFill>
                  <a:schemeClr val="tx1"/>
                </a:solidFill>
              </a:rPr>
              <a:t>Start</a:t>
            </a:r>
            <a:endParaRPr lang="en-US" sz="1500" dirty="0"/>
          </a:p>
        </p:txBody>
      </p:sp>
      <p:sp>
        <p:nvSpPr>
          <p:cNvPr id="18" name="Eckwert Höchststand R3"/>
          <p:cNvSpPr/>
          <p:nvPr/>
        </p:nvSpPr>
        <p:spPr>
          <a:xfrm>
            <a:off x="7635240" y="4709160"/>
            <a:ext cx="1234440" cy="822960"/>
          </a:xfrm>
          <a:prstGeom prst="roundRect">
            <a:avLst>
              <a:gd name="adj" fmla="val 13333"/>
            </a:avLst>
          </a:prstGeom>
          <a:solidFill>
            <a:schemeClr val="bg2"/>
          </a:solidFill>
          <a:ln/>
        </p:spPr>
      </p:sp>
      <p:sp>
        <p:nvSpPr>
          <p:cNvPr id="19" name="Text 14"/>
          <p:cNvSpPr txBox="1"/>
          <p:nvPr/>
        </p:nvSpPr>
        <p:spPr>
          <a:xfrm>
            <a:off x="7680960" y="4709160"/>
            <a:ext cx="1143000" cy="822960"/>
          </a:xfrm>
          <a:prstGeom prst="rect">
            <a:avLst/>
          </a:prstGeom>
          <a:noFill/>
          <a:ln/>
        </p:spPr>
        <p:txBody>
          <a:bodyPr wrap="square" lIns="0" tIns="0" rIns="0" bIns="0" rtlCol="0" anchor="ctr"/>
          <a:lstStyle/>
          <a:p>
            <a:pPr algn="ctr" indent="0" marL="0">
              <a:buNone/>
            </a:pPr>
            <a:r>
              <a:rPr lang="en-US" sz="1500" b="1" dirty="0">
                <a:solidFill>
                  <a:srgbClr val="3D6610"/>
                </a:solidFill>
              </a:rPr>
              <a:t>82.840 €</a:t>
            </a:r>
            <a:endParaRPr lang="en-US" sz="1500" dirty="0"/>
          </a:p>
          <a:p>
            <a:pPr algn="ctr" indent="0" marL="0">
              <a:buNone/>
            </a:pPr>
            <a:r>
              <a:rPr lang="en-US" sz="1100" dirty="0">
                <a:solidFill>
                  <a:schemeClr val="tx1"/>
                </a:solidFill>
              </a:rPr>
              <a:t>Höchststand R3</a:t>
            </a:r>
            <a:endParaRPr lang="en-US" sz="1500" dirty="0"/>
          </a:p>
        </p:txBody>
      </p:sp>
      <p:sp>
        <p:nvSpPr>
          <p:cNvPr id="20" name="Eckwert Tiefpunkt R5"/>
          <p:cNvSpPr/>
          <p:nvPr/>
        </p:nvSpPr>
        <p:spPr>
          <a:xfrm>
            <a:off x="8961120" y="4709160"/>
            <a:ext cx="1234440" cy="822960"/>
          </a:xfrm>
          <a:prstGeom prst="roundRect">
            <a:avLst>
              <a:gd name="adj" fmla="val 13333"/>
            </a:avLst>
          </a:prstGeom>
          <a:solidFill>
            <a:schemeClr val="bg2"/>
          </a:solidFill>
          <a:ln/>
        </p:spPr>
      </p:sp>
      <p:sp>
        <p:nvSpPr>
          <p:cNvPr id="21" name="Text 16"/>
          <p:cNvSpPr txBox="1"/>
          <p:nvPr/>
        </p:nvSpPr>
        <p:spPr>
          <a:xfrm>
            <a:off x="9006840" y="4709160"/>
            <a:ext cx="1143000" cy="822960"/>
          </a:xfrm>
          <a:prstGeom prst="rect">
            <a:avLst/>
          </a:prstGeom>
          <a:noFill/>
          <a:ln/>
        </p:spPr>
        <p:txBody>
          <a:bodyPr wrap="square" lIns="0" tIns="0" rIns="0" bIns="0" rtlCol="0" anchor="ctr"/>
          <a:lstStyle/>
          <a:p>
            <a:pPr algn="ctr" indent="0" marL="0">
              <a:buNone/>
            </a:pPr>
            <a:r>
              <a:rPr lang="en-US" sz="1500" b="1" dirty="0">
                <a:solidFill>
                  <a:srgbClr val="8A4A12"/>
                </a:solidFill>
              </a:rPr>
              <a:t>47.790 €</a:t>
            </a:r>
            <a:endParaRPr lang="en-US" sz="1500" dirty="0"/>
          </a:p>
          <a:p>
            <a:pPr algn="ctr" indent="0" marL="0">
              <a:buNone/>
            </a:pPr>
            <a:r>
              <a:rPr lang="en-US" sz="1100" dirty="0">
                <a:solidFill>
                  <a:schemeClr val="tx1"/>
                </a:solidFill>
              </a:rPr>
              <a:t>Tiefpunkt R5</a:t>
            </a:r>
            <a:endParaRPr lang="en-US" sz="1500" dirty="0"/>
          </a:p>
        </p:txBody>
      </p:sp>
      <p:sp>
        <p:nvSpPr>
          <p:cNvPr id="22" name="Eckwert Ende R6"/>
          <p:cNvSpPr/>
          <p:nvPr/>
        </p:nvSpPr>
        <p:spPr>
          <a:xfrm>
            <a:off x="10287000" y="4709160"/>
            <a:ext cx="1234440" cy="822960"/>
          </a:xfrm>
          <a:prstGeom prst="roundRect">
            <a:avLst>
              <a:gd name="adj" fmla="val 13333"/>
            </a:avLst>
          </a:prstGeom>
          <a:solidFill>
            <a:schemeClr val="bg2"/>
          </a:solidFill>
          <a:ln/>
        </p:spPr>
      </p:sp>
      <p:sp>
        <p:nvSpPr>
          <p:cNvPr id="23" name="Text 18"/>
          <p:cNvSpPr txBox="1"/>
          <p:nvPr/>
        </p:nvSpPr>
        <p:spPr>
          <a:xfrm>
            <a:off x="10332720" y="4709160"/>
            <a:ext cx="1143000" cy="822960"/>
          </a:xfrm>
          <a:prstGeom prst="rect">
            <a:avLst/>
          </a:prstGeom>
          <a:noFill/>
          <a:ln/>
        </p:spPr>
        <p:txBody>
          <a:bodyPr wrap="square" lIns="0" tIns="0" rIns="0" bIns="0" rtlCol="0" anchor="ctr"/>
          <a:lstStyle/>
          <a:p>
            <a:pPr algn="ctr" indent="0" marL="0">
              <a:buNone/>
            </a:pPr>
            <a:r>
              <a:rPr lang="en-US" sz="1500" b="1" dirty="0">
                <a:solidFill>
                  <a:schemeClr val="accent2"/>
                </a:solidFill>
              </a:rPr>
              <a:t>53.770 €</a:t>
            </a:r>
            <a:endParaRPr lang="en-US" sz="1500" dirty="0"/>
          </a:p>
          <a:p>
            <a:pPr algn="ctr" indent="0" marL="0">
              <a:buNone/>
            </a:pPr>
            <a:r>
              <a:rPr lang="en-US" sz="1100" dirty="0">
                <a:solidFill>
                  <a:schemeClr val="tx1"/>
                </a:solidFill>
              </a:rPr>
              <a:t>Ende R6</a:t>
            </a:r>
            <a:endParaRPr lang="en-US" sz="1500" dirty="0"/>
          </a:p>
        </p:txBody>
      </p:sp>
      <p:sp>
        <p:nvSpPr>
          <p:cNvPr id="24" name="Kernaussage"/>
          <p:cNvSpPr/>
          <p:nvPr/>
        </p:nvSpPr>
        <p:spPr>
          <a:xfrm>
            <a:off x="640080" y="5669280"/>
            <a:ext cx="10881360" cy="548640"/>
          </a:xfrm>
          <a:prstGeom prst="roundRect">
            <a:avLst>
              <a:gd name="adj" fmla="val 20000"/>
            </a:avLst>
          </a:prstGeom>
          <a:solidFill>
            <a:schemeClr val="bg2"/>
          </a:solidFill>
          <a:ln/>
        </p:spPr>
      </p:sp>
      <p:sp>
        <p:nvSpPr>
          <p:cNvPr id="25" name="Text 20"/>
          <p:cNvSpPr txBox="1"/>
          <p:nvPr/>
        </p:nvSpPr>
        <p:spPr>
          <a:xfrm>
            <a:off x="868680" y="5669280"/>
            <a:ext cx="10424160" cy="548640"/>
          </a:xfrm>
          <a:prstGeom prst="rect">
            <a:avLst/>
          </a:prstGeom>
          <a:noFill/>
          <a:ln/>
        </p:spPr>
        <p:txBody>
          <a:bodyPr wrap="square" lIns="0" tIns="0" rIns="0" bIns="0" rtlCol="0" anchor="ctr"/>
          <a:lstStyle/>
          <a:p>
            <a:pPr indent="0" marL="0">
              <a:buNone/>
            </a:pPr>
            <a:r>
              <a:rPr lang="en-US" sz="1600" b="1" dirty="0">
                <a:solidFill>
                  <a:schemeClr val="accent2"/>
                </a:solidFill>
              </a:rPr>
              <a:t>Kernaussage: </a:t>
            </a:r>
            <a:pPr indent="0" marL="0">
              <a:buNone/>
            </a:pPr>
            <a:r>
              <a:rPr lang="en-US" sz="1600" dirty="0">
                <a:solidFill>
                  <a:schemeClr val="tx1"/>
                </a:solidFill>
              </a:rPr>
              <a:t>Nur 2 von 6 Runden über 1 – gesamt 0,84 (240.270 € Umsatz ÷ 286.500 € Kosten).</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Was unser Unternehmen am Ende wert ist</a:t>
            </a:r>
            <a:endParaRPr lang="en-US" sz="3600" dirty="0"/>
          </a:p>
        </p:txBody>
      </p:sp>
      <p:sp>
        <p:nvSpPr>
          <p:cNvPr id="3" name="Kapitelpunkt Einleitung"/>
          <p:cNvSpPr/>
          <p:nvPr/>
        </p:nvSpPr>
        <p:spPr>
          <a:xfrm>
            <a:off x="640080" y="6437376"/>
            <a:ext cx="109728" cy="109728"/>
          </a:xfrm>
          <a:prstGeom prst="ellipse">
            <a:avLst/>
          </a:prstGeom>
          <a:solidFill>
            <a:schemeClr val="accent5"/>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5"/>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2"/>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sp>
        <p:nvSpPr>
          <p:cNvPr id="14" name="Baustein Schlussbestand nach R6"/>
          <p:cNvSpPr/>
          <p:nvPr/>
        </p:nvSpPr>
        <p:spPr>
          <a:xfrm>
            <a:off x="640080" y="1463040"/>
            <a:ext cx="2331720" cy="2514600"/>
          </a:xfrm>
          <a:prstGeom prst="roundRect">
            <a:avLst>
              <a:gd name="adj" fmla="val 4706"/>
            </a:avLst>
          </a:prstGeom>
          <a:solidFill>
            <a:schemeClr val="bg2"/>
          </a:solidFill>
          <a:ln/>
        </p:spPr>
      </p:sp>
      <p:sp>
        <p:nvSpPr>
          <p:cNvPr id="15" name="Icon-Kreis FaCoins"/>
          <p:cNvSpPr/>
          <p:nvPr/>
        </p:nvSpPr>
        <p:spPr>
          <a:xfrm>
            <a:off x="1440180" y="1691640"/>
            <a:ext cx="731520" cy="731520"/>
          </a:xfrm>
          <a:prstGeom prst="ellipse">
            <a:avLst/>
          </a:prstGeom>
          <a:solidFill>
            <a:schemeClr val="accent1"/>
          </a:solidFill>
          <a:ln/>
        </p:spPr>
      </p:sp>
      <p:pic>
        <p:nvPicPr>
          <p:cNvPr id="16" name="Icon FaCoins" descr="Symbol Coins">    </p:cNvPr>
          <p:cNvPicPr>
            <a:picLocks noChangeAspect="1"/>
          </p:cNvPicPr>
          <p:nvPr/>
        </p:nvPicPr>
        <p:blipFill>
          <a:blip r:embed="rId1"/>
          <a:stretch>
            <a:fillRect/>
          </a:stretch>
        </p:blipFill>
        <p:spPr>
          <a:xfrm>
            <a:off x="1637690" y="1889150"/>
            <a:ext cx="336499" cy="336499"/>
          </a:xfrm>
          <a:prstGeom prst="rect">
            <a:avLst/>
          </a:prstGeom>
        </p:spPr>
      </p:pic>
      <p:sp>
        <p:nvSpPr>
          <p:cNvPr id="17" name="Text 13"/>
          <p:cNvSpPr txBox="1"/>
          <p:nvPr/>
        </p:nvSpPr>
        <p:spPr>
          <a:xfrm>
            <a:off x="640080" y="2514600"/>
            <a:ext cx="233172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Cambria" pitchFamily="34" charset="0"/>
                <a:ea typeface="Cambria" pitchFamily="34" charset="-122"/>
                <a:cs typeface="Cambria" pitchFamily="34" charset="-120"/>
              </a:rPr>
              <a:t>53.770 €</a:t>
            </a:r>
            <a:endParaRPr lang="en-US" sz="3000" dirty="0"/>
          </a:p>
        </p:txBody>
      </p:sp>
      <p:sp>
        <p:nvSpPr>
          <p:cNvPr id="18" name="Text 14"/>
          <p:cNvSpPr txBox="1"/>
          <p:nvPr/>
        </p:nvSpPr>
        <p:spPr>
          <a:xfrm>
            <a:off x="777240" y="3154680"/>
            <a:ext cx="2057400" cy="640080"/>
          </a:xfrm>
          <a:prstGeom prst="rect">
            <a:avLst/>
          </a:prstGeom>
          <a:noFill/>
          <a:ln/>
        </p:spPr>
        <p:txBody>
          <a:bodyPr wrap="square" lIns="0" tIns="0" rIns="0" bIns="0" rtlCol="0" anchor="ctr"/>
          <a:lstStyle/>
          <a:p>
            <a:pPr algn="ctr" indent="0" marL="0">
              <a:buNone/>
            </a:pPr>
            <a:r>
              <a:rPr lang="en-US" sz="1400" dirty="0">
                <a:solidFill>
                  <a:schemeClr val="tx1"/>
                </a:solidFill>
              </a:rPr>
              <a:t>Schlussbestand nach R6</a:t>
            </a:r>
            <a:endParaRPr lang="en-US" sz="1400" dirty="0"/>
          </a:p>
        </p:txBody>
      </p:sp>
      <p:sp>
        <p:nvSpPr>
          <p:cNvPr id="19" name="Text 15"/>
          <p:cNvSpPr txBox="1"/>
          <p:nvPr/>
        </p:nvSpPr>
        <p:spPr>
          <a:xfrm>
            <a:off x="2971800" y="2286000"/>
            <a:ext cx="502920" cy="731520"/>
          </a:xfrm>
          <a:prstGeom prst="rect">
            <a:avLst/>
          </a:prstGeom>
          <a:noFill/>
          <a:ln/>
        </p:spPr>
        <p:txBody>
          <a:bodyPr wrap="square" lIns="0" tIns="0" rIns="0" bIns="0" rtlCol="0" anchor="ctr"/>
          <a:lstStyle/>
          <a:p>
            <a:pPr algn="ctr" indent="0" marL="0">
              <a:buNone/>
            </a:pPr>
            <a:r>
              <a:rPr lang="en-US" sz="3600" b="1" dirty="0">
                <a:solidFill>
                  <a:schemeClr val="accent2"/>
                </a:solidFill>
              </a:rPr>
              <a:t>+</a:t>
            </a:r>
            <a:endParaRPr lang="en-US" sz="3600" dirty="0"/>
          </a:p>
        </p:txBody>
      </p:sp>
      <p:sp>
        <p:nvSpPr>
          <p:cNvPr id="20" name="Baustein Maschine 1 (6 Runden genutzt)"/>
          <p:cNvSpPr/>
          <p:nvPr/>
        </p:nvSpPr>
        <p:spPr>
          <a:xfrm>
            <a:off x="3474720" y="1463040"/>
            <a:ext cx="2331720" cy="2514600"/>
          </a:xfrm>
          <a:prstGeom prst="roundRect">
            <a:avLst>
              <a:gd name="adj" fmla="val 4706"/>
            </a:avLst>
          </a:prstGeom>
          <a:solidFill>
            <a:schemeClr val="bg2"/>
          </a:solidFill>
          <a:ln/>
        </p:spPr>
      </p:sp>
      <p:sp>
        <p:nvSpPr>
          <p:cNvPr id="21" name="Icon-Kreis FaCogs"/>
          <p:cNvSpPr/>
          <p:nvPr/>
        </p:nvSpPr>
        <p:spPr>
          <a:xfrm>
            <a:off x="4274820" y="1691640"/>
            <a:ext cx="731520" cy="731520"/>
          </a:xfrm>
          <a:prstGeom prst="ellipse">
            <a:avLst/>
          </a:prstGeom>
          <a:solidFill>
            <a:schemeClr val="accent1"/>
          </a:solidFill>
          <a:ln/>
        </p:spPr>
      </p:sp>
      <p:pic>
        <p:nvPicPr>
          <p:cNvPr id="22" name="Icon FaCogs" descr="Symbol Cogs">    </p:cNvPr>
          <p:cNvPicPr>
            <a:picLocks noChangeAspect="1"/>
          </p:cNvPicPr>
          <p:nvPr/>
        </p:nvPicPr>
        <p:blipFill>
          <a:blip r:embed="rId2"/>
          <a:stretch>
            <a:fillRect/>
          </a:stretch>
        </p:blipFill>
        <p:spPr>
          <a:xfrm>
            <a:off x="4472330" y="1889150"/>
            <a:ext cx="336499" cy="336499"/>
          </a:xfrm>
          <a:prstGeom prst="rect">
            <a:avLst/>
          </a:prstGeom>
        </p:spPr>
      </p:pic>
      <p:sp>
        <p:nvSpPr>
          <p:cNvPr id="23" name="Text 18"/>
          <p:cNvSpPr txBox="1"/>
          <p:nvPr/>
        </p:nvSpPr>
        <p:spPr>
          <a:xfrm>
            <a:off x="3474720" y="2514600"/>
            <a:ext cx="233172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Cambria" pitchFamily="34" charset="0"/>
                <a:ea typeface="Cambria" pitchFamily="34" charset="-122"/>
                <a:cs typeface="Cambria" pitchFamily="34" charset="-120"/>
              </a:rPr>
              <a:t>12.000 €</a:t>
            </a:r>
            <a:endParaRPr lang="en-US" sz="3000" dirty="0"/>
          </a:p>
        </p:txBody>
      </p:sp>
      <p:sp>
        <p:nvSpPr>
          <p:cNvPr id="24" name="Text 19"/>
          <p:cNvSpPr txBox="1"/>
          <p:nvPr/>
        </p:nvSpPr>
        <p:spPr>
          <a:xfrm>
            <a:off x="3611880" y="3154680"/>
            <a:ext cx="2057400" cy="640080"/>
          </a:xfrm>
          <a:prstGeom prst="rect">
            <a:avLst/>
          </a:prstGeom>
          <a:noFill/>
          <a:ln/>
        </p:spPr>
        <p:txBody>
          <a:bodyPr wrap="square" lIns="0" tIns="0" rIns="0" bIns="0" rtlCol="0" anchor="ctr"/>
          <a:lstStyle/>
          <a:p>
            <a:pPr algn="ctr" indent="0" marL="0">
              <a:buNone/>
            </a:pPr>
            <a:r>
              <a:rPr lang="en-US" sz="1400" dirty="0">
                <a:solidFill>
                  <a:schemeClr val="tx1"/>
                </a:solidFill>
              </a:rPr>
              <a:t>Maschine 1 (6 Runden genutzt)</a:t>
            </a:r>
            <a:endParaRPr lang="en-US" sz="1400" dirty="0"/>
          </a:p>
        </p:txBody>
      </p:sp>
      <p:sp>
        <p:nvSpPr>
          <p:cNvPr id="25" name="Text 20"/>
          <p:cNvSpPr txBox="1"/>
          <p:nvPr/>
        </p:nvSpPr>
        <p:spPr>
          <a:xfrm>
            <a:off x="5806440" y="2286000"/>
            <a:ext cx="502920" cy="731520"/>
          </a:xfrm>
          <a:prstGeom prst="rect">
            <a:avLst/>
          </a:prstGeom>
          <a:noFill/>
          <a:ln/>
        </p:spPr>
        <p:txBody>
          <a:bodyPr wrap="square" lIns="0" tIns="0" rIns="0" bIns="0" rtlCol="0" anchor="ctr"/>
          <a:lstStyle/>
          <a:p>
            <a:pPr algn="ctr" indent="0" marL="0">
              <a:buNone/>
            </a:pPr>
            <a:r>
              <a:rPr lang="en-US" sz="3600" b="1" dirty="0">
                <a:solidFill>
                  <a:schemeClr val="accent2"/>
                </a:solidFill>
              </a:rPr>
              <a:t>+</a:t>
            </a:r>
            <a:endParaRPr lang="en-US" sz="3600" dirty="0"/>
          </a:p>
        </p:txBody>
      </p:sp>
      <p:sp>
        <p:nvSpPr>
          <p:cNvPr id="26" name="Baustein Maschine 2 (4 Runden genutzt)"/>
          <p:cNvSpPr/>
          <p:nvPr/>
        </p:nvSpPr>
        <p:spPr>
          <a:xfrm>
            <a:off x="6309360" y="1463040"/>
            <a:ext cx="2331720" cy="2514600"/>
          </a:xfrm>
          <a:prstGeom prst="roundRect">
            <a:avLst>
              <a:gd name="adj" fmla="val 4706"/>
            </a:avLst>
          </a:prstGeom>
          <a:solidFill>
            <a:schemeClr val="bg2"/>
          </a:solidFill>
          <a:ln/>
        </p:spPr>
      </p:sp>
      <p:sp>
        <p:nvSpPr>
          <p:cNvPr id="27" name="Icon-Kreis FaCogs"/>
          <p:cNvSpPr/>
          <p:nvPr/>
        </p:nvSpPr>
        <p:spPr>
          <a:xfrm>
            <a:off x="7109460" y="1691640"/>
            <a:ext cx="731520" cy="731520"/>
          </a:xfrm>
          <a:prstGeom prst="ellipse">
            <a:avLst/>
          </a:prstGeom>
          <a:solidFill>
            <a:schemeClr val="accent1"/>
          </a:solidFill>
          <a:ln/>
        </p:spPr>
      </p:sp>
      <p:pic>
        <p:nvPicPr>
          <p:cNvPr id="28" name="Icon FaCogs" descr="Symbol Cogs">    </p:cNvPr>
          <p:cNvPicPr>
            <a:picLocks noChangeAspect="1"/>
          </p:cNvPicPr>
          <p:nvPr/>
        </p:nvPicPr>
        <p:blipFill>
          <a:blip r:embed="rId3"/>
          <a:stretch>
            <a:fillRect/>
          </a:stretch>
        </p:blipFill>
        <p:spPr>
          <a:xfrm>
            <a:off x="7306970" y="1889150"/>
            <a:ext cx="336499" cy="336499"/>
          </a:xfrm>
          <a:prstGeom prst="rect">
            <a:avLst/>
          </a:prstGeom>
        </p:spPr>
      </p:pic>
      <p:sp>
        <p:nvSpPr>
          <p:cNvPr id="29" name="Text 23"/>
          <p:cNvSpPr txBox="1"/>
          <p:nvPr/>
        </p:nvSpPr>
        <p:spPr>
          <a:xfrm>
            <a:off x="6309360" y="2514600"/>
            <a:ext cx="233172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Cambria" pitchFamily="34" charset="0"/>
                <a:ea typeface="Cambria" pitchFamily="34" charset="-122"/>
                <a:cs typeface="Cambria" pitchFamily="34" charset="-120"/>
              </a:rPr>
              <a:t>18.000 €</a:t>
            </a:r>
            <a:endParaRPr lang="en-US" sz="3000" dirty="0"/>
          </a:p>
        </p:txBody>
      </p:sp>
      <p:sp>
        <p:nvSpPr>
          <p:cNvPr id="30" name="Text 24"/>
          <p:cNvSpPr txBox="1"/>
          <p:nvPr/>
        </p:nvSpPr>
        <p:spPr>
          <a:xfrm>
            <a:off x="6446520" y="3154680"/>
            <a:ext cx="2057400" cy="640080"/>
          </a:xfrm>
          <a:prstGeom prst="rect">
            <a:avLst/>
          </a:prstGeom>
          <a:noFill/>
          <a:ln/>
        </p:spPr>
        <p:txBody>
          <a:bodyPr wrap="square" lIns="0" tIns="0" rIns="0" bIns="0" rtlCol="0" anchor="ctr"/>
          <a:lstStyle/>
          <a:p>
            <a:pPr algn="ctr" indent="0" marL="0">
              <a:buNone/>
            </a:pPr>
            <a:r>
              <a:rPr lang="en-US" sz="1400" dirty="0">
                <a:solidFill>
                  <a:schemeClr val="tx1"/>
                </a:solidFill>
              </a:rPr>
              <a:t>Maschine 2 (4 Runden genutzt)</a:t>
            </a:r>
            <a:endParaRPr lang="en-US" sz="1400" dirty="0"/>
          </a:p>
        </p:txBody>
      </p:sp>
      <p:sp>
        <p:nvSpPr>
          <p:cNvPr id="31" name="Text 25"/>
          <p:cNvSpPr txBox="1"/>
          <p:nvPr/>
        </p:nvSpPr>
        <p:spPr>
          <a:xfrm>
            <a:off x="8641080" y="2286000"/>
            <a:ext cx="502920" cy="731520"/>
          </a:xfrm>
          <a:prstGeom prst="rect">
            <a:avLst/>
          </a:prstGeom>
          <a:noFill/>
          <a:ln/>
        </p:spPr>
        <p:txBody>
          <a:bodyPr wrap="square" lIns="0" tIns="0" rIns="0" bIns="0" rtlCol="0" anchor="ctr"/>
          <a:lstStyle/>
          <a:p>
            <a:pPr algn="ctr" indent="0" marL="0">
              <a:buNone/>
            </a:pPr>
            <a:r>
              <a:rPr lang="en-US" sz="3600" b="1" dirty="0">
                <a:solidFill>
                  <a:schemeClr val="accent2"/>
                </a:solidFill>
              </a:rPr>
              <a:t>=</a:t>
            </a:r>
            <a:endParaRPr lang="en-US" sz="3600" dirty="0"/>
          </a:p>
        </p:txBody>
      </p:sp>
      <p:sp>
        <p:nvSpPr>
          <p:cNvPr id="32" name="Baustein Unternehmens­verkaufswert"/>
          <p:cNvSpPr/>
          <p:nvPr/>
        </p:nvSpPr>
        <p:spPr>
          <a:xfrm>
            <a:off x="9144000" y="1463040"/>
            <a:ext cx="2331720" cy="2514600"/>
          </a:xfrm>
          <a:prstGeom prst="roundRect">
            <a:avLst>
              <a:gd name="adj" fmla="val 4706"/>
            </a:avLst>
          </a:prstGeom>
          <a:solidFill>
            <a:schemeClr val="accent1"/>
          </a:solidFill>
          <a:ln/>
        </p:spPr>
      </p:sp>
      <p:sp>
        <p:nvSpPr>
          <p:cNvPr id="33" name="Icon-Kreis FaBuilding"/>
          <p:cNvSpPr/>
          <p:nvPr/>
        </p:nvSpPr>
        <p:spPr>
          <a:xfrm>
            <a:off x="9944100" y="1691640"/>
            <a:ext cx="731520" cy="731520"/>
          </a:xfrm>
          <a:prstGeom prst="ellipse">
            <a:avLst/>
          </a:prstGeom>
          <a:solidFill>
            <a:schemeClr val="accent2"/>
          </a:solidFill>
          <a:ln/>
        </p:spPr>
      </p:sp>
      <p:pic>
        <p:nvPicPr>
          <p:cNvPr id="34" name="Icon FaBuilding" descr="Symbol Building">    </p:cNvPr>
          <p:cNvPicPr>
            <a:picLocks noChangeAspect="1"/>
          </p:cNvPicPr>
          <p:nvPr/>
        </p:nvPicPr>
        <p:blipFill>
          <a:blip r:embed="rId4"/>
          <a:stretch>
            <a:fillRect/>
          </a:stretch>
        </p:blipFill>
        <p:spPr>
          <a:xfrm>
            <a:off x="10141610" y="1889150"/>
            <a:ext cx="336499" cy="336499"/>
          </a:xfrm>
          <a:prstGeom prst="rect">
            <a:avLst/>
          </a:prstGeom>
        </p:spPr>
      </p:pic>
      <p:sp>
        <p:nvSpPr>
          <p:cNvPr id="35" name="Text 28"/>
          <p:cNvSpPr txBox="1"/>
          <p:nvPr/>
        </p:nvSpPr>
        <p:spPr>
          <a:xfrm>
            <a:off x="9144000" y="2514600"/>
            <a:ext cx="233172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83.770 €</a:t>
            </a:r>
            <a:endParaRPr lang="en-US" sz="3000" dirty="0"/>
          </a:p>
        </p:txBody>
      </p:sp>
      <p:sp>
        <p:nvSpPr>
          <p:cNvPr id="36" name="Text 29"/>
          <p:cNvSpPr txBox="1"/>
          <p:nvPr/>
        </p:nvSpPr>
        <p:spPr>
          <a:xfrm>
            <a:off x="9281160" y="3154680"/>
            <a:ext cx="2057400" cy="640080"/>
          </a:xfrm>
          <a:prstGeom prst="rect">
            <a:avLst/>
          </a:prstGeom>
          <a:noFill/>
          <a:ln/>
        </p:spPr>
        <p:txBody>
          <a:bodyPr wrap="square" lIns="0" tIns="0" rIns="0" bIns="0" rtlCol="0" anchor="ctr"/>
          <a:lstStyle/>
          <a:p>
            <a:pPr algn="ctr" indent="0" marL="0">
              <a:buNone/>
            </a:pPr>
            <a:r>
              <a:rPr lang="en-US" sz="1400" dirty="0">
                <a:solidFill>
                  <a:schemeClr val="bg2"/>
                </a:solidFill>
              </a:rPr>
              <a:t>Unternehmens­verkaufswert</a:t>
            </a:r>
            <a:endParaRPr lang="en-US" sz="1400" dirty="0"/>
          </a:p>
        </p:txBody>
      </p:sp>
      <p:sp>
        <p:nvSpPr>
          <p:cNvPr id="37" name="Text 30"/>
          <p:cNvSpPr txBox="1"/>
          <p:nvPr/>
        </p:nvSpPr>
        <p:spPr>
          <a:xfrm>
            <a:off x="640080" y="4251960"/>
            <a:ext cx="5486400" cy="365760"/>
          </a:xfrm>
          <a:prstGeom prst="rect">
            <a:avLst/>
          </a:prstGeom>
          <a:noFill/>
          <a:ln/>
        </p:spPr>
        <p:txBody>
          <a:bodyPr wrap="square" lIns="0" tIns="0" rIns="0" bIns="0" rtlCol="0" anchor="ctr"/>
          <a:lstStyle/>
          <a:p>
            <a:pPr indent="0" marL="0">
              <a:buNone/>
            </a:pPr>
            <a:r>
              <a:rPr lang="en-US" sz="1800" b="1" dirty="0">
                <a:solidFill>
                  <a:schemeClr val="tx2"/>
                </a:solidFill>
              </a:rPr>
              <a:t>Vergleich mit dem Startkapital</a:t>
            </a:r>
            <a:endParaRPr lang="en-US" sz="1800" dirty="0"/>
          </a:p>
        </p:txBody>
      </p:sp>
      <p:sp>
        <p:nvSpPr>
          <p:cNvPr id="38" name="Text 31"/>
          <p:cNvSpPr txBox="1"/>
          <p:nvPr/>
        </p:nvSpPr>
        <p:spPr>
          <a:xfrm>
            <a:off x="640080" y="4709160"/>
            <a:ext cx="1554480" cy="411480"/>
          </a:xfrm>
          <a:prstGeom prst="rect">
            <a:avLst/>
          </a:prstGeom>
          <a:noFill/>
          <a:ln/>
        </p:spPr>
        <p:txBody>
          <a:bodyPr wrap="square" lIns="0" tIns="0" rIns="0" bIns="0" rtlCol="0" anchor="ctr"/>
          <a:lstStyle/>
          <a:p>
            <a:pPr indent="0" marL="0">
              <a:buNone/>
            </a:pPr>
            <a:r>
              <a:rPr lang="en-US" sz="1400" dirty="0">
                <a:solidFill>
                  <a:schemeClr val="tx1"/>
                </a:solidFill>
              </a:rPr>
              <a:t>Startkapital</a:t>
            </a:r>
            <a:endParaRPr lang="en-US" sz="1400" dirty="0"/>
          </a:p>
        </p:txBody>
      </p:sp>
      <p:sp>
        <p:nvSpPr>
          <p:cNvPr id="39" name="Balken Startkapital"/>
          <p:cNvSpPr/>
          <p:nvPr/>
        </p:nvSpPr>
        <p:spPr>
          <a:xfrm>
            <a:off x="2194560" y="4709160"/>
            <a:ext cx="8229600" cy="411480"/>
          </a:xfrm>
          <a:prstGeom prst="roundRect">
            <a:avLst>
              <a:gd name="adj" fmla="val 13333"/>
            </a:avLst>
          </a:prstGeom>
          <a:solidFill>
            <a:schemeClr val="accent5"/>
          </a:solidFill>
          <a:ln/>
        </p:spPr>
      </p:sp>
      <p:sp>
        <p:nvSpPr>
          <p:cNvPr id="40" name="Text 33"/>
          <p:cNvSpPr txBox="1"/>
          <p:nvPr/>
        </p:nvSpPr>
        <p:spPr>
          <a:xfrm>
            <a:off x="2286000" y="4709160"/>
            <a:ext cx="1828800" cy="411480"/>
          </a:xfrm>
          <a:prstGeom prst="rect">
            <a:avLst/>
          </a:prstGeom>
          <a:noFill/>
          <a:ln/>
        </p:spPr>
        <p:txBody>
          <a:bodyPr wrap="square" lIns="0" tIns="0" rIns="0" bIns="0" rtlCol="0" anchor="ctr"/>
          <a:lstStyle/>
          <a:p>
            <a:pPr indent="0" marL="0">
              <a:buNone/>
            </a:pPr>
            <a:r>
              <a:rPr lang="en-US" sz="1400" b="1" dirty="0">
                <a:solidFill>
                  <a:schemeClr val="tx1"/>
                </a:solidFill>
              </a:rPr>
              <a:t>100.000 €</a:t>
            </a:r>
            <a:endParaRPr lang="en-US" sz="1400" dirty="0"/>
          </a:p>
        </p:txBody>
      </p:sp>
      <p:sp>
        <p:nvSpPr>
          <p:cNvPr id="41" name="Text 34"/>
          <p:cNvSpPr txBox="1"/>
          <p:nvPr/>
        </p:nvSpPr>
        <p:spPr>
          <a:xfrm>
            <a:off x="640080" y="5257800"/>
            <a:ext cx="1554480" cy="411480"/>
          </a:xfrm>
          <a:prstGeom prst="rect">
            <a:avLst/>
          </a:prstGeom>
          <a:noFill/>
          <a:ln/>
        </p:spPr>
        <p:txBody>
          <a:bodyPr wrap="square" lIns="0" tIns="0" rIns="0" bIns="0" rtlCol="0" anchor="ctr"/>
          <a:lstStyle/>
          <a:p>
            <a:pPr indent="0" marL="0">
              <a:buNone/>
            </a:pPr>
            <a:r>
              <a:rPr lang="en-US" sz="1400" dirty="0">
                <a:solidFill>
                  <a:schemeClr val="tx1"/>
                </a:solidFill>
              </a:rPr>
              <a:t>Verkaufswert</a:t>
            </a:r>
            <a:endParaRPr lang="en-US" sz="1400" dirty="0"/>
          </a:p>
        </p:txBody>
      </p:sp>
      <p:sp>
        <p:nvSpPr>
          <p:cNvPr id="42" name="Balken Verkaufswert"/>
          <p:cNvSpPr/>
          <p:nvPr/>
        </p:nvSpPr>
        <p:spPr>
          <a:xfrm>
            <a:off x="2194560" y="5257800"/>
            <a:ext cx="6893936" cy="411480"/>
          </a:xfrm>
          <a:prstGeom prst="roundRect">
            <a:avLst>
              <a:gd name="adj" fmla="val 13333"/>
            </a:avLst>
          </a:prstGeom>
          <a:solidFill>
            <a:schemeClr val="accent2"/>
          </a:solidFill>
          <a:ln/>
        </p:spPr>
      </p:sp>
      <p:sp>
        <p:nvSpPr>
          <p:cNvPr id="43" name="Text 36"/>
          <p:cNvSpPr txBox="1"/>
          <p:nvPr/>
        </p:nvSpPr>
        <p:spPr>
          <a:xfrm>
            <a:off x="2286000" y="5257800"/>
            <a:ext cx="1828800" cy="411480"/>
          </a:xfrm>
          <a:prstGeom prst="rect">
            <a:avLst/>
          </a:prstGeom>
          <a:noFill/>
          <a:ln/>
        </p:spPr>
        <p:txBody>
          <a:bodyPr wrap="square" lIns="0" tIns="0" rIns="0" bIns="0" rtlCol="0" anchor="ctr"/>
          <a:lstStyle/>
          <a:p>
            <a:pPr indent="0" marL="0">
              <a:buNone/>
            </a:pPr>
            <a:r>
              <a:rPr lang="en-US" sz="1400" b="1" dirty="0">
                <a:solidFill>
                  <a:schemeClr val="bg1"/>
                </a:solidFill>
              </a:rPr>
              <a:t>83.770 €</a:t>
            </a:r>
            <a:endParaRPr lang="en-US" sz="1400" dirty="0"/>
          </a:p>
        </p:txBody>
      </p:sp>
      <p:sp>
        <p:nvSpPr>
          <p:cNvPr id="44" name="Text 37"/>
          <p:cNvSpPr txBox="1"/>
          <p:nvPr/>
        </p:nvSpPr>
        <p:spPr>
          <a:xfrm>
            <a:off x="10515600" y="4663440"/>
            <a:ext cx="1188720" cy="1051560"/>
          </a:xfrm>
          <a:prstGeom prst="rect">
            <a:avLst/>
          </a:prstGeom>
          <a:noFill/>
          <a:ln/>
        </p:spPr>
        <p:txBody>
          <a:bodyPr wrap="square" lIns="0" tIns="0" rIns="0" bIns="0" rtlCol="0" anchor="ctr"/>
          <a:lstStyle/>
          <a:p>
            <a:pPr algn="ctr" indent="0" marL="0">
              <a:buNone/>
            </a:pPr>
            <a:r>
              <a:rPr lang="en-US" sz="2200" b="1" dirty="0">
                <a:solidFill>
                  <a:schemeClr val="accent2"/>
                </a:solidFill>
                <a:latin typeface="Cambria" pitchFamily="34" charset="0"/>
                <a:ea typeface="Cambria" pitchFamily="34" charset="-122"/>
                <a:cs typeface="Cambria" pitchFamily="34" charset="-120"/>
              </a:rPr>
              <a:t>−16.230 €</a:t>
            </a:r>
            <a:endParaRPr lang="en-US" sz="2200" dirty="0"/>
          </a:p>
          <a:p>
            <a:pPr algn="ctr" indent="0" marL="0">
              <a:buNone/>
            </a:pPr>
            <a:r>
              <a:rPr lang="en-US" sz="1400" dirty="0">
                <a:solidFill>
                  <a:schemeClr val="tx1"/>
                </a:solidFill>
              </a:rPr>
              <a:t>(−16,2 %)</a:t>
            </a:r>
            <a:endParaRPr lang="en-US" sz="22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Warum nur 83.770 €? Der Wirtschaftsdienst</a:t>
            </a:r>
            <a:endParaRPr lang="en-US" sz="3600" dirty="0"/>
          </a:p>
        </p:txBody>
      </p:sp>
      <p:sp>
        <p:nvSpPr>
          <p:cNvPr id="3" name="Kapitelpunkt Einleitung"/>
          <p:cNvSpPr/>
          <p:nvPr/>
        </p:nvSpPr>
        <p:spPr>
          <a:xfrm>
            <a:off x="640080" y="6437376"/>
            <a:ext cx="109728" cy="109728"/>
          </a:xfrm>
          <a:prstGeom prst="ellipse">
            <a:avLst/>
          </a:prstGeom>
          <a:solidFill>
            <a:schemeClr val="accent5"/>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5"/>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2"/>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sp>
        <p:nvSpPr>
          <p:cNvPr id="14" name="Kennzahl Zusatzkosten"/>
          <p:cNvSpPr/>
          <p:nvPr/>
        </p:nvSpPr>
        <p:spPr>
          <a:xfrm>
            <a:off x="640080" y="1463040"/>
            <a:ext cx="3291840" cy="2148840"/>
          </a:xfrm>
          <a:prstGeom prst="roundRect">
            <a:avLst>
              <a:gd name="adj" fmla="val 5106"/>
            </a:avLst>
          </a:prstGeom>
          <a:solidFill>
            <a:schemeClr val="accent1"/>
          </a:solidFill>
          <a:ln/>
        </p:spPr>
      </p:sp>
      <p:sp>
        <p:nvSpPr>
          <p:cNvPr id="15" name="Icon-Kreis FaNewspaper"/>
          <p:cNvSpPr/>
          <p:nvPr/>
        </p:nvSpPr>
        <p:spPr>
          <a:xfrm>
            <a:off x="868680" y="1691640"/>
            <a:ext cx="594360" cy="594360"/>
          </a:xfrm>
          <a:prstGeom prst="ellipse">
            <a:avLst/>
          </a:prstGeom>
          <a:solidFill>
            <a:schemeClr val="accent2"/>
          </a:solidFill>
          <a:ln/>
        </p:spPr>
      </p:sp>
      <p:pic>
        <p:nvPicPr>
          <p:cNvPr id="16" name="Icon FaNewspaper" descr="Symbol Newspaper">    </p:cNvPr>
          <p:cNvPicPr>
            <a:picLocks noChangeAspect="1"/>
          </p:cNvPicPr>
          <p:nvPr/>
        </p:nvPicPr>
        <p:blipFill>
          <a:blip r:embed="rId1"/>
          <a:stretch>
            <a:fillRect/>
          </a:stretch>
        </p:blipFill>
        <p:spPr>
          <a:xfrm>
            <a:off x="1029157" y="1852117"/>
            <a:ext cx="273406" cy="273406"/>
          </a:xfrm>
          <a:prstGeom prst="rect">
            <a:avLst/>
          </a:prstGeom>
        </p:spPr>
      </p:pic>
      <p:sp>
        <p:nvSpPr>
          <p:cNvPr id="17" name="Text 13"/>
          <p:cNvSpPr txBox="1"/>
          <p:nvPr/>
        </p:nvSpPr>
        <p:spPr>
          <a:xfrm>
            <a:off x="868680" y="2331720"/>
            <a:ext cx="292608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34.000 €</a:t>
            </a:r>
            <a:endParaRPr lang="en-US" sz="4000" dirty="0"/>
          </a:p>
        </p:txBody>
      </p:sp>
      <p:sp>
        <p:nvSpPr>
          <p:cNvPr id="18" name="Text 14"/>
          <p:cNvSpPr txBox="1"/>
          <p:nvPr/>
        </p:nvSpPr>
        <p:spPr>
          <a:xfrm>
            <a:off x="868680" y="3017520"/>
            <a:ext cx="2926080" cy="411480"/>
          </a:xfrm>
          <a:prstGeom prst="rect">
            <a:avLst/>
          </a:prstGeom>
          <a:noFill/>
          <a:ln/>
        </p:spPr>
        <p:txBody>
          <a:bodyPr wrap="square" lIns="0" tIns="0" rIns="0" bIns="0" rtlCol="0" anchor="ctr"/>
          <a:lstStyle/>
          <a:p>
            <a:pPr indent="0" marL="0">
              <a:buNone/>
            </a:pPr>
            <a:r>
              <a:rPr lang="en-US" sz="1500" dirty="0">
                <a:solidFill>
                  <a:schemeClr val="bg2"/>
                </a:solidFill>
              </a:rPr>
              <a:t>Zusatzkosten in den Runden 2–6</a:t>
            </a:r>
            <a:endParaRPr lang="en-US" sz="1500" dirty="0"/>
          </a:p>
        </p:txBody>
      </p:sp>
      <p:sp>
        <p:nvSpPr>
          <p:cNvPr id="19" name="Einordnung Zusatzkosten"/>
          <p:cNvSpPr/>
          <p:nvPr/>
        </p:nvSpPr>
        <p:spPr>
          <a:xfrm>
            <a:off x="640080" y="3794760"/>
            <a:ext cx="3291840" cy="2286000"/>
          </a:xfrm>
          <a:prstGeom prst="roundRect">
            <a:avLst>
              <a:gd name="adj" fmla="val 4800"/>
            </a:avLst>
          </a:prstGeom>
          <a:solidFill>
            <a:schemeClr val="bg2"/>
          </a:solidFill>
          <a:ln/>
        </p:spPr>
      </p:sp>
      <p:sp>
        <p:nvSpPr>
          <p:cNvPr id="20" name="Text 16"/>
          <p:cNvSpPr txBox="1"/>
          <p:nvPr/>
        </p:nvSpPr>
        <p:spPr>
          <a:xfrm>
            <a:off x="868680" y="3931920"/>
            <a:ext cx="2926080" cy="2011680"/>
          </a:xfrm>
          <a:prstGeom prst="rect">
            <a:avLst/>
          </a:prstGeom>
          <a:noFill/>
          <a:ln/>
        </p:spPr>
        <p:txBody>
          <a:bodyPr wrap="square" lIns="0" tIns="0" rIns="0" bIns="0" rtlCol="0" anchor="ctr"/>
          <a:lstStyle/>
          <a:p>
            <a:pPr marL="203200" indent="-203200">
              <a:spcAft>
                <a:spcPts val="800"/>
              </a:spcAft>
              <a:buSzPct val="100000"/>
              <a:buChar char="•"/>
            </a:pPr>
            <a:r>
              <a:rPr lang="en-US" sz="1500" dirty="0">
                <a:solidFill>
                  <a:schemeClr val="tx1"/>
                </a:solidFill>
              </a:rPr>
              <a:t>≈ 12 % unserer Gesamtkosten</a:t>
            </a:r>
            <a:endParaRPr lang="en-US" sz="1500" dirty="0"/>
          </a:p>
          <a:p>
            <a:pPr marL="203200" indent="-203200">
              <a:spcAft>
                <a:spcPts val="800"/>
              </a:spcAft>
              <a:buSzPct val="100000"/>
              <a:buChar char="•"/>
            </a:pPr>
            <a:r>
              <a:rPr lang="en-US" sz="1500" dirty="0">
                <a:solidFill>
                  <a:schemeClr val="tx1"/>
                </a:solidFill>
              </a:rPr>
              <a:t>Am höchsten in R2 und R5 (je 10.000 €)</a:t>
            </a:r>
            <a:endParaRPr lang="en-US" sz="1500" dirty="0"/>
          </a:p>
          <a:p>
            <a:pPr marL="203200" indent="-203200">
              <a:spcAft>
                <a:spcPts val="800"/>
              </a:spcAft>
              <a:buSzPct val="100000"/>
              <a:buChar char="•"/>
            </a:pPr>
            <a:r>
              <a:rPr lang="en-US" sz="1500" dirty="0">
                <a:solidFill>
                  <a:schemeClr val="tx1"/>
                </a:solidFill>
              </a:rPr>
              <a:t>Ohne sie: Verkaufswert 117.770 € – über dem Startkapital</a:t>
            </a:r>
            <a:endParaRPr lang="en-US" sz="1500" dirty="0"/>
          </a:p>
        </p:txBody>
      </p:sp>
      <p:graphicFrame>
        <p:nvGraphicFramePr>
          <p:cNvPr id="21" name="Chart 0" descr=""/>
          <p:cNvGraphicFramePr/>
          <p:nvPr/>
        </p:nvGraphicFramePr>
        <p:xfrm>
          <a:off x="4206240" y="1371600"/>
          <a:ext cx="7315200" cy="475488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Reflexion: Würden wir wieder so entscheiden?</a:t>
            </a:r>
            <a:endParaRPr lang="en-US" sz="3600" dirty="0"/>
          </a:p>
        </p:txBody>
      </p:sp>
      <p:sp>
        <p:nvSpPr>
          <p:cNvPr id="3" name="Kapitelpunkt Einleitung"/>
          <p:cNvSpPr/>
          <p:nvPr/>
        </p:nvSpPr>
        <p:spPr>
          <a:xfrm>
            <a:off x="640080" y="6437376"/>
            <a:ext cx="109728" cy="109728"/>
          </a:xfrm>
          <a:prstGeom prst="ellipse">
            <a:avLst/>
          </a:prstGeom>
          <a:solidFill>
            <a:schemeClr val="accent5"/>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5"/>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5"/>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2"/>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5"/>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Gründung</a:t>
            </a:r>
            <a:endParaRPr lang="en-US" sz="1100" dirty="0"/>
          </a:p>
        </p:txBody>
      </p:sp>
      <p:sp>
        <p:nvSpPr>
          <p:cNvPr id="14" name="Karte Das lief gut"/>
          <p:cNvSpPr/>
          <p:nvPr/>
        </p:nvSpPr>
        <p:spPr>
          <a:xfrm>
            <a:off x="640080" y="1463040"/>
            <a:ext cx="3520440" cy="3520440"/>
          </a:xfrm>
          <a:prstGeom prst="roundRect">
            <a:avLst>
              <a:gd name="adj" fmla="val 3117"/>
            </a:avLst>
          </a:prstGeom>
          <a:solidFill>
            <a:schemeClr val="bg2"/>
          </a:solidFill>
          <a:ln/>
        </p:spPr>
      </p:sp>
      <p:sp>
        <p:nvSpPr>
          <p:cNvPr id="15" name="Icon-Kreis FaThumbsUp"/>
          <p:cNvSpPr/>
          <p:nvPr/>
        </p:nvSpPr>
        <p:spPr>
          <a:xfrm>
            <a:off x="914400" y="1691640"/>
            <a:ext cx="640080" cy="640080"/>
          </a:xfrm>
          <a:prstGeom prst="ellipse">
            <a:avLst/>
          </a:prstGeom>
          <a:solidFill>
            <a:schemeClr val="accent3"/>
          </a:solidFill>
          <a:ln/>
        </p:spPr>
      </p:sp>
      <p:pic>
        <p:nvPicPr>
          <p:cNvPr id="16" name="Icon FaThumbsUp" descr="Symbol ThumbsUp">    </p:cNvPr>
          <p:cNvPicPr>
            <a:picLocks noChangeAspect="1"/>
          </p:cNvPicPr>
          <p:nvPr/>
        </p:nvPicPr>
        <p:blipFill>
          <a:blip r:embed="rId1"/>
          <a:stretch>
            <a:fillRect/>
          </a:stretch>
        </p:blipFill>
        <p:spPr>
          <a:xfrm>
            <a:off x="1087222" y="1864462"/>
            <a:ext cx="294437" cy="294437"/>
          </a:xfrm>
          <a:prstGeom prst="rect">
            <a:avLst/>
          </a:prstGeom>
        </p:spPr>
      </p:pic>
      <p:sp>
        <p:nvSpPr>
          <p:cNvPr id="17" name="Text 13"/>
          <p:cNvSpPr txBox="1"/>
          <p:nvPr/>
        </p:nvSpPr>
        <p:spPr>
          <a:xfrm>
            <a:off x="1737360" y="1691640"/>
            <a:ext cx="2286000" cy="640080"/>
          </a:xfrm>
          <a:prstGeom prst="rect">
            <a:avLst/>
          </a:prstGeom>
          <a:noFill/>
          <a:ln/>
        </p:spPr>
        <p:txBody>
          <a:bodyPr wrap="square" lIns="0" tIns="0" rIns="0" bIns="0" rtlCol="0" anchor="ctr"/>
          <a:lstStyle/>
          <a:p>
            <a:pPr indent="0" marL="0">
              <a:buNone/>
            </a:pPr>
            <a:r>
              <a:rPr lang="en-US" sz="1900" b="1" dirty="0">
                <a:solidFill>
                  <a:schemeClr val="tx2"/>
                </a:solidFill>
              </a:rPr>
              <a:t>Das lief gut</a:t>
            </a:r>
            <a:endParaRPr lang="en-US" sz="1900" dirty="0"/>
          </a:p>
        </p:txBody>
      </p:sp>
      <p:sp>
        <p:nvSpPr>
          <p:cNvPr id="18" name="Text 14"/>
          <p:cNvSpPr txBox="1"/>
          <p:nvPr/>
        </p:nvSpPr>
        <p:spPr>
          <a:xfrm>
            <a:off x="914400" y="2514600"/>
            <a:ext cx="3017520" cy="237744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chemeClr val="tx1"/>
                </a:solidFill>
              </a:rPr>
              <a:t>Vorsichtiger Start mit nur 1 Maschine</a:t>
            </a:r>
            <a:endParaRPr lang="en-US" sz="1800" dirty="0"/>
          </a:p>
          <a:p>
            <a:pPr marL="203200" indent="-203200">
              <a:spcAft>
                <a:spcPts val="800"/>
              </a:spcAft>
              <a:buSzPct val="100000"/>
              <a:buChar char="•"/>
            </a:pPr>
            <a:r>
              <a:rPr lang="en-US" sz="1800" dirty="0">
                <a:solidFill>
                  <a:schemeClr val="tx1"/>
                </a:solidFill>
              </a:rPr>
              <a:t>Nach R2 schnell reagiert → beste Runde</a:t>
            </a:r>
            <a:endParaRPr lang="en-US" sz="1800" dirty="0"/>
          </a:p>
        </p:txBody>
      </p:sp>
      <p:sp>
        <p:nvSpPr>
          <p:cNvPr id="19" name="Karte Das lief schlecht"/>
          <p:cNvSpPr/>
          <p:nvPr/>
        </p:nvSpPr>
        <p:spPr>
          <a:xfrm>
            <a:off x="4320540" y="1463040"/>
            <a:ext cx="3520440" cy="3520440"/>
          </a:xfrm>
          <a:prstGeom prst="roundRect">
            <a:avLst>
              <a:gd name="adj" fmla="val 3117"/>
            </a:avLst>
          </a:prstGeom>
          <a:solidFill>
            <a:schemeClr val="bg2"/>
          </a:solidFill>
          <a:ln/>
        </p:spPr>
      </p:sp>
      <p:sp>
        <p:nvSpPr>
          <p:cNvPr id="20" name="Icon-Kreis FaThumbsDown"/>
          <p:cNvSpPr/>
          <p:nvPr/>
        </p:nvSpPr>
        <p:spPr>
          <a:xfrm>
            <a:off x="4594860" y="1691640"/>
            <a:ext cx="640080" cy="640080"/>
          </a:xfrm>
          <a:prstGeom prst="ellipse">
            <a:avLst/>
          </a:prstGeom>
          <a:solidFill>
            <a:schemeClr val="accent2"/>
          </a:solidFill>
          <a:ln/>
        </p:spPr>
      </p:sp>
      <p:pic>
        <p:nvPicPr>
          <p:cNvPr id="21" name="Icon FaThumbsDown" descr="Symbol ThumbsDown">    </p:cNvPr>
          <p:cNvPicPr>
            <a:picLocks noChangeAspect="1"/>
          </p:cNvPicPr>
          <p:nvPr/>
        </p:nvPicPr>
        <p:blipFill>
          <a:blip r:embed="rId2"/>
          <a:stretch>
            <a:fillRect/>
          </a:stretch>
        </p:blipFill>
        <p:spPr>
          <a:xfrm>
            <a:off x="4767682" y="1864462"/>
            <a:ext cx="294437" cy="294437"/>
          </a:xfrm>
          <a:prstGeom prst="rect">
            <a:avLst/>
          </a:prstGeom>
        </p:spPr>
      </p:pic>
      <p:sp>
        <p:nvSpPr>
          <p:cNvPr id="22" name="Text 17"/>
          <p:cNvSpPr txBox="1"/>
          <p:nvPr/>
        </p:nvSpPr>
        <p:spPr>
          <a:xfrm>
            <a:off x="5417820" y="1691640"/>
            <a:ext cx="2286000" cy="640080"/>
          </a:xfrm>
          <a:prstGeom prst="rect">
            <a:avLst/>
          </a:prstGeom>
          <a:noFill/>
          <a:ln/>
        </p:spPr>
        <p:txBody>
          <a:bodyPr wrap="square" lIns="0" tIns="0" rIns="0" bIns="0" rtlCol="0" anchor="ctr"/>
          <a:lstStyle/>
          <a:p>
            <a:pPr indent="0" marL="0">
              <a:buNone/>
            </a:pPr>
            <a:r>
              <a:rPr lang="en-US" sz="1900" b="1" dirty="0">
                <a:solidFill>
                  <a:schemeClr val="tx2"/>
                </a:solidFill>
              </a:rPr>
              <a:t>Das lief schlecht</a:t>
            </a:r>
            <a:endParaRPr lang="en-US" sz="1900" dirty="0"/>
          </a:p>
        </p:txBody>
      </p:sp>
      <p:sp>
        <p:nvSpPr>
          <p:cNvPr id="23" name="Text 18"/>
          <p:cNvSpPr txBox="1"/>
          <p:nvPr/>
        </p:nvSpPr>
        <p:spPr>
          <a:xfrm>
            <a:off x="4594860" y="2514600"/>
            <a:ext cx="3017520" cy="237744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chemeClr val="tx1"/>
                </a:solidFill>
              </a:rPr>
              <a:t>Höchstpreis trotz erwarteter Flaute (R4–R6)</a:t>
            </a:r>
            <a:endParaRPr lang="en-US" sz="1800" dirty="0"/>
          </a:p>
          <a:p>
            <a:pPr marL="203200" indent="-203200">
              <a:spcAft>
                <a:spcPts val="800"/>
              </a:spcAft>
              <a:buSzPct val="100000"/>
              <a:buChar char="•"/>
            </a:pPr>
            <a:r>
              <a:rPr lang="en-US" sz="1800" dirty="0">
                <a:solidFill>
                  <a:schemeClr val="tx1"/>
                </a:solidFill>
              </a:rPr>
              <a:t>13.000 € Fixkosten für 1 Palette</a:t>
            </a:r>
            <a:endParaRPr lang="en-US" sz="1800" dirty="0"/>
          </a:p>
          <a:p>
            <a:pPr marL="203200" indent="-203200">
              <a:spcAft>
                <a:spcPts val="800"/>
              </a:spcAft>
              <a:buSzPct val="100000"/>
              <a:buChar char="•"/>
            </a:pPr>
            <a:r>
              <a:rPr lang="en-US" sz="1800" dirty="0">
                <a:solidFill>
                  <a:schemeClr val="tx1"/>
                </a:solidFill>
              </a:rPr>
              <a:t>2. Maschine kaum gebraucht</a:t>
            </a:r>
            <a:endParaRPr lang="en-US" sz="1800" dirty="0"/>
          </a:p>
        </p:txBody>
      </p:sp>
      <p:sp>
        <p:nvSpPr>
          <p:cNvPr id="24" name="Karte Das machen wir anders"/>
          <p:cNvSpPr/>
          <p:nvPr/>
        </p:nvSpPr>
        <p:spPr>
          <a:xfrm>
            <a:off x="8001000" y="1463040"/>
            <a:ext cx="3520440" cy="3520440"/>
          </a:xfrm>
          <a:prstGeom prst="roundRect">
            <a:avLst>
              <a:gd name="adj" fmla="val 3117"/>
            </a:avLst>
          </a:prstGeom>
          <a:solidFill>
            <a:schemeClr val="bg2"/>
          </a:solidFill>
          <a:ln/>
        </p:spPr>
      </p:sp>
      <p:sp>
        <p:nvSpPr>
          <p:cNvPr id="25" name="Icon-Kreis FaExchangeAlt"/>
          <p:cNvSpPr/>
          <p:nvPr/>
        </p:nvSpPr>
        <p:spPr>
          <a:xfrm>
            <a:off x="8275320" y="1691640"/>
            <a:ext cx="640080" cy="640080"/>
          </a:xfrm>
          <a:prstGeom prst="ellipse">
            <a:avLst/>
          </a:prstGeom>
          <a:solidFill>
            <a:schemeClr val="accent1"/>
          </a:solidFill>
          <a:ln/>
        </p:spPr>
      </p:sp>
      <p:pic>
        <p:nvPicPr>
          <p:cNvPr id="26" name="Icon FaExchangeAlt" descr="Symbol ExchangeAlt">    </p:cNvPr>
          <p:cNvPicPr>
            <a:picLocks noChangeAspect="1"/>
          </p:cNvPicPr>
          <p:nvPr/>
        </p:nvPicPr>
        <p:blipFill>
          <a:blip r:embed="rId3"/>
          <a:stretch>
            <a:fillRect/>
          </a:stretch>
        </p:blipFill>
        <p:spPr>
          <a:xfrm>
            <a:off x="8448142" y="1864462"/>
            <a:ext cx="294437" cy="294437"/>
          </a:xfrm>
          <a:prstGeom prst="rect">
            <a:avLst/>
          </a:prstGeom>
        </p:spPr>
      </p:pic>
      <p:sp>
        <p:nvSpPr>
          <p:cNvPr id="27" name="Text 21"/>
          <p:cNvSpPr txBox="1"/>
          <p:nvPr/>
        </p:nvSpPr>
        <p:spPr>
          <a:xfrm>
            <a:off x="9098280" y="1691640"/>
            <a:ext cx="2286000" cy="640080"/>
          </a:xfrm>
          <a:prstGeom prst="rect">
            <a:avLst/>
          </a:prstGeom>
          <a:noFill/>
          <a:ln/>
        </p:spPr>
        <p:txBody>
          <a:bodyPr wrap="square" lIns="0" tIns="0" rIns="0" bIns="0" rtlCol="0" anchor="ctr"/>
          <a:lstStyle/>
          <a:p>
            <a:pPr indent="0" marL="0">
              <a:buNone/>
            </a:pPr>
            <a:r>
              <a:rPr lang="en-US" sz="1900" b="1" dirty="0">
                <a:solidFill>
                  <a:schemeClr val="tx2"/>
                </a:solidFill>
              </a:rPr>
              <a:t>Das machen wir anders</a:t>
            </a:r>
            <a:endParaRPr lang="en-US" sz="1900" dirty="0"/>
          </a:p>
        </p:txBody>
      </p:sp>
      <p:sp>
        <p:nvSpPr>
          <p:cNvPr id="28" name="Text 22"/>
          <p:cNvSpPr txBox="1"/>
          <p:nvPr/>
        </p:nvSpPr>
        <p:spPr>
          <a:xfrm>
            <a:off x="8275320" y="2514600"/>
            <a:ext cx="3017520" cy="2377440"/>
          </a:xfrm>
          <a:prstGeom prst="rect">
            <a:avLst/>
          </a:prstGeom>
          <a:noFill/>
          <a:ln/>
        </p:spPr>
        <p:txBody>
          <a:bodyPr wrap="square" lIns="0" tIns="0" rIns="0" bIns="0" rtlCol="0" anchor="t"/>
          <a:lstStyle/>
          <a:p>
            <a:pPr marL="203200" indent="-203200">
              <a:spcAft>
                <a:spcPts val="800"/>
              </a:spcAft>
              <a:buSzPct val="100000"/>
              <a:buChar char="•"/>
            </a:pPr>
            <a:r>
              <a:rPr lang="en-US" sz="1800" dirty="0">
                <a:solidFill>
                  <a:schemeClr val="tx1"/>
                </a:solidFill>
              </a:rPr>
              <a:t>Preis nahe 5.900 € halten</a:t>
            </a:r>
            <a:endParaRPr lang="en-US" sz="1800" dirty="0"/>
          </a:p>
          <a:p>
            <a:pPr marL="203200" indent="-203200">
              <a:spcAft>
                <a:spcPts val="800"/>
              </a:spcAft>
              <a:buSzPct val="100000"/>
              <a:buChar char="•"/>
            </a:pPr>
            <a:r>
              <a:rPr lang="en-US" sz="1800" dirty="0">
                <a:solidFill>
                  <a:schemeClr val="tx1"/>
                </a:solidFill>
              </a:rPr>
              <a:t>Maschinen nur kaufen, wenn ausgelastet und besetzt</a:t>
            </a:r>
            <a:endParaRPr lang="en-US" sz="1800" dirty="0"/>
          </a:p>
          <a:p>
            <a:pPr marL="203200" indent="-203200">
              <a:spcAft>
                <a:spcPts val="800"/>
              </a:spcAft>
              <a:buSzPct val="100000"/>
              <a:buChar char="•"/>
            </a:pPr>
            <a:r>
              <a:rPr lang="en-US" sz="1800" dirty="0">
                <a:solidFill>
                  <a:schemeClr val="tx1"/>
                </a:solidFill>
              </a:rPr>
              <a:t>Personal an die Produktion anpassen</a:t>
            </a:r>
            <a:endParaRPr lang="en-US" sz="1800" dirty="0"/>
          </a:p>
        </p:txBody>
      </p:sp>
      <p:sp>
        <p:nvSpPr>
          <p:cNvPr id="29" name="Fazit"/>
          <p:cNvSpPr/>
          <p:nvPr/>
        </p:nvSpPr>
        <p:spPr>
          <a:xfrm>
            <a:off x="640080" y="5166360"/>
            <a:ext cx="10881360" cy="914400"/>
          </a:xfrm>
          <a:prstGeom prst="roundRect">
            <a:avLst>
              <a:gd name="adj" fmla="val 12000"/>
            </a:avLst>
          </a:prstGeom>
          <a:solidFill>
            <a:schemeClr val="accent1"/>
          </a:solidFill>
          <a:ln/>
        </p:spPr>
      </p:sp>
      <p:sp>
        <p:nvSpPr>
          <p:cNvPr id="30" name="Text 24"/>
          <p:cNvSpPr txBox="1"/>
          <p:nvPr/>
        </p:nvSpPr>
        <p:spPr>
          <a:xfrm>
            <a:off x="914400" y="5166360"/>
            <a:ext cx="10424160" cy="914400"/>
          </a:xfrm>
          <a:prstGeom prst="rect">
            <a:avLst/>
          </a:prstGeom>
          <a:noFill/>
          <a:ln/>
        </p:spPr>
        <p:txBody>
          <a:bodyPr wrap="square" lIns="0" tIns="0" rIns="0" bIns="0" rtlCol="0" anchor="ctr"/>
          <a:lstStyle/>
          <a:p>
            <a:pPr indent="0" marL="0">
              <a:buNone/>
            </a:pPr>
            <a:r>
              <a:rPr lang="en-US" sz="1700" b="1" dirty="0">
                <a:solidFill>
                  <a:schemeClr val="accent2"/>
                </a:solidFill>
              </a:rPr>
              <a:t>Unser Fazit: </a:t>
            </a:r>
            <a:pPr indent="0" marL="0">
              <a:buNone/>
            </a:pPr>
            <a:r>
              <a:rPr lang="en-US" sz="1700" dirty="0">
                <a:solidFill>
                  <a:schemeClr val="bg1"/>
                </a:solidFill>
              </a:rPr>
              <a:t>Der Preis war unser stärkster Hebel – und Fixkosten laufen weiter, auch wenn man kaum verkauft.</a:t>
            </a:r>
            <a:endParaRPr lang="en-US" sz="17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Bezug zur Gründung: Was im Spiel fehlte</a:t>
            </a:r>
            <a:endParaRPr lang="en-US" sz="3600" dirty="0"/>
          </a:p>
        </p:txBody>
      </p:sp>
      <p:sp>
        <p:nvSpPr>
          <p:cNvPr id="3" name="Kapitelpunkt Einleitung"/>
          <p:cNvSpPr/>
          <p:nvPr/>
        </p:nvSpPr>
        <p:spPr>
          <a:xfrm>
            <a:off x="640080" y="6437376"/>
            <a:ext cx="109728" cy="109728"/>
          </a:xfrm>
          <a:prstGeom prst="ellipse">
            <a:avLst/>
          </a:prstGeom>
          <a:solidFill>
            <a:schemeClr val="accent5"/>
          </a:solidFill>
          <a:ln/>
        </p:spPr>
      </p:sp>
      <p:sp>
        <p:nvSpPr>
          <p:cNvPr id="4" name="Text 2"/>
          <p:cNvSpPr txBox="1"/>
          <p:nvPr/>
        </p:nvSpPr>
        <p:spPr>
          <a:xfrm>
            <a:off x="82296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Einleitung</a:t>
            </a:r>
            <a:endParaRPr lang="en-US" sz="1100" dirty="0"/>
          </a:p>
        </p:txBody>
      </p:sp>
      <p:sp>
        <p:nvSpPr>
          <p:cNvPr id="5" name="Kapitelpunkt Verlauf"/>
          <p:cNvSpPr/>
          <p:nvPr/>
        </p:nvSpPr>
        <p:spPr>
          <a:xfrm>
            <a:off x="2057400" y="6437376"/>
            <a:ext cx="109728" cy="109728"/>
          </a:xfrm>
          <a:prstGeom prst="ellipse">
            <a:avLst/>
          </a:prstGeom>
          <a:solidFill>
            <a:schemeClr val="accent5"/>
          </a:solidFill>
          <a:ln/>
        </p:spPr>
      </p:sp>
      <p:sp>
        <p:nvSpPr>
          <p:cNvPr id="6" name="Text 4"/>
          <p:cNvSpPr txBox="1"/>
          <p:nvPr/>
        </p:nvSpPr>
        <p:spPr>
          <a:xfrm>
            <a:off x="224028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Verlauf</a:t>
            </a:r>
            <a:endParaRPr lang="en-US" sz="1100" dirty="0"/>
          </a:p>
        </p:txBody>
      </p:sp>
      <p:sp>
        <p:nvSpPr>
          <p:cNvPr id="7" name="Kapitelpunkt Auswertung"/>
          <p:cNvSpPr/>
          <p:nvPr/>
        </p:nvSpPr>
        <p:spPr>
          <a:xfrm>
            <a:off x="3474720" y="6437376"/>
            <a:ext cx="109728" cy="109728"/>
          </a:xfrm>
          <a:prstGeom prst="ellipse">
            <a:avLst/>
          </a:prstGeom>
          <a:solidFill>
            <a:schemeClr val="accent5"/>
          </a:solidFill>
          <a:ln/>
        </p:spPr>
      </p:sp>
      <p:sp>
        <p:nvSpPr>
          <p:cNvPr id="8" name="Text 6"/>
          <p:cNvSpPr txBox="1"/>
          <p:nvPr/>
        </p:nvSpPr>
        <p:spPr>
          <a:xfrm>
            <a:off x="365760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Auswertung</a:t>
            </a:r>
            <a:endParaRPr lang="en-US" sz="1100" dirty="0"/>
          </a:p>
        </p:txBody>
      </p:sp>
      <p:sp>
        <p:nvSpPr>
          <p:cNvPr id="9" name="Kapitelpunkt Reflexion"/>
          <p:cNvSpPr/>
          <p:nvPr/>
        </p:nvSpPr>
        <p:spPr>
          <a:xfrm>
            <a:off x="4892040" y="6437376"/>
            <a:ext cx="109728" cy="109728"/>
          </a:xfrm>
          <a:prstGeom prst="ellipse">
            <a:avLst/>
          </a:prstGeom>
          <a:solidFill>
            <a:schemeClr val="accent5"/>
          </a:solidFill>
          <a:ln/>
        </p:spPr>
      </p:sp>
      <p:sp>
        <p:nvSpPr>
          <p:cNvPr id="10" name="Text 8"/>
          <p:cNvSpPr txBox="1"/>
          <p:nvPr/>
        </p:nvSpPr>
        <p:spPr>
          <a:xfrm>
            <a:off x="5074920" y="6355080"/>
            <a:ext cx="1188720" cy="274320"/>
          </a:xfrm>
          <a:prstGeom prst="rect">
            <a:avLst/>
          </a:prstGeom>
          <a:noFill/>
          <a:ln/>
        </p:spPr>
        <p:txBody>
          <a:bodyPr wrap="square" lIns="0" tIns="0" rIns="0" bIns="0" rtlCol="0" anchor="ctr"/>
          <a:lstStyle/>
          <a:p>
            <a:pPr indent="0" marL="0">
              <a:buNone/>
            </a:pPr>
            <a:r>
              <a:rPr lang="en-US" sz="1100" dirty="0">
                <a:solidFill>
                  <a:schemeClr val="accent4"/>
                </a:solidFill>
              </a:rPr>
              <a:t>Reflexion</a:t>
            </a:r>
            <a:endParaRPr lang="en-US" sz="1100" dirty="0"/>
          </a:p>
        </p:txBody>
      </p:sp>
      <p:sp>
        <p:nvSpPr>
          <p:cNvPr id="11" name="Kapitelpunkt Gründung"/>
          <p:cNvSpPr/>
          <p:nvPr/>
        </p:nvSpPr>
        <p:spPr>
          <a:xfrm>
            <a:off x="6309360" y="6437376"/>
            <a:ext cx="109728" cy="109728"/>
          </a:xfrm>
          <a:prstGeom prst="ellipse">
            <a:avLst/>
          </a:prstGeom>
          <a:solidFill>
            <a:schemeClr val="accent2"/>
          </a:solidFill>
          <a:ln/>
        </p:spPr>
      </p:sp>
      <p:sp>
        <p:nvSpPr>
          <p:cNvPr id="12" name="Text 10"/>
          <p:cNvSpPr txBox="1"/>
          <p:nvPr/>
        </p:nvSpPr>
        <p:spPr>
          <a:xfrm>
            <a:off x="6492240" y="6355080"/>
            <a:ext cx="1188720" cy="274320"/>
          </a:xfrm>
          <a:prstGeom prst="rect">
            <a:avLst/>
          </a:prstGeom>
          <a:noFill/>
          <a:ln/>
        </p:spPr>
        <p:txBody>
          <a:bodyPr wrap="square" lIns="0" tIns="0" rIns="0" bIns="0" rtlCol="0" anchor="ctr"/>
          <a:lstStyle/>
          <a:p>
            <a:pPr indent="0" marL="0">
              <a:buNone/>
            </a:pPr>
            <a:r>
              <a:rPr lang="en-US" sz="1100" b="1" dirty="0">
                <a:solidFill>
                  <a:schemeClr val="accent2"/>
                </a:solidFill>
              </a:rPr>
              <a:t>Gründung</a:t>
            </a:r>
            <a:endParaRPr lang="en-US" sz="1100" dirty="0"/>
          </a:p>
        </p:txBody>
      </p:sp>
      <p:sp>
        <p:nvSpPr>
          <p:cNvPr id="14" name="Text 11"/>
          <p:cNvSpPr txBox="1"/>
          <p:nvPr/>
        </p:nvSpPr>
        <p:spPr>
          <a:xfrm>
            <a:off x="640080" y="1371600"/>
            <a:ext cx="6949440" cy="365760"/>
          </a:xfrm>
          <a:prstGeom prst="rect">
            <a:avLst/>
          </a:prstGeom>
          <a:noFill/>
          <a:ln/>
        </p:spPr>
        <p:txBody>
          <a:bodyPr wrap="square" lIns="0" tIns="0" rIns="0" bIns="0" rtlCol="0" anchor="ctr"/>
          <a:lstStyle/>
          <a:p>
            <a:pPr indent="0" marL="0">
              <a:buNone/>
            </a:pPr>
            <a:r>
              <a:rPr lang="en-US" sz="1600" b="1" dirty="0">
                <a:solidFill>
                  <a:schemeClr val="accent4"/>
                </a:solidFill>
              </a:rPr>
              <a:t>Was im Spiel fehlte – und was es bewirkt hätte</a:t>
            </a:r>
            <a:endParaRPr lang="en-US" sz="1600" dirty="0"/>
          </a:p>
        </p:txBody>
      </p:sp>
      <p:sp>
        <p:nvSpPr>
          <p:cNvPr id="15" name="Fehlt Mehrweg &amp; Pfand"/>
          <p:cNvSpPr/>
          <p:nvPr/>
        </p:nvSpPr>
        <p:spPr>
          <a:xfrm>
            <a:off x="640080" y="1828800"/>
            <a:ext cx="6949440" cy="932688"/>
          </a:xfrm>
          <a:prstGeom prst="roundRect">
            <a:avLst>
              <a:gd name="adj" fmla="val 11765"/>
            </a:avLst>
          </a:prstGeom>
          <a:solidFill>
            <a:schemeClr val="bg2"/>
          </a:solidFill>
          <a:ln/>
        </p:spPr>
      </p:sp>
      <p:sp>
        <p:nvSpPr>
          <p:cNvPr id="16" name="Icon-Kreis FaRecycle"/>
          <p:cNvSpPr/>
          <p:nvPr/>
        </p:nvSpPr>
        <p:spPr>
          <a:xfrm>
            <a:off x="822960" y="1984248"/>
            <a:ext cx="621792" cy="621792"/>
          </a:xfrm>
          <a:prstGeom prst="ellipse">
            <a:avLst/>
          </a:prstGeom>
          <a:solidFill>
            <a:schemeClr val="accent1"/>
          </a:solidFill>
          <a:ln/>
        </p:spPr>
      </p:sp>
      <p:pic>
        <p:nvPicPr>
          <p:cNvPr id="17" name="Icon FaRecycle" descr="Symbol Recycle">    </p:cNvPr>
          <p:cNvPicPr>
            <a:picLocks noChangeAspect="1"/>
          </p:cNvPicPr>
          <p:nvPr/>
        </p:nvPicPr>
        <p:blipFill>
          <a:blip r:embed="rId1"/>
          <a:stretch>
            <a:fillRect/>
          </a:stretch>
        </p:blipFill>
        <p:spPr>
          <a:xfrm>
            <a:off x="990844" y="2152132"/>
            <a:ext cx="286024" cy="286024"/>
          </a:xfrm>
          <a:prstGeom prst="rect">
            <a:avLst/>
          </a:prstGeom>
        </p:spPr>
      </p:pic>
      <p:sp>
        <p:nvSpPr>
          <p:cNvPr id="18" name="Text 14"/>
          <p:cNvSpPr txBox="1"/>
          <p:nvPr/>
        </p:nvSpPr>
        <p:spPr>
          <a:xfrm>
            <a:off x="1645920" y="1828800"/>
            <a:ext cx="5806440" cy="932688"/>
          </a:xfrm>
          <a:prstGeom prst="rect">
            <a:avLst/>
          </a:prstGeom>
          <a:noFill/>
          <a:ln/>
        </p:spPr>
        <p:txBody>
          <a:bodyPr wrap="square" lIns="0" tIns="0" rIns="0" bIns="0" rtlCol="0" anchor="ctr"/>
          <a:lstStyle/>
          <a:p>
            <a:pPr indent="0" marL="0">
              <a:buNone/>
            </a:pPr>
            <a:r>
              <a:rPr lang="en-US" sz="1700" b="1" dirty="0">
                <a:solidFill>
                  <a:schemeClr val="tx2"/>
                </a:solidFill>
              </a:rPr>
              <a:t>Mehrweg &amp; Pfand</a:t>
            </a:r>
            <a:endParaRPr lang="en-US" sz="1700" dirty="0"/>
          </a:p>
          <a:p>
            <a:pPr indent="0" marL="0">
              <a:buNone/>
            </a:pPr>
            <a:r>
              <a:rPr lang="en-US" sz="1600" dirty="0">
                <a:solidFill>
                  <a:schemeClr val="tx1"/>
                </a:solidFill>
              </a:rPr>
              <a:t>→ Mehr Kosten für Rücknahme und Spülen</a:t>
            </a:r>
            <a:endParaRPr lang="en-US" sz="1700" dirty="0"/>
          </a:p>
        </p:txBody>
      </p:sp>
      <p:sp>
        <p:nvSpPr>
          <p:cNvPr id="19" name="Fehlt Zielgruppe &amp; Persona Jasper"/>
          <p:cNvSpPr/>
          <p:nvPr/>
        </p:nvSpPr>
        <p:spPr>
          <a:xfrm>
            <a:off x="640080" y="2898648"/>
            <a:ext cx="6949440" cy="932688"/>
          </a:xfrm>
          <a:prstGeom prst="roundRect">
            <a:avLst>
              <a:gd name="adj" fmla="val 11765"/>
            </a:avLst>
          </a:prstGeom>
          <a:solidFill>
            <a:schemeClr val="bg2"/>
          </a:solidFill>
          <a:ln/>
        </p:spPr>
      </p:sp>
      <p:sp>
        <p:nvSpPr>
          <p:cNvPr id="20" name="Icon-Kreis FaUserAlt"/>
          <p:cNvSpPr/>
          <p:nvPr/>
        </p:nvSpPr>
        <p:spPr>
          <a:xfrm>
            <a:off x="822960" y="3054096"/>
            <a:ext cx="621792" cy="621792"/>
          </a:xfrm>
          <a:prstGeom prst="ellipse">
            <a:avLst/>
          </a:prstGeom>
          <a:solidFill>
            <a:schemeClr val="accent1"/>
          </a:solidFill>
          <a:ln/>
        </p:spPr>
      </p:sp>
      <p:pic>
        <p:nvPicPr>
          <p:cNvPr id="21" name="Icon FaUserAlt" descr="Symbol UserAlt">    </p:cNvPr>
          <p:cNvPicPr>
            <a:picLocks noChangeAspect="1"/>
          </p:cNvPicPr>
          <p:nvPr/>
        </p:nvPicPr>
        <p:blipFill>
          <a:blip r:embed="rId2"/>
          <a:stretch>
            <a:fillRect/>
          </a:stretch>
        </p:blipFill>
        <p:spPr>
          <a:xfrm>
            <a:off x="990844" y="3221980"/>
            <a:ext cx="286024" cy="286024"/>
          </a:xfrm>
          <a:prstGeom prst="rect">
            <a:avLst/>
          </a:prstGeom>
        </p:spPr>
      </p:pic>
      <p:sp>
        <p:nvSpPr>
          <p:cNvPr id="22" name="Text 17"/>
          <p:cNvSpPr txBox="1"/>
          <p:nvPr/>
        </p:nvSpPr>
        <p:spPr>
          <a:xfrm>
            <a:off x="1645920" y="2898648"/>
            <a:ext cx="5806440" cy="932688"/>
          </a:xfrm>
          <a:prstGeom prst="rect">
            <a:avLst/>
          </a:prstGeom>
          <a:noFill/>
          <a:ln/>
        </p:spPr>
        <p:txBody>
          <a:bodyPr wrap="square" lIns="0" tIns="0" rIns="0" bIns="0" rtlCol="0" anchor="ctr"/>
          <a:lstStyle/>
          <a:p>
            <a:pPr indent="0" marL="0">
              <a:buNone/>
            </a:pPr>
            <a:r>
              <a:rPr lang="en-US" sz="1700" b="1" dirty="0">
                <a:solidFill>
                  <a:schemeClr val="tx2"/>
                </a:solidFill>
              </a:rPr>
              <a:t>Zielgruppe &amp; Persona Jasper</a:t>
            </a:r>
            <a:endParaRPr lang="en-US" sz="1700" dirty="0"/>
          </a:p>
          <a:p>
            <a:pPr indent="0" marL="0">
              <a:buNone/>
            </a:pPr>
            <a:r>
              <a:rPr lang="en-US" sz="1600" dirty="0">
                <a:solidFill>
                  <a:schemeClr val="tx1"/>
                </a:solidFill>
              </a:rPr>
              <a:t>→ Nicht nur der Preis zählt, auch wen man anspricht</a:t>
            </a:r>
            <a:endParaRPr lang="en-US" sz="1700" dirty="0"/>
          </a:p>
        </p:txBody>
      </p:sp>
      <p:sp>
        <p:nvSpPr>
          <p:cNvPr id="23" name="Fehlt Social Media &amp; Onlineshop"/>
          <p:cNvSpPr/>
          <p:nvPr/>
        </p:nvSpPr>
        <p:spPr>
          <a:xfrm>
            <a:off x="640080" y="3968496"/>
            <a:ext cx="6949440" cy="932688"/>
          </a:xfrm>
          <a:prstGeom prst="roundRect">
            <a:avLst>
              <a:gd name="adj" fmla="val 11765"/>
            </a:avLst>
          </a:prstGeom>
          <a:solidFill>
            <a:schemeClr val="bg2"/>
          </a:solidFill>
          <a:ln/>
        </p:spPr>
      </p:sp>
      <p:sp>
        <p:nvSpPr>
          <p:cNvPr id="24" name="Icon-Kreis FaBullhorn"/>
          <p:cNvSpPr/>
          <p:nvPr/>
        </p:nvSpPr>
        <p:spPr>
          <a:xfrm>
            <a:off x="822960" y="4123944"/>
            <a:ext cx="621792" cy="621792"/>
          </a:xfrm>
          <a:prstGeom prst="ellipse">
            <a:avLst/>
          </a:prstGeom>
          <a:solidFill>
            <a:schemeClr val="accent1"/>
          </a:solidFill>
          <a:ln/>
        </p:spPr>
      </p:sp>
      <p:pic>
        <p:nvPicPr>
          <p:cNvPr id="25" name="Icon FaBullhorn" descr="Symbol Bullhorn">    </p:cNvPr>
          <p:cNvPicPr>
            <a:picLocks noChangeAspect="1"/>
          </p:cNvPicPr>
          <p:nvPr/>
        </p:nvPicPr>
        <p:blipFill>
          <a:blip r:embed="rId3"/>
          <a:stretch>
            <a:fillRect/>
          </a:stretch>
        </p:blipFill>
        <p:spPr>
          <a:xfrm>
            <a:off x="990844" y="4291828"/>
            <a:ext cx="286024" cy="286024"/>
          </a:xfrm>
          <a:prstGeom prst="rect">
            <a:avLst/>
          </a:prstGeom>
        </p:spPr>
      </p:pic>
      <p:sp>
        <p:nvSpPr>
          <p:cNvPr id="26" name="Text 20"/>
          <p:cNvSpPr txBox="1"/>
          <p:nvPr/>
        </p:nvSpPr>
        <p:spPr>
          <a:xfrm>
            <a:off x="1645920" y="3968496"/>
            <a:ext cx="5806440" cy="932688"/>
          </a:xfrm>
          <a:prstGeom prst="rect">
            <a:avLst/>
          </a:prstGeom>
          <a:noFill/>
          <a:ln/>
        </p:spPr>
        <p:txBody>
          <a:bodyPr wrap="square" lIns="0" tIns="0" rIns="0" bIns="0" rtlCol="0" anchor="ctr"/>
          <a:lstStyle/>
          <a:p>
            <a:pPr indent="0" marL="0">
              <a:buNone/>
            </a:pPr>
            <a:r>
              <a:rPr lang="en-US" sz="1700" b="1" dirty="0">
                <a:solidFill>
                  <a:schemeClr val="tx2"/>
                </a:solidFill>
              </a:rPr>
              <a:t>Social Media &amp; Onlineshop</a:t>
            </a:r>
            <a:endParaRPr lang="en-US" sz="1700" dirty="0"/>
          </a:p>
          <a:p>
            <a:pPr indent="0" marL="0">
              <a:buNone/>
            </a:pPr>
            <a:r>
              <a:rPr lang="en-US" sz="1600" dirty="0">
                <a:solidFill>
                  <a:schemeClr val="tx1"/>
                </a:solidFill>
              </a:rPr>
              <a:t>→ Werbung statt nur 1 Palette in R4/R5</a:t>
            </a:r>
            <a:endParaRPr lang="en-US" sz="1700" dirty="0"/>
          </a:p>
        </p:txBody>
      </p:sp>
      <p:sp>
        <p:nvSpPr>
          <p:cNvPr id="27" name="Fehlt Sorte Tamarinde-Limette"/>
          <p:cNvSpPr/>
          <p:nvPr/>
        </p:nvSpPr>
        <p:spPr>
          <a:xfrm>
            <a:off x="640080" y="5038344"/>
            <a:ext cx="6949440" cy="932688"/>
          </a:xfrm>
          <a:prstGeom prst="roundRect">
            <a:avLst>
              <a:gd name="adj" fmla="val 11765"/>
            </a:avLst>
          </a:prstGeom>
          <a:solidFill>
            <a:schemeClr val="bg2"/>
          </a:solidFill>
          <a:ln/>
        </p:spPr>
      </p:sp>
      <p:sp>
        <p:nvSpPr>
          <p:cNvPr id="28" name="Icon-Kreis FaLeaf"/>
          <p:cNvSpPr/>
          <p:nvPr/>
        </p:nvSpPr>
        <p:spPr>
          <a:xfrm>
            <a:off x="822960" y="5193792"/>
            <a:ext cx="621792" cy="621792"/>
          </a:xfrm>
          <a:prstGeom prst="ellipse">
            <a:avLst/>
          </a:prstGeom>
          <a:solidFill>
            <a:schemeClr val="accent1"/>
          </a:solidFill>
          <a:ln/>
        </p:spPr>
      </p:sp>
      <p:pic>
        <p:nvPicPr>
          <p:cNvPr id="29" name="Icon FaLeaf" descr="Symbol Leaf">    </p:cNvPr>
          <p:cNvPicPr>
            <a:picLocks noChangeAspect="1"/>
          </p:cNvPicPr>
          <p:nvPr/>
        </p:nvPicPr>
        <p:blipFill>
          <a:blip r:embed="rId4"/>
          <a:stretch>
            <a:fillRect/>
          </a:stretch>
        </p:blipFill>
        <p:spPr>
          <a:xfrm>
            <a:off x="990844" y="5361676"/>
            <a:ext cx="286024" cy="286024"/>
          </a:xfrm>
          <a:prstGeom prst="rect">
            <a:avLst/>
          </a:prstGeom>
        </p:spPr>
      </p:pic>
      <p:sp>
        <p:nvSpPr>
          <p:cNvPr id="30" name="Text 23"/>
          <p:cNvSpPr txBox="1"/>
          <p:nvPr/>
        </p:nvSpPr>
        <p:spPr>
          <a:xfrm>
            <a:off x="1645920" y="5038344"/>
            <a:ext cx="5806440" cy="932688"/>
          </a:xfrm>
          <a:prstGeom prst="rect">
            <a:avLst/>
          </a:prstGeom>
          <a:noFill/>
          <a:ln/>
        </p:spPr>
        <p:txBody>
          <a:bodyPr wrap="square" lIns="0" tIns="0" rIns="0" bIns="0" rtlCol="0" anchor="ctr"/>
          <a:lstStyle/>
          <a:p>
            <a:pPr indent="0" marL="0">
              <a:buNone/>
            </a:pPr>
            <a:r>
              <a:rPr lang="en-US" sz="1700" b="1" dirty="0">
                <a:solidFill>
                  <a:schemeClr val="tx2"/>
                </a:solidFill>
              </a:rPr>
              <a:t>Sorte Tamarinde-Limette</a:t>
            </a:r>
            <a:endParaRPr lang="en-US" sz="1700" dirty="0"/>
          </a:p>
          <a:p>
            <a:pPr indent="0" marL="0">
              <a:buNone/>
            </a:pPr>
            <a:r>
              <a:rPr lang="en-US" sz="1600" dirty="0">
                <a:solidFill>
                  <a:schemeClr val="tx1"/>
                </a:solidFill>
              </a:rPr>
              <a:t>→ Besonderheit erlaubt höheren Preis</a:t>
            </a:r>
            <a:endParaRPr lang="en-US" sz="1700" dirty="0"/>
          </a:p>
        </p:txBody>
      </p:sp>
      <p:sp>
        <p:nvSpPr>
          <p:cNvPr id="31" name="Spielerweiterung"/>
          <p:cNvSpPr/>
          <p:nvPr/>
        </p:nvSpPr>
        <p:spPr>
          <a:xfrm>
            <a:off x="7863840" y="1371600"/>
            <a:ext cx="3657600" cy="4754880"/>
          </a:xfrm>
          <a:prstGeom prst="roundRect">
            <a:avLst>
              <a:gd name="adj" fmla="val 3000"/>
            </a:avLst>
          </a:prstGeom>
          <a:solidFill>
            <a:schemeClr val="accent1"/>
          </a:solidFill>
          <a:ln/>
        </p:spPr>
      </p:sp>
      <p:sp>
        <p:nvSpPr>
          <p:cNvPr id="32" name="Icon-Kreis FaLightbulb"/>
          <p:cNvSpPr/>
          <p:nvPr/>
        </p:nvSpPr>
        <p:spPr>
          <a:xfrm>
            <a:off x="8092440" y="1600200"/>
            <a:ext cx="640080" cy="640080"/>
          </a:xfrm>
          <a:prstGeom prst="ellipse">
            <a:avLst/>
          </a:prstGeom>
          <a:solidFill>
            <a:schemeClr val="accent2"/>
          </a:solidFill>
          <a:ln/>
        </p:spPr>
      </p:sp>
      <p:pic>
        <p:nvPicPr>
          <p:cNvPr id="33" name="Icon FaLightbulb" descr="Symbol Lightbulb">    </p:cNvPr>
          <p:cNvPicPr>
            <a:picLocks noChangeAspect="1"/>
          </p:cNvPicPr>
          <p:nvPr/>
        </p:nvPicPr>
        <p:blipFill>
          <a:blip r:embed="rId5"/>
          <a:stretch>
            <a:fillRect/>
          </a:stretch>
        </p:blipFill>
        <p:spPr>
          <a:xfrm>
            <a:off x="8265262" y="1773022"/>
            <a:ext cx="294437" cy="294437"/>
          </a:xfrm>
          <a:prstGeom prst="rect">
            <a:avLst/>
          </a:prstGeom>
        </p:spPr>
      </p:pic>
      <p:sp>
        <p:nvSpPr>
          <p:cNvPr id="34" name="Text 26"/>
          <p:cNvSpPr txBox="1"/>
          <p:nvPr/>
        </p:nvSpPr>
        <p:spPr>
          <a:xfrm>
            <a:off x="8869680" y="1600200"/>
            <a:ext cx="2560320" cy="640080"/>
          </a:xfrm>
          <a:prstGeom prst="rect">
            <a:avLst/>
          </a:prstGeom>
          <a:noFill/>
          <a:ln/>
        </p:spPr>
        <p:txBody>
          <a:bodyPr wrap="square" lIns="0" tIns="0" rIns="0" bIns="0" rtlCol="0" anchor="ctr"/>
          <a:lstStyle/>
          <a:p>
            <a:pPr indent="0" marL="0">
              <a:buNone/>
            </a:pPr>
            <a:r>
              <a:rPr lang="en-US" sz="1900" b="1" dirty="0">
                <a:solidFill>
                  <a:schemeClr val="bg1"/>
                </a:solidFill>
              </a:rPr>
              <a:t>Unsere Vorschläge</a:t>
            </a:r>
            <a:endParaRPr lang="en-US" sz="1900" dirty="0"/>
          </a:p>
        </p:txBody>
      </p:sp>
      <p:sp>
        <p:nvSpPr>
          <p:cNvPr id="35" name="Text 27"/>
          <p:cNvSpPr txBox="1"/>
          <p:nvPr/>
        </p:nvSpPr>
        <p:spPr>
          <a:xfrm>
            <a:off x="8092440" y="2468880"/>
            <a:ext cx="3200400" cy="3474720"/>
          </a:xfrm>
          <a:prstGeom prst="rect">
            <a:avLst/>
          </a:prstGeom>
          <a:noFill/>
          <a:ln/>
        </p:spPr>
        <p:txBody>
          <a:bodyPr wrap="square" lIns="0" tIns="0" rIns="0" bIns="0" rtlCol="0" anchor="t"/>
          <a:lstStyle/>
          <a:p>
            <a:pPr indent="0" marL="0">
              <a:buNone/>
            </a:pPr>
            <a:r>
              <a:rPr lang="en-US" sz="2000" b="1" dirty="0">
                <a:solidFill>
                  <a:schemeClr val="accent2"/>
                </a:solidFill>
              </a:rPr>
              <a:t>1  Marketingbudget</a:t>
            </a:r>
            <a:endParaRPr lang="en-US" sz="2000" dirty="0"/>
          </a:p>
          <a:p>
            <a:pPr indent="0" marL="0">
              <a:spcAft>
                <a:spcPts val="2200"/>
              </a:spcAft>
              <a:buNone/>
            </a:pPr>
            <a:r>
              <a:rPr lang="en-US" sz="1700" dirty="0">
                <a:solidFill>
                  <a:schemeClr val="bg1"/>
                </a:solidFill>
              </a:rPr>
              <a:t>Je 2.000 € → +1 Palette Absatz</a:t>
            </a:r>
            <a:endParaRPr lang="en-US" sz="2000" dirty="0"/>
          </a:p>
          <a:p>
            <a:pPr indent="0" marL="0">
              <a:buNone/>
            </a:pPr>
            <a:r>
              <a:rPr lang="en-US" sz="2000" b="1" dirty="0">
                <a:solidFill>
                  <a:schemeClr val="accent2"/>
                </a:solidFill>
              </a:rPr>
              <a:t>2  Mehrweg-Option</a:t>
            </a:r>
            <a:endParaRPr lang="en-US" sz="2000" dirty="0"/>
          </a:p>
          <a:p>
            <a:pPr indent="0" marL="0">
              <a:spcAft>
                <a:spcPts val="2200"/>
              </a:spcAft>
              <a:buNone/>
            </a:pPr>
            <a:r>
              <a:rPr lang="en-US" sz="1700" dirty="0">
                <a:solidFill>
                  <a:schemeClr val="bg1"/>
                </a:solidFill>
              </a:rPr>
              <a:t>+1.000 € Kosten je Runde → +1 Palette Absatz bei umweltbewussten Kunden</a:t>
            </a:r>
            <a:endParaRPr lang="en-US" sz="2000" dirty="0"/>
          </a:p>
          <a:p>
            <a:pPr indent="0" marL="0">
              <a:buNone/>
            </a:pPr>
            <a:r>
              <a:rPr lang="en-US" sz="1600" i="1" dirty="0">
                <a:solidFill>
                  <a:schemeClr val="bg2"/>
                </a:solidFill>
              </a:rPr>
              <a:t>Je nur eine Zeile mehr im Kassenbuch.</a:t>
            </a:r>
            <a:endParaRPr lang="en-US" sz="20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822960" y="1371600"/>
            <a:ext cx="6400800" cy="914400"/>
          </a:xfrm>
          <a:prstGeom prst="rect">
            <a:avLst/>
          </a:prstGeom>
          <a:noFill/>
          <a:ln/>
        </p:spPr>
        <p:txBody>
          <a:bodyPr wrap="square" lIns="0" tIns="0" rIns="0" bIns="0" rtlCol="0" anchor="ctr"/>
          <a:lstStyle/>
          <a:p>
            <a:pPr indent="0" marL="0">
              <a:buNone/>
            </a:pPr>
            <a:r>
              <a:rPr lang="en-US" sz="2000" b="1" dirty="0">
                <a:solidFill>
                  <a:schemeClr val="accent2"/>
                </a:solidFill>
              </a:rPr>
              <a:t>Unsere Rückseite kann man zu Ende lesen.</a:t>
            </a:r>
            <a:endParaRPr lang="en-US" sz="2000" dirty="0"/>
          </a:p>
        </p:txBody>
      </p:sp>
      <p:sp>
        <p:nvSpPr>
          <p:cNvPr id="3" name="Text 1"/>
          <p:cNvSpPr txBox="1"/>
          <p:nvPr/>
        </p:nvSpPr>
        <p:spPr>
          <a:xfrm>
            <a:off x="822960" y="2103120"/>
            <a:ext cx="6400800" cy="1005840"/>
          </a:xfrm>
          <a:prstGeom prst="rect">
            <a:avLst/>
          </a:prstGeom>
          <a:noFill/>
          <a:ln/>
        </p:spPr>
        <p:txBody>
          <a:bodyPr wrap="square" lIns="0" tIns="0" rIns="0" bIns="0" rtlCol="0" anchor="ctr"/>
          <a:lstStyle/>
          <a:p>
            <a:pPr indent="0" marL="0">
              <a:buNone/>
            </a:pPr>
            <a:r>
              <a:rPr lang="en-US" sz="4400" b="1" dirty="0">
                <a:solidFill>
                  <a:schemeClr val="bg1"/>
                </a:solidFill>
                <a:latin typeface="Cambria" pitchFamily="34" charset="0"/>
                <a:ea typeface="Cambria" pitchFamily="34" charset="-122"/>
                <a:cs typeface="Cambria" pitchFamily="34" charset="-120"/>
              </a:rPr>
              <a:t>Unsere Bilanz auch.</a:t>
            </a:r>
            <a:endParaRPr lang="en-US" sz="4400" dirty="0"/>
          </a:p>
        </p:txBody>
      </p:sp>
      <p:sp>
        <p:nvSpPr>
          <p:cNvPr id="4" name="Text 2"/>
          <p:cNvSpPr txBox="1"/>
          <p:nvPr/>
        </p:nvSpPr>
        <p:spPr>
          <a:xfrm>
            <a:off x="822960" y="3154680"/>
            <a:ext cx="6035040" cy="822960"/>
          </a:xfrm>
          <a:prstGeom prst="rect">
            <a:avLst/>
          </a:prstGeom>
          <a:noFill/>
          <a:ln/>
        </p:spPr>
        <p:txBody>
          <a:bodyPr wrap="square" lIns="0" tIns="0" rIns="0" bIns="0" rtlCol="0" anchor="ctr"/>
          <a:lstStyle/>
          <a:p>
            <a:pPr indent="0" marL="0">
              <a:buNone/>
            </a:pPr>
            <a:r>
              <a:rPr lang="en-US" sz="2200" dirty="0">
                <a:solidFill>
                  <a:schemeClr val="bg2"/>
                </a:solidFill>
              </a:rPr>
              <a:t>Sie war nicht gut – aber wir wissen jetzt, warum.</a:t>
            </a:r>
            <a:endParaRPr lang="en-US" sz="2200" dirty="0"/>
          </a:p>
        </p:txBody>
      </p:sp>
      <p:sp>
        <p:nvSpPr>
          <p:cNvPr id="5" name="Text 3"/>
          <p:cNvSpPr txBox="1"/>
          <p:nvPr/>
        </p:nvSpPr>
        <p:spPr>
          <a:xfrm>
            <a:off x="822960" y="4343400"/>
            <a:ext cx="6035040" cy="457200"/>
          </a:xfrm>
          <a:prstGeom prst="rect">
            <a:avLst/>
          </a:prstGeom>
          <a:noFill/>
          <a:ln/>
        </p:spPr>
        <p:txBody>
          <a:bodyPr wrap="square" lIns="0" tIns="0" rIns="0" bIns="0" rtlCol="0" anchor="ctr"/>
          <a:lstStyle/>
          <a:p>
            <a:pPr indent="0" marL="0">
              <a:buNone/>
            </a:pPr>
            <a:r>
              <a:rPr lang="en-US" sz="2000" b="1" dirty="0">
                <a:solidFill>
                  <a:schemeClr val="accent3"/>
                </a:solidFill>
              </a:rPr>
              <a:t>Vielen Dank! Wir freuen uns auf eure Fragen.</a:t>
            </a:r>
            <a:endParaRPr lang="en-US" sz="2000" dirty="0"/>
          </a:p>
        </p:txBody>
      </p:sp>
      <p:pic>
        <p:nvPicPr>
          <p:cNvPr id="6" name="Logo" descr="Logo Elbharz">    </p:cNvPr>
          <p:cNvPicPr>
            <a:picLocks noChangeAspect="1"/>
          </p:cNvPicPr>
          <p:nvPr/>
        </p:nvPicPr>
        <p:blipFill>
          <a:blip r:embed="rId1"/>
          <a:stretch>
            <a:fillRect/>
          </a:stretch>
        </p:blipFill>
        <p:spPr>
          <a:xfrm>
            <a:off x="731520" y="5257800"/>
            <a:ext cx="1005840" cy="1005840"/>
          </a:xfrm>
          <a:prstGeom prst="rect">
            <a:avLst/>
          </a:prstGeom>
        </p:spPr>
      </p:pic>
      <p:sp>
        <p:nvSpPr>
          <p:cNvPr id="7" name="Sonne"/>
          <p:cNvSpPr/>
          <p:nvPr/>
        </p:nvSpPr>
        <p:spPr>
          <a:xfrm>
            <a:off x="8138160" y="1097280"/>
            <a:ext cx="3474720" cy="3474720"/>
          </a:xfrm>
          <a:prstGeom prst="ellipse">
            <a:avLst/>
          </a:prstGeom>
          <a:solidFill>
            <a:schemeClr val="accent2"/>
          </a:solidFill>
          <a:ln/>
        </p:spPr>
      </p:sp>
      <p:pic>
        <p:nvPicPr>
          <p:cNvPr id="8" name="Flasche" descr="Flasche Primatenbrause">    </p:cNvPr>
          <p:cNvPicPr>
            <a:picLocks noChangeAspect="1"/>
          </p:cNvPicPr>
          <p:nvPr/>
        </p:nvPicPr>
        <p:blipFill>
          <a:blip r:embed="rId2"/>
          <a:stretch>
            <a:fillRect/>
          </a:stretch>
        </p:blipFill>
        <p:spPr>
          <a:xfrm>
            <a:off x="8833899" y="685800"/>
            <a:ext cx="2083242" cy="4937760"/>
          </a:xfrm>
          <a:prstGeom prst="rect">
            <a:avLst/>
          </a:prstGeom>
        </p:spPr>
      </p:pic>
      <p:sp>
        <p:nvSpPr>
          <p:cNvPr id="9" name="Platz KI-Teambild"/>
          <p:cNvSpPr/>
          <p:nvPr/>
        </p:nvSpPr>
        <p:spPr>
          <a:xfrm>
            <a:off x="6675120" y="4114800"/>
            <a:ext cx="2011680" cy="2011680"/>
          </a:xfrm>
          <a:prstGeom prst="ellipse">
            <a:avLst/>
          </a:prstGeom>
          <a:solidFill>
            <a:schemeClr val="accent3">
              <a:alpha val="85000"/>
            </a:schemeClr>
          </a:solidFill>
          <a:ln w="19050">
            <a:solidFill>
              <a:schemeClr val="bg1"/>
            </a:solidFill>
            <a:prstDash val="dash"/>
          </a:ln>
        </p:spPr>
      </p:sp>
      <p:sp>
        <p:nvSpPr>
          <p:cNvPr id="10" name="Text 6"/>
          <p:cNvSpPr txBox="1"/>
          <p:nvPr/>
        </p:nvSpPr>
        <p:spPr>
          <a:xfrm>
            <a:off x="6766560" y="4114800"/>
            <a:ext cx="1828800" cy="2011680"/>
          </a:xfrm>
          <a:prstGeom prst="rect">
            <a:avLst/>
          </a:prstGeom>
          <a:noFill/>
          <a:ln/>
        </p:spPr>
        <p:txBody>
          <a:bodyPr wrap="square" lIns="0" tIns="0" rIns="0" bIns="0" rtlCol="0" anchor="ctr"/>
          <a:lstStyle/>
          <a:p>
            <a:pPr algn="ctr" indent="0" marL="0">
              <a:buNone/>
            </a:pPr>
            <a:r>
              <a:rPr lang="en-US" sz="1200" b="1" dirty="0">
                <a:solidFill>
                  <a:schemeClr val="bg1"/>
                </a:solidFill>
              </a:rPr>
              <a:t>BILD FOLGT: KI-Teambild</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Quellen</a:t>
            </a:r>
            <a:endParaRPr lang="en-US" sz="3600" dirty="0"/>
          </a:p>
        </p:txBody>
      </p:sp>
      <p:sp>
        <p:nvSpPr>
          <p:cNvPr id="4" name="Quellen Spielmaterial"/>
          <p:cNvSpPr/>
          <p:nvPr/>
        </p:nvSpPr>
        <p:spPr>
          <a:xfrm>
            <a:off x="640080" y="1463040"/>
            <a:ext cx="3520440" cy="3383280"/>
          </a:xfrm>
          <a:prstGeom prst="roundRect">
            <a:avLst>
              <a:gd name="adj" fmla="val 3243"/>
            </a:avLst>
          </a:prstGeom>
          <a:solidFill>
            <a:schemeClr val="bg2"/>
          </a:solidFill>
          <a:ln/>
        </p:spPr>
      </p:sp>
      <p:sp>
        <p:nvSpPr>
          <p:cNvPr id="5" name="Text 2"/>
          <p:cNvSpPr txBox="1"/>
          <p:nvPr/>
        </p:nvSpPr>
        <p:spPr>
          <a:xfrm>
            <a:off x="914400" y="1645920"/>
            <a:ext cx="3017520" cy="457200"/>
          </a:xfrm>
          <a:prstGeom prst="rect">
            <a:avLst/>
          </a:prstGeom>
          <a:noFill/>
          <a:ln/>
        </p:spPr>
        <p:txBody>
          <a:bodyPr wrap="square" lIns="0" tIns="0" rIns="0" bIns="0" rtlCol="0" anchor="ctr"/>
          <a:lstStyle/>
          <a:p>
            <a:pPr indent="0" marL="0">
              <a:buNone/>
            </a:pPr>
            <a:r>
              <a:rPr lang="en-US" sz="1900" b="1" dirty="0">
                <a:solidFill>
                  <a:schemeClr val="tx2"/>
                </a:solidFill>
              </a:rPr>
              <a:t>Spielmaterial</a:t>
            </a:r>
            <a:endParaRPr lang="en-US" sz="1900" dirty="0"/>
          </a:p>
        </p:txBody>
      </p:sp>
      <p:sp>
        <p:nvSpPr>
          <p:cNvPr id="6" name="Text 3"/>
          <p:cNvSpPr txBox="1"/>
          <p:nvPr/>
        </p:nvSpPr>
        <p:spPr>
          <a:xfrm>
            <a:off x="914400" y="2194560"/>
            <a:ext cx="3017520" cy="25146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Planspiel „Bertis Brause“, Cornelsen Verlag 2006 (Spielanleitung, Arbeitsblätter, Bögen M14/M15)</a:t>
            </a:r>
            <a:endParaRPr lang="en-US" sz="1400" dirty="0"/>
          </a:p>
          <a:p>
            <a:pPr marL="203200" indent="-203200">
              <a:spcAft>
                <a:spcPts val="800"/>
              </a:spcAft>
              <a:buSzPct val="100000"/>
              <a:buChar char="•"/>
            </a:pPr>
            <a:r>
              <a:rPr lang="en-US" sz="1400" dirty="0">
                <a:solidFill>
                  <a:schemeClr val="tx1"/>
                </a:solidFill>
              </a:rPr>
              <a:t>Aufgabenstellung Endpräsentation, Wirtschaftsgymnasium Am Lämmermarkt</a:t>
            </a:r>
            <a:endParaRPr lang="en-US" sz="1400" dirty="0"/>
          </a:p>
        </p:txBody>
      </p:sp>
      <p:sp>
        <p:nvSpPr>
          <p:cNvPr id="7" name="Quellen Daten"/>
          <p:cNvSpPr/>
          <p:nvPr/>
        </p:nvSpPr>
        <p:spPr>
          <a:xfrm>
            <a:off x="4320540" y="1463040"/>
            <a:ext cx="3520440" cy="3383280"/>
          </a:xfrm>
          <a:prstGeom prst="roundRect">
            <a:avLst>
              <a:gd name="adj" fmla="val 3243"/>
            </a:avLst>
          </a:prstGeom>
          <a:solidFill>
            <a:schemeClr val="bg2"/>
          </a:solidFill>
          <a:ln/>
        </p:spPr>
      </p:sp>
      <p:sp>
        <p:nvSpPr>
          <p:cNvPr id="8" name="Text 5"/>
          <p:cNvSpPr txBox="1"/>
          <p:nvPr/>
        </p:nvSpPr>
        <p:spPr>
          <a:xfrm>
            <a:off x="4594860" y="1645920"/>
            <a:ext cx="3017520" cy="457200"/>
          </a:xfrm>
          <a:prstGeom prst="rect">
            <a:avLst/>
          </a:prstGeom>
          <a:noFill/>
          <a:ln/>
        </p:spPr>
        <p:txBody>
          <a:bodyPr wrap="square" lIns="0" tIns="0" rIns="0" bIns="0" rtlCol="0" anchor="ctr"/>
          <a:lstStyle/>
          <a:p>
            <a:pPr indent="0" marL="0">
              <a:buNone/>
            </a:pPr>
            <a:r>
              <a:rPr lang="en-US" sz="1900" b="1" dirty="0">
                <a:solidFill>
                  <a:schemeClr val="tx2"/>
                </a:solidFill>
              </a:rPr>
              <a:t>Daten</a:t>
            </a:r>
            <a:endParaRPr lang="en-US" sz="1900" dirty="0"/>
          </a:p>
        </p:txBody>
      </p:sp>
      <p:sp>
        <p:nvSpPr>
          <p:cNvPr id="9" name="Text 6"/>
          <p:cNvSpPr txBox="1"/>
          <p:nvPr/>
        </p:nvSpPr>
        <p:spPr>
          <a:xfrm>
            <a:off x="4594860" y="2194560"/>
            <a:ext cx="3017520" cy="25146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Eigene Arbeitsblätter: Maschinen/Personal, Produktion/Material, Kassenbuch, Angebotskarte, Umsatzberechnung, Unternehmensverkauf</a:t>
            </a:r>
            <a:endParaRPr lang="en-US" sz="1400" dirty="0"/>
          </a:p>
          <a:p>
            <a:pPr marL="203200" indent="-203200">
              <a:spcAft>
                <a:spcPts val="800"/>
              </a:spcAft>
              <a:buSzPct val="100000"/>
              <a:buChar char="•"/>
            </a:pPr>
            <a:r>
              <a:rPr lang="en-US" sz="1400" dirty="0">
                <a:solidFill>
                  <a:schemeClr val="tx1"/>
                </a:solidFill>
              </a:rPr>
              <a:t>Eigenes Entscheidungsprotokoll; alle Kennzahlen selbst berechnet</a:t>
            </a:r>
            <a:endParaRPr lang="en-US" sz="1400" dirty="0"/>
          </a:p>
        </p:txBody>
      </p:sp>
      <p:sp>
        <p:nvSpPr>
          <p:cNvPr id="10" name="Quellen Bilder"/>
          <p:cNvSpPr/>
          <p:nvPr/>
        </p:nvSpPr>
        <p:spPr>
          <a:xfrm>
            <a:off x="8001000" y="1463040"/>
            <a:ext cx="3520440" cy="3383280"/>
          </a:xfrm>
          <a:prstGeom prst="roundRect">
            <a:avLst>
              <a:gd name="adj" fmla="val 3243"/>
            </a:avLst>
          </a:prstGeom>
          <a:solidFill>
            <a:schemeClr val="bg2"/>
          </a:solidFill>
          <a:ln/>
        </p:spPr>
      </p:sp>
      <p:sp>
        <p:nvSpPr>
          <p:cNvPr id="11" name="Text 8"/>
          <p:cNvSpPr txBox="1"/>
          <p:nvPr/>
        </p:nvSpPr>
        <p:spPr>
          <a:xfrm>
            <a:off x="8275320" y="1645920"/>
            <a:ext cx="3017520" cy="457200"/>
          </a:xfrm>
          <a:prstGeom prst="rect">
            <a:avLst/>
          </a:prstGeom>
          <a:noFill/>
          <a:ln/>
        </p:spPr>
        <p:txBody>
          <a:bodyPr wrap="square" lIns="0" tIns="0" rIns="0" bIns="0" rtlCol="0" anchor="ctr"/>
          <a:lstStyle/>
          <a:p>
            <a:pPr indent="0" marL="0">
              <a:buNone/>
            </a:pPr>
            <a:r>
              <a:rPr lang="en-US" sz="1900" b="1" dirty="0">
                <a:solidFill>
                  <a:schemeClr val="tx2"/>
                </a:solidFill>
              </a:rPr>
              <a:t>Bilder</a:t>
            </a:r>
            <a:endParaRPr lang="en-US" sz="1900" dirty="0"/>
          </a:p>
        </p:txBody>
      </p:sp>
      <p:sp>
        <p:nvSpPr>
          <p:cNvPr id="12" name="Text 9"/>
          <p:cNvSpPr txBox="1"/>
          <p:nvPr/>
        </p:nvSpPr>
        <p:spPr>
          <a:xfrm>
            <a:off x="8275320" y="2194560"/>
            <a:ext cx="3017520" cy="25146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tx1"/>
                </a:solidFill>
              </a:rPr>
              <a:t>Logo und Flasche: KI-generiert mit Perplexity (aus unserer Gründungspräsentation)</a:t>
            </a:r>
            <a:endParaRPr lang="en-US" sz="1400" dirty="0"/>
          </a:p>
          <a:p>
            <a:pPr marL="203200" indent="-203200">
              <a:spcAft>
                <a:spcPts val="800"/>
              </a:spcAft>
              <a:buSzPct val="100000"/>
              <a:buChar char="•"/>
            </a:pPr>
            <a:r>
              <a:rPr lang="en-US" sz="1400" dirty="0">
                <a:solidFill>
                  <a:schemeClr val="tx1"/>
                </a:solidFill>
              </a:rPr>
              <a:t>Limette, Tamarinde: [Quelle ergänzen]</a:t>
            </a:r>
            <a:endParaRPr lang="en-US" sz="1400" dirty="0"/>
          </a:p>
          <a:p>
            <a:pPr marL="203200" indent="-203200">
              <a:spcAft>
                <a:spcPts val="800"/>
              </a:spcAft>
              <a:buSzPct val="100000"/>
              <a:buChar char="•"/>
            </a:pPr>
            <a:r>
              <a:rPr lang="en-US" sz="1400" dirty="0">
                <a:solidFill>
                  <a:schemeClr val="tx1"/>
                </a:solidFill>
              </a:rPr>
              <a:t>KI-Teambild: [Tool ergänzen]</a:t>
            </a:r>
            <a:endParaRPr lang="en-US" sz="1400" dirty="0"/>
          </a:p>
          <a:p>
            <a:pPr marL="203200" indent="-203200">
              <a:spcAft>
                <a:spcPts val="800"/>
              </a:spcAft>
              <a:buSzPct val="100000"/>
              <a:buChar char="•"/>
            </a:pPr>
            <a:r>
              <a:rPr lang="en-US" sz="1400" dirty="0">
                <a:solidFill>
                  <a:schemeClr val="tx1"/>
                </a:solidFill>
              </a:rPr>
              <a:t>Symbole: Font Awesome (CC BY 4.0)</a:t>
            </a:r>
            <a:endParaRPr lang="en-US" sz="1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Anhang: Kosten und Kennzahlen je Runde</a:t>
            </a:r>
            <a:endParaRPr lang="en-US" sz="3600" dirty="0"/>
          </a:p>
        </p:txBody>
      </p:sp>
      <p:graphicFrame>
        <p:nvGraphicFramePr>
          <p:cNvPr id="15" name="Tabelle Anhang"/>
          <p:cNvGraphicFramePr>
            <a:graphicFrameLocks noGrp="1"/>
          </p:cNvGraphicFramePr>
          <p:nvPr>
            <p:extLst>
              <p:ext uri="{D42A27DB-BD31-4B8C-83A1-F6EECF244321}">
                <p14:modId xmlns:p14="http://schemas.microsoft.com/office/powerpoint/2010/main" val="1579011935"/>
              </p:ext>
            </p:extLst>
          </p:nvPr>
        </p:nvGraphicFramePr>
        <p:xfrm>
          <a:off x="640080" y="1371600"/>
          <a:ext cx="10881360" cy="914400"/>
        </p:xfrm>
        <a:graphic>
          <a:graphicData uri="http://schemas.openxmlformats.org/drawingml/2006/table">
            <a:tbl>
              <a:tblPr/>
              <a:tblGrid>
                <a:gridCol w="2926080"/>
                <a:gridCol w="1325880"/>
                <a:gridCol w="1325880"/>
                <a:gridCol w="1325880"/>
                <a:gridCol w="1325880"/>
                <a:gridCol w="1325880"/>
                <a:gridCol w="1325880"/>
              </a:tblGrid>
              <a:tr h="384048">
                <a:tc>
                  <a:txBody>
                    <a:bodyPr/>
                    <a:lstStyle/>
                    <a:p>
                      <a:pPr algn="ctr" indent="0" marL="0">
                        <a:buNone/>
                      </a:pPr>
                      <a:r>
                        <a:rPr lang="en-US" sz="1500" b="1" dirty="0">
                          <a:solidFill>
                            <a:srgbClr val="FFFFFF"/>
                          </a:solidFill>
                        </a:rPr>
                        <a:t>in €</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0F5C6B"/>
                    </a:solidFill>
                  </a:tcPr>
                </a:tc>
                <a:tc>
                  <a:txBody>
                    <a:bodyPr/>
                    <a:lstStyle/>
                    <a:p>
                      <a:pPr algn="ctr" indent="0" marL="0">
                        <a:buNone/>
                      </a:pPr>
                      <a:r>
                        <a:rPr lang="en-US" sz="1500" b="1" dirty="0">
                          <a:solidFill>
                            <a:srgbClr val="FFFFFF"/>
                          </a:solidFill>
                        </a:rPr>
                        <a:t>R1</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0F5C6B"/>
                    </a:solidFill>
                  </a:tcPr>
                </a:tc>
                <a:tc>
                  <a:txBody>
                    <a:bodyPr/>
                    <a:lstStyle/>
                    <a:p>
                      <a:pPr algn="ctr" indent="0" marL="0">
                        <a:buNone/>
                      </a:pPr>
                      <a:r>
                        <a:rPr lang="en-US" sz="1500" b="1" dirty="0">
                          <a:solidFill>
                            <a:srgbClr val="FFFFFF"/>
                          </a:solidFill>
                        </a:rPr>
                        <a:t>R2</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0F5C6B"/>
                    </a:solidFill>
                  </a:tcPr>
                </a:tc>
                <a:tc>
                  <a:txBody>
                    <a:bodyPr/>
                    <a:lstStyle/>
                    <a:p>
                      <a:pPr algn="ctr" indent="0" marL="0">
                        <a:buNone/>
                      </a:pPr>
                      <a:r>
                        <a:rPr lang="en-US" sz="1500" b="1" dirty="0">
                          <a:solidFill>
                            <a:srgbClr val="FFFFFF"/>
                          </a:solidFill>
                        </a:rPr>
                        <a:t>R3</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0F5C6B"/>
                    </a:solidFill>
                  </a:tcPr>
                </a:tc>
                <a:tc>
                  <a:txBody>
                    <a:bodyPr/>
                    <a:lstStyle/>
                    <a:p>
                      <a:pPr algn="ctr" indent="0" marL="0">
                        <a:buNone/>
                      </a:pPr>
                      <a:r>
                        <a:rPr lang="en-US" sz="1500" b="1" dirty="0">
                          <a:solidFill>
                            <a:srgbClr val="FFFFFF"/>
                          </a:solidFill>
                        </a:rPr>
                        <a:t>R4</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0F5C6B"/>
                    </a:solidFill>
                  </a:tcPr>
                </a:tc>
                <a:tc>
                  <a:txBody>
                    <a:bodyPr/>
                    <a:lstStyle/>
                    <a:p>
                      <a:pPr algn="ctr" indent="0" marL="0">
                        <a:buNone/>
                      </a:pPr>
                      <a:r>
                        <a:rPr lang="en-US" sz="1500" b="1" dirty="0">
                          <a:solidFill>
                            <a:srgbClr val="FFFFFF"/>
                          </a:solidFill>
                        </a:rPr>
                        <a:t>R5</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0F5C6B"/>
                    </a:solidFill>
                  </a:tcPr>
                </a:tc>
                <a:tc>
                  <a:txBody>
                    <a:bodyPr/>
                    <a:lstStyle/>
                    <a:p>
                      <a:pPr algn="ctr" indent="0" marL="0">
                        <a:buNone/>
                      </a:pPr>
                      <a:r>
                        <a:rPr lang="en-US" sz="1500" b="1" dirty="0">
                          <a:solidFill>
                            <a:srgbClr val="FFFFFF"/>
                          </a:solidFill>
                        </a:rPr>
                        <a:t>R6</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0F5C6B"/>
                    </a:solidFill>
                  </a:tcPr>
                </a:tc>
              </a:tr>
              <a:tr h="384048">
                <a:tc>
                  <a:txBody>
                    <a:bodyPr/>
                    <a:lstStyle/>
                    <a:p>
                      <a:pPr indent="0" marL="0">
                        <a:buNone/>
                      </a:pPr>
                      <a:r>
                        <a:rPr lang="en-US" sz="1500" dirty="0">
                          <a:solidFill>
                            <a:srgbClr val="1B2A2F"/>
                          </a:solidFill>
                        </a:rPr>
                        <a:t>– Maschinen</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30.000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30.000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r>
              <a:tr h="384048">
                <a:tc>
                  <a:txBody>
                    <a:bodyPr/>
                    <a:lstStyle/>
                    <a:p>
                      <a:pPr indent="0" marL="0">
                        <a:buNone/>
                      </a:pPr>
                      <a:r>
                        <a:rPr lang="en-US" sz="1500" dirty="0">
                          <a:solidFill>
                            <a:srgbClr val="1B2A2F"/>
                          </a:solidFill>
                        </a:rPr>
                        <a:t>– Personal</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4.000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4.000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8.000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8.000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8.000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8.000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r>
              <a:tr h="384048">
                <a:tc>
                  <a:txBody>
                    <a:bodyPr/>
                    <a:lstStyle/>
                    <a:p>
                      <a:pPr indent="0" marL="0">
                        <a:buNone/>
                      </a:pPr>
                      <a:r>
                        <a:rPr lang="en-US" sz="1500" dirty="0">
                          <a:solidFill>
                            <a:srgbClr val="1B2A2F"/>
                          </a:solidFill>
                        </a:rPr>
                        <a:t>– Miete</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5.000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5.000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5.000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5.000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5.000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5.000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r>
              <a:tr h="384048">
                <a:tc>
                  <a:txBody>
                    <a:bodyPr/>
                    <a:lstStyle/>
                    <a:p>
                      <a:pPr indent="0" marL="0">
                        <a:buNone/>
                      </a:pPr>
                      <a:r>
                        <a:rPr lang="en-US" sz="1500" dirty="0">
                          <a:solidFill>
                            <a:srgbClr val="1B2A2F"/>
                          </a:solidFill>
                        </a:rPr>
                        <a:t>– Wirtschaftsdienst</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10.000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5.000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2.500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10.000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6.500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r>
              <a:tr h="384048">
                <a:tc>
                  <a:txBody>
                    <a:bodyPr/>
                    <a:lstStyle/>
                    <a:p>
                      <a:pPr indent="0" marL="0">
                        <a:buNone/>
                      </a:pPr>
                      <a:r>
                        <a:rPr lang="en-US" sz="1500" dirty="0">
                          <a:solidFill>
                            <a:srgbClr val="1B2A2F"/>
                          </a:solidFill>
                        </a:rPr>
                        <a:t>– Produktion</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15.000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13.000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18.000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1.000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1.000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13.000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r>
              <a:tr h="384048">
                <a:tc>
                  <a:txBody>
                    <a:bodyPr/>
                    <a:lstStyle/>
                    <a:p>
                      <a:pPr indent="0" marL="0">
                        <a:buNone/>
                      </a:pPr>
                      <a:r>
                        <a:rPr lang="en-US" sz="1500" dirty="0">
                          <a:solidFill>
                            <a:srgbClr val="1B2A2F"/>
                          </a:solidFill>
                        </a:rPr>
                        <a:t>– Material</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15.000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13.000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18.000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1.500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1.000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13.000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r>
              <a:tr h="384048">
                <a:tc>
                  <a:txBody>
                    <a:bodyPr/>
                    <a:lstStyle/>
                    <a:p>
                      <a:pPr indent="0" marL="0">
                        <a:buNone/>
                      </a:pPr>
                      <a:r>
                        <a:rPr lang="en-US" sz="1500" b="1" dirty="0">
                          <a:solidFill>
                            <a:srgbClr val="1B2A2F"/>
                          </a:solidFill>
                        </a:rPr>
                        <a:t>= Kosten gesamt</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b="1" dirty="0">
                          <a:solidFill>
                            <a:srgbClr val="1B2A2F"/>
                          </a:solidFill>
                        </a:rPr>
                        <a:t>69.000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b="1" dirty="0">
                          <a:solidFill>
                            <a:srgbClr val="1B2A2F"/>
                          </a:solidFill>
                        </a:rPr>
                        <a:t>75.000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b="1" dirty="0">
                          <a:solidFill>
                            <a:srgbClr val="1B2A2F"/>
                          </a:solidFill>
                        </a:rPr>
                        <a:t>54.000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b="1" dirty="0">
                          <a:solidFill>
                            <a:srgbClr val="1B2A2F"/>
                          </a:solidFill>
                        </a:rPr>
                        <a:t>18.000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b="1" dirty="0">
                          <a:solidFill>
                            <a:srgbClr val="1B2A2F"/>
                          </a:solidFill>
                        </a:rPr>
                        <a:t>25.000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b="1" dirty="0">
                          <a:solidFill>
                            <a:srgbClr val="1B2A2F"/>
                          </a:solidFill>
                        </a:rPr>
                        <a:t>45.500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r>
              <a:tr h="384048">
                <a:tc>
                  <a:txBody>
                    <a:bodyPr/>
                    <a:lstStyle/>
                    <a:p>
                      <a:pPr indent="0" marL="0">
                        <a:buNone/>
                      </a:pPr>
                      <a:r>
                        <a:rPr lang="en-US" sz="1500" b="1" dirty="0">
                          <a:solidFill>
                            <a:srgbClr val="1B2A2F"/>
                          </a:solidFill>
                        </a:rPr>
                        <a:t>Umsatzerlöse</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b="1" dirty="0">
                          <a:solidFill>
                            <a:srgbClr val="1B2A2F"/>
                          </a:solidFill>
                        </a:rPr>
                        <a:t>45.000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b="1" dirty="0">
                          <a:solidFill>
                            <a:srgbClr val="1B2A2F"/>
                          </a:solidFill>
                        </a:rPr>
                        <a:t>55.900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b="1" dirty="0">
                          <a:solidFill>
                            <a:srgbClr val="1B2A2F"/>
                          </a:solidFill>
                        </a:rPr>
                        <a:t>79.940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b="1" dirty="0">
                          <a:solidFill>
                            <a:srgbClr val="1B2A2F"/>
                          </a:solidFill>
                        </a:rPr>
                        <a:t>5.250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b="1" dirty="0">
                          <a:solidFill>
                            <a:srgbClr val="1B2A2F"/>
                          </a:solidFill>
                        </a:rPr>
                        <a:t>2.700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b="1" dirty="0">
                          <a:solidFill>
                            <a:srgbClr val="1B2A2F"/>
                          </a:solidFill>
                        </a:rPr>
                        <a:t>51.480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r>
              <a:tr h="384048">
                <a:tc>
                  <a:txBody>
                    <a:bodyPr/>
                    <a:lstStyle/>
                    <a:p>
                      <a:pPr indent="0" marL="0">
                        <a:buNone/>
                      </a:pPr>
                      <a:r>
                        <a:rPr lang="en-US" sz="1500" b="1" dirty="0">
                          <a:solidFill>
                            <a:srgbClr val="1B2A2F"/>
                          </a:solidFill>
                        </a:rPr>
                        <a:t>Wirtschaftlichkeit</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ctr" indent="0" marL="0">
                        <a:buNone/>
                      </a:pPr>
                      <a:r>
                        <a:rPr lang="en-US" sz="1500" b="1" dirty="0">
                          <a:solidFill>
                            <a:srgbClr val="8A4A12"/>
                          </a:solidFill>
                        </a:rPr>
                        <a:t>0,65</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F7E4CF"/>
                    </a:solidFill>
                  </a:tcPr>
                </a:tc>
                <a:tc>
                  <a:txBody>
                    <a:bodyPr/>
                    <a:lstStyle/>
                    <a:p>
                      <a:pPr algn="ctr" indent="0" marL="0">
                        <a:buNone/>
                      </a:pPr>
                      <a:r>
                        <a:rPr lang="en-US" sz="1500" b="1" dirty="0">
                          <a:solidFill>
                            <a:srgbClr val="8A4A12"/>
                          </a:solidFill>
                        </a:rPr>
                        <a:t>0,75</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F7E4CF"/>
                    </a:solidFill>
                  </a:tcPr>
                </a:tc>
                <a:tc>
                  <a:txBody>
                    <a:bodyPr/>
                    <a:lstStyle/>
                    <a:p>
                      <a:pPr algn="ctr" indent="0" marL="0">
                        <a:buNone/>
                      </a:pPr>
                      <a:r>
                        <a:rPr lang="en-US" sz="1500" b="1" dirty="0">
                          <a:solidFill>
                            <a:srgbClr val="3D6610"/>
                          </a:solidFill>
                        </a:rPr>
                        <a:t>1,48</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E3EFCF"/>
                    </a:solidFill>
                  </a:tcPr>
                </a:tc>
                <a:tc>
                  <a:txBody>
                    <a:bodyPr/>
                    <a:lstStyle/>
                    <a:p>
                      <a:pPr algn="ctr" indent="0" marL="0">
                        <a:buNone/>
                      </a:pPr>
                      <a:r>
                        <a:rPr lang="en-US" sz="1500" b="1" dirty="0">
                          <a:solidFill>
                            <a:srgbClr val="8A4A12"/>
                          </a:solidFill>
                        </a:rPr>
                        <a:t>0,29</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F7E4CF"/>
                    </a:solidFill>
                  </a:tcPr>
                </a:tc>
                <a:tc>
                  <a:txBody>
                    <a:bodyPr/>
                    <a:lstStyle/>
                    <a:p>
                      <a:pPr algn="ctr" indent="0" marL="0">
                        <a:buNone/>
                      </a:pPr>
                      <a:r>
                        <a:rPr lang="en-US" sz="1500" b="1" dirty="0">
                          <a:solidFill>
                            <a:srgbClr val="8A4A12"/>
                          </a:solidFill>
                        </a:rPr>
                        <a:t>0,11</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F7E4CF"/>
                    </a:solidFill>
                  </a:tcPr>
                </a:tc>
                <a:tc>
                  <a:txBody>
                    <a:bodyPr/>
                    <a:lstStyle/>
                    <a:p>
                      <a:pPr algn="ctr" indent="0" marL="0">
                        <a:buNone/>
                      </a:pPr>
                      <a:r>
                        <a:rPr lang="en-US" sz="1500" b="1" dirty="0">
                          <a:solidFill>
                            <a:srgbClr val="3D6610"/>
                          </a:solidFill>
                        </a:rPr>
                        <a:t>1,13</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solidFill>
                      <a:srgbClr val="E3EFCF"/>
                    </a:solidFill>
                  </a:tcPr>
                </a:tc>
              </a:tr>
              <a:tr h="384048">
                <a:tc>
                  <a:txBody>
                    <a:bodyPr/>
                    <a:lstStyle/>
                    <a:p>
                      <a:pPr indent="0" marL="0">
                        <a:buNone/>
                      </a:pPr>
                      <a:r>
                        <a:rPr lang="en-US" sz="1500" b="1" dirty="0">
                          <a:solidFill>
                            <a:srgbClr val="1B2A2F"/>
                          </a:solidFill>
                        </a:rPr>
                        <a:t>Absatzquote</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ctr" indent="0" marL="0">
                        <a:buNone/>
                      </a:pPr>
                      <a:r>
                        <a:rPr lang="en-US" sz="1500" dirty="0">
                          <a:solidFill>
                            <a:srgbClr val="1B2A2F"/>
                          </a:solidFill>
                        </a:rPr>
                        <a:t>100 %</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ctr" indent="0" marL="0">
                        <a:buNone/>
                      </a:pPr>
                      <a:r>
                        <a:rPr lang="en-US" sz="1500" dirty="0">
                          <a:solidFill>
                            <a:srgbClr val="1B2A2F"/>
                          </a:solidFill>
                        </a:rPr>
                        <a:t>50 %</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ctr" indent="0" marL="0">
                        <a:buNone/>
                      </a:pPr>
                      <a:r>
                        <a:rPr lang="en-US" sz="1500" dirty="0">
                          <a:solidFill>
                            <a:srgbClr val="1B2A2F"/>
                          </a:solidFill>
                        </a:rPr>
                        <a:t>70 %</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ctr" indent="0" marL="0">
                        <a:buNone/>
                      </a:pPr>
                      <a:r>
                        <a:rPr lang="en-US" sz="1500" dirty="0">
                          <a:solidFill>
                            <a:srgbClr val="1B2A2F"/>
                          </a:solidFill>
                        </a:rPr>
                        <a:t>50 %</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ctr" indent="0" marL="0">
                        <a:buNone/>
                      </a:pPr>
                      <a:r>
                        <a:rPr lang="en-US" sz="1500" dirty="0">
                          <a:solidFill>
                            <a:srgbClr val="1B2A2F"/>
                          </a:solidFill>
                        </a:rPr>
                        <a:t>20 %</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ctr" indent="0" marL="0">
                        <a:buNone/>
                      </a:pPr>
                      <a:r>
                        <a:rPr lang="en-US" sz="1500" dirty="0">
                          <a:solidFill>
                            <a:srgbClr val="1B2A2F"/>
                          </a:solidFill>
                        </a:rPr>
                        <a:t>40 %</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r>
              <a:tr h="384048">
                <a:tc>
                  <a:txBody>
                    <a:bodyPr/>
                    <a:lstStyle/>
                    <a:p>
                      <a:pPr indent="0" marL="0">
                        <a:buNone/>
                      </a:pPr>
                      <a:r>
                        <a:rPr lang="en-US" sz="1500" b="1" dirty="0">
                          <a:solidFill>
                            <a:srgbClr val="1B2A2F"/>
                          </a:solidFill>
                        </a:rPr>
                        <a:t>Schlussbestand</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76.000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56.900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82.840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70.090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47.790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c>
                  <a:txBody>
                    <a:bodyPr/>
                    <a:lstStyle/>
                    <a:p>
                      <a:pPr algn="r" indent="0" marL="0">
                        <a:buNone/>
                      </a:pPr>
                      <a:r>
                        <a:rPr lang="en-US" sz="1500" dirty="0">
                          <a:solidFill>
                            <a:srgbClr val="1B2A2F"/>
                          </a:solidFill>
                        </a:rPr>
                        <a:t>53.770</a:t>
                      </a:r>
                      <a:endParaRPr lang="en-US" sz="1500" dirty="0"/>
                    </a:p>
                  </a:txBody>
                  <a:tcPr marL="91440" marR="91440" marT="45720" marB="45720" anchor="ctr">
                    <a:lnL w="9525" cap="flat" cmpd="sng" algn="ctr">
                      <a:solidFill>
                        <a:srgbClr val="D3D1C8"/>
                      </a:solidFill>
                      <a:prstDash val="solid"/>
                      <a:round/>
                      <a:headEnd type="none" w="med" len="med"/>
                      <a:tailEnd type="none" w="med" len="med"/>
                    </a:lnL>
                    <a:lnR w="9525" cap="flat" cmpd="sng" algn="ctr">
                      <a:solidFill>
                        <a:srgbClr val="D3D1C8"/>
                      </a:solidFill>
                      <a:prstDash val="solid"/>
                      <a:round/>
                      <a:headEnd type="none" w="med" len="med"/>
                      <a:tailEnd type="none" w="med" len="med"/>
                    </a:lnR>
                    <a:lnT w="9525" cap="flat" cmpd="sng" algn="ctr">
                      <a:solidFill>
                        <a:srgbClr val="D3D1C8"/>
                      </a:solidFill>
                      <a:prstDash val="solid"/>
                      <a:round/>
                      <a:headEnd type="none" w="med" len="med"/>
                      <a:tailEnd type="none" w="med" len="med"/>
                    </a:lnT>
                    <a:lnB w="9525" cap="flat" cmpd="sng" algn="ctr">
                      <a:solidFill>
                        <a:srgbClr val="D3D1C8"/>
                      </a:solidFill>
                      <a:prstDash val="solid"/>
                      <a:round/>
                      <a:headEnd type="none" w="med" len="med"/>
                      <a:tailEnd type="none" w="med" len="med"/>
                    </a:lnB>
                  </a:tcPr>
                </a:tc>
              </a:tr>
            </a:tbl>
          </a:graphicData>
        </a:graphic>
      </p:graphicFrame>
      <p:sp>
        <p:nvSpPr>
          <p:cNvPr id="5" name="Text 1"/>
          <p:cNvSpPr txBox="1"/>
          <p:nvPr/>
        </p:nvSpPr>
        <p:spPr>
          <a:xfrm>
            <a:off x="640080" y="5943600"/>
            <a:ext cx="10881360" cy="320040"/>
          </a:xfrm>
          <a:prstGeom prst="rect">
            <a:avLst/>
          </a:prstGeom>
          <a:noFill/>
          <a:ln/>
        </p:spPr>
        <p:txBody>
          <a:bodyPr wrap="square" lIns="0" tIns="0" rIns="0" bIns="0" rtlCol="0" anchor="ctr"/>
          <a:lstStyle/>
          <a:p>
            <a:pPr indent="0" marL="0">
              <a:buNone/>
            </a:pPr>
            <a:r>
              <a:rPr lang="en-US" sz="1200" i="1" dirty="0">
                <a:solidFill>
                  <a:schemeClr val="accent4"/>
                </a:solidFill>
              </a:rPr>
              <a:t>Wirtschaftlichkeit gesamt: 240.270 € ÷ 286.500 € = 0,84 · Wirtschaftsdienst = sonstige Kosten laut Kassenbuch</a:t>
            </a:r>
            <a:endParaRPr lang="en-US" sz="12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lbharz">
  <a:themeElements>
    <a:clrScheme name="Elbharz">
      <a:dk1>
        <a:srgbClr val="1B2A2F"/>
      </a:dk1>
      <a:lt1>
        <a:srgbClr val="FFFFFF"/>
      </a:lt1>
      <a:dk2>
        <a:srgbClr val="0F5C6B"/>
      </a:dk2>
      <a:lt2>
        <a:srgbClr val="F3F1EA"/>
      </a:lt2>
      <a:accent1>
        <a:srgbClr val="0F5C6B"/>
      </a:accent1>
      <a:accent2>
        <a:srgbClr val="D9822B"/>
      </a:accent2>
      <a:accent3>
        <a:srgbClr val="8DB33A"/>
      </a:accent3>
      <a:accent4>
        <a:srgbClr val="5F8F99"/>
      </a:accent4>
      <a:accent5>
        <a:srgbClr val="B8B8B0"/>
      </a:accent5>
      <a:accent6>
        <a:srgbClr val="7A4B1E"/>
      </a:accent6>
      <a:hlink>
        <a:srgbClr val="0F5C6B"/>
      </a:hlink>
      <a:folHlink>
        <a:srgbClr val="5F8F99"/>
      </a:folHlink>
    </a:clrScheme>
    <a:fontScheme name="Elbharz">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Primatenbrause – Endpräsentation Planspiel Bertis Brause</dc:title>
  <dc:subject>PptxGenJS Presentation</dc:subject>
  <dc:creator>Elbharz Getränke GbR, Klasse 11b</dc:creator>
  <cp:lastModifiedBy>Elbharz Getränke GbR, Klasse 11b</cp:lastModifiedBy>
  <cp:revision>1</cp:revision>
  <dcterms:created xsi:type="dcterms:W3CDTF">2026-10-16T06:58:12Z</dcterms:created>
  <dcterms:modified xsi:type="dcterms:W3CDTF">2026-10-16T06:58:12Z</dcterms:modified>
</cp:coreProperties>
</file>