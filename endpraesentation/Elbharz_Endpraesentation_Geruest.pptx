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2c978acb-694f-8b36-b7c3-e5e95f934328}">
          <p14:sldIdLst>
            <p14:sldId id="256"/>
            <p14:sldId id="257"/>
            <p14:sldId id="258"/>
          </p14:sldIdLst>
        </p14:section>
        <p14:section name="Verlauf der Runden" id="{910e4e6b-7d87-042a-633c-010422237db8}">
          <p14:sldIdLst>
            <p14:sldId id="259"/>
            <p14:sldId id="260"/>
            <p14:sldId id="261"/>
          </p14:sldIdLst>
        </p14:section>
        <p14:section name="Auswertung" id="{3df4eb8d-6ba9-2511-9e5b-fed6eb46a0a5}">
          <p14:sldIdLst>
            <p14:sldId id="262"/>
            <p14:sldId id="263"/>
            <p14:sldId id="264"/>
          </p14:sldIdLst>
        </p14:section>
        <p14:section name="Reflexion" id="{55f94074-a051-20b9-3d5a-c1d7aaf69ec0}">
          <p14:sldIdLst>
            <p14:sldId id="265"/>
          </p14:sldIdLst>
        </p14:section>
        <p14:section name="Bezug zur Gründung" id="{6acd1d9f-0f8f-6fa8-d2a9-23fb7735b5dc}">
          <p14:sldIdLst>
            <p14:sldId id="266"/>
          </p14:sldIdLst>
        </p14:section>
        <p14:section name="Abschluss" id="{fc744af7-be2a-b75b-def1-fd5f590d12de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0:30 min. Gruppe nennen, kurz sagen was kommt: Einleitung, Rundenverlauf, Auswertung, Reflexion, Bezug zur Gründung.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Hauptaspekte der Firma + Gründungsintention. Quelle: Firmenpräsentation Folie 2–4.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Die Aufgabe fragt ausdrücklich nach Nachhaltigkeit bei der Gründung. Mehrweg lohnt nur bei kurzen Wegen -&gt; regional.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Pro Runde ein Satz: Was haben wir entschieden und was kam dabei raus? Details auf der nächsten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Nur die 2–3 wichtigsten Entscheidungen erklären, Rest der Tabelle für sich sprechen lassen. Quelle: Entscheidungsprotokoll +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Ab Runde 2 gab es Nachrichten mit Auswirkungen auf Kosten und Erfolg. Pro Nachricht: Wie haben wir reagiert, was hat es am Unternehmenswert verändert?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Aufgabe: Welche Kennzahl war in welcher Runde wie hoch, wie berechnet, wie aussagekräftig? Rechenweg: Schlussbestand = Anfangsbestand − Maschinen − Personal − Miete − Produktion − Material + Umsatzerlöse.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Zwei Diagramme: links Umsatz/Kosten/Gewinn je Runde, rechts Kassenbestand. Je Diagramm eine Aussage, z. B. wo der Knick war und warum.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Verkaufswert = Schlussbestand nach Runde 6 + Restwert der Maschinen (10 % Wertverlust je Runde auf den Anschaffungswert).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Begründet Stellung nehmen und Handlungsalternativen zeigen (Aufgabentext). Pro Entscheidung: Bewertung + was wir stattdessen tun könnten.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Aufgabe: Welche Gründungsideen fanden im Spiel keine Berücksichtigung, welche Auswirkung hätte das gehabt, und wie könnte man das Spiel erweitern, ohne es zu komplex zu machen?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Stehen lassen, solange Fragen 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PRIMATENBRAUSE · ELBHARZ GETRÄNKE GBR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ne"/>
          <p:cNvSpPr/>
          <p:nvPr/>
        </p:nvSpPr>
        <p:spPr>
          <a:xfrm>
            <a:off x="8686800" y="1097280"/>
            <a:ext cx="3108960" cy="31089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Punkt grün"/>
          <p:cNvSpPr/>
          <p:nvPr/>
        </p:nvSpPr>
        <p:spPr>
          <a:xfrm>
            <a:off x="7955280" y="3749040"/>
            <a:ext cx="1188720" cy="1188720"/>
          </a:xfrm>
          <a:prstGeom prst="ellipse">
            <a:avLst/>
          </a:prstGeom>
          <a:solidFill>
            <a:schemeClr val="accent3">
              <a:alpha val="75000"/>
            </a:scheme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PLANSPIEL BERTIS BRAUSE · ENDPRÄSENTATION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Primatenbrause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004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Elbharz Getränke GbR – unser Weg durch sechs Spielrunden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Elbharz Getränke GbR · Klasse 11b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wir sind und warum wir gegründet haben</a:t>
            </a:r>
            <a:endParaRPr lang="en-US" sz="3600" dirty="0"/>
          </a:p>
        </p:txBody>
      </p:sp>
      <p:sp>
        <p:nvSpPr>
          <p:cNvPr id="4" name="Leitgedanke"/>
          <p:cNvSpPr/>
          <p:nvPr/>
        </p:nvSpPr>
        <p:spPr>
          <a:xfrm>
            <a:off x="640080" y="1463040"/>
            <a:ext cx="4754880" cy="4480560"/>
          </a:xfrm>
          <a:prstGeom prst="roundRect">
            <a:avLst>
              <a:gd name="adj" fmla="val 2449"/>
            </a:avLst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05840" y="1737360"/>
            <a:ext cx="40233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Getränk, dessen Rückseite man zu Ende lesen kann.</a:t>
            </a:r>
            <a:endParaRPr lang="en-US" sz="32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Unsere einzige Vorgabe – daran haben wir alles andere gemessen.</a:t>
            </a:r>
            <a:endParaRPr lang="en-US" sz="3200" dirty="0"/>
          </a:p>
        </p:txBody>
      </p:sp>
      <p:sp>
        <p:nvSpPr>
          <p:cNvPr id="6" name="Karte Das Unternehmen"/>
          <p:cNvSpPr/>
          <p:nvPr/>
        </p:nvSpPr>
        <p:spPr>
          <a:xfrm>
            <a:off x="5669280" y="1463040"/>
            <a:ext cx="58521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Icon-Kreis FaBuilding"/>
          <p:cNvSpPr/>
          <p:nvPr/>
        </p:nvSpPr>
        <p:spPr>
          <a:xfrm>
            <a:off x="5943600" y="1828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 FaBuilding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2822" y="2008022"/>
            <a:ext cx="281635" cy="28163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12280" y="14630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Das Unternehmen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Elbharz Getränke GbR, Hamburg, 4 Gesellschafter. Produkt: Primatenbrause (Tamarinde-Limette)</a:t>
            </a:r>
            <a:endParaRPr lang="en-US" sz="2000" dirty="0"/>
          </a:p>
        </p:txBody>
      </p:sp>
      <p:sp>
        <p:nvSpPr>
          <p:cNvPr id="10" name="Karte Die Zielgruppe"/>
          <p:cNvSpPr/>
          <p:nvPr/>
        </p:nvSpPr>
        <p:spPr>
          <a:xfrm>
            <a:off x="5669280" y="3017520"/>
            <a:ext cx="58521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1" name="Icon-Kreis FaBullseye"/>
          <p:cNvSpPr/>
          <p:nvPr/>
        </p:nvSpPr>
        <p:spPr>
          <a:xfrm>
            <a:off x="5943600" y="3383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 FaBullseye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2822" y="3562502"/>
            <a:ext cx="281635" cy="28163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12280" y="30175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Die Zielgruppe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16–25 Jahre, liest Etiketten aus Misstrauen – Slogan: „Was dein Körper schon immer wollte.“</a:t>
            </a:r>
            <a:endParaRPr lang="en-US" sz="2000" dirty="0"/>
          </a:p>
        </p:txBody>
      </p:sp>
      <p:sp>
        <p:nvSpPr>
          <p:cNvPr id="14" name="Karte Der Vertrieb"/>
          <p:cNvSpPr/>
          <p:nvPr/>
        </p:nvSpPr>
        <p:spPr>
          <a:xfrm>
            <a:off x="5669280" y="4572000"/>
            <a:ext cx="58521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5" name="Icon-Kreis FaStore"/>
          <p:cNvSpPr/>
          <p:nvPr/>
        </p:nvSpPr>
        <p:spPr>
          <a:xfrm>
            <a:off x="5943600" y="49377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Icon FaStore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2822" y="5116982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12280" y="4572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Der Vertrieb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Onlineshop und Social Media, dann regionaler Handel, dazu Messen und Märkte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Nachhaltigkeit von Anfang an</a:t>
            </a:r>
            <a:endParaRPr lang="en-US" sz="3600" dirty="0"/>
          </a:p>
        </p:txBody>
      </p:sp>
      <p:sp>
        <p:nvSpPr>
          <p:cNvPr id="4" name="Karte Mehrweg-Glas"/>
          <p:cNvSpPr/>
          <p:nvPr/>
        </p:nvSpPr>
        <p:spPr>
          <a:xfrm>
            <a:off x="640080" y="146304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5" name="Icon-Kreis FaRecycle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 FaRecycle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622" y="1916582"/>
            <a:ext cx="281635" cy="28163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Mehrweg-Glas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26517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Pfandsystem statt Einweg</a:t>
            </a:r>
            <a:endParaRPr lang="en-US" sz="1600" dirty="0"/>
          </a:p>
        </p:txBody>
      </p:sp>
      <p:sp>
        <p:nvSpPr>
          <p:cNvPr id="9" name="Karte Regional"/>
          <p:cNvSpPr/>
          <p:nvPr/>
        </p:nvSpPr>
        <p:spPr>
          <a:xfrm>
            <a:off x="4343400" y="146304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10" name="Icon-Kreis FaMapMarkerAlt"/>
          <p:cNvSpPr/>
          <p:nvPr/>
        </p:nvSpPr>
        <p:spPr>
          <a:xfrm>
            <a:off x="4617720" y="1737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con FaMapMarkerAlt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942" y="1916582"/>
            <a:ext cx="281635" cy="28163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4068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Regional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26517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Hier gebraut, hier abgefüllt – kurze Wege, damit Mehrweg ökologisch wirklich besser ist</a:t>
            </a:r>
            <a:endParaRPr lang="en-US" sz="1600" dirty="0"/>
          </a:p>
        </p:txBody>
      </p:sp>
      <p:sp>
        <p:nvSpPr>
          <p:cNvPr id="14" name="Karte Eine Sorte"/>
          <p:cNvSpPr/>
          <p:nvPr/>
        </p:nvSpPr>
        <p:spPr>
          <a:xfrm>
            <a:off x="8046720" y="146304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15" name="Icon-Kreis FaLeaf"/>
          <p:cNvSpPr/>
          <p:nvPr/>
        </p:nvSpPr>
        <p:spPr>
          <a:xfrm>
            <a:off x="8321040" y="1737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Icon FaLeaf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262" y="1916582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Eine Sorte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26517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Weniger Produktion, Lager und Transport</a:t>
            </a:r>
            <a:endParaRPr lang="en-US" sz="1600" dirty="0"/>
          </a:p>
        </p:txBody>
      </p:sp>
      <p:sp>
        <p:nvSpPr>
          <p:cNvPr id="19" name="Platzhalter"/>
          <p:cNvSpPr/>
          <p:nvPr/>
        </p:nvSpPr>
        <p:spPr>
          <a:xfrm>
            <a:off x="640080" y="4663440"/>
            <a:ext cx="10881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20" name="Text 14"/>
          <p:cNvSpPr txBox="1"/>
          <p:nvPr/>
        </p:nvSpPr>
        <p:spPr>
          <a:xfrm>
            <a:off x="868680" y="466344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Verknüpfung zum Spiel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Wie floss Nachhaltigkeit im Spiel ein? (z. B. Maschinenwahl, Produktionsmenge, Preis) – später ergänzen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Verlauf der Runden im Überblick</a:t>
            </a:r>
            <a:endParaRPr lang="en-US" sz="3600" dirty="0"/>
          </a:p>
        </p:txBody>
      </p:sp>
      <p:sp>
        <p:nvSpPr>
          <p:cNvPr id="4" name="Runde 1"/>
          <p:cNvSpPr/>
          <p:nvPr/>
        </p:nvSpPr>
        <p:spPr>
          <a:xfrm>
            <a:off x="118872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188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Jan./Feb.</a:t>
            </a:r>
            <a:endParaRPr lang="en-US" sz="1400" dirty="0"/>
          </a:p>
        </p:txBody>
      </p:sp>
      <p:sp>
        <p:nvSpPr>
          <p:cNvPr id="7" name="Platzhalter Runde 1"/>
          <p:cNvSpPr/>
          <p:nvPr/>
        </p:nvSpPr>
        <p:spPr>
          <a:xfrm>
            <a:off x="640080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777240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9" name="Runde 2"/>
          <p:cNvSpPr/>
          <p:nvPr/>
        </p:nvSpPr>
        <p:spPr>
          <a:xfrm>
            <a:off x="3035808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03580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März/Apr.</a:t>
            </a:r>
            <a:endParaRPr lang="en-US" sz="1400" dirty="0"/>
          </a:p>
        </p:txBody>
      </p:sp>
      <p:sp>
        <p:nvSpPr>
          <p:cNvPr id="12" name="Platzhalter Runde 2"/>
          <p:cNvSpPr/>
          <p:nvPr/>
        </p:nvSpPr>
        <p:spPr>
          <a:xfrm>
            <a:off x="2487168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2624328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14" name="Runde 3"/>
          <p:cNvSpPr/>
          <p:nvPr/>
        </p:nvSpPr>
        <p:spPr>
          <a:xfrm>
            <a:off x="4882896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82896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334256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Mai/Juni</a:t>
            </a:r>
            <a:endParaRPr lang="en-US" sz="1400" dirty="0"/>
          </a:p>
        </p:txBody>
      </p:sp>
      <p:sp>
        <p:nvSpPr>
          <p:cNvPr id="17" name="Platzhalter Runde 3"/>
          <p:cNvSpPr/>
          <p:nvPr/>
        </p:nvSpPr>
        <p:spPr>
          <a:xfrm>
            <a:off x="4334256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4471416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19" name="Runde 4"/>
          <p:cNvSpPr/>
          <p:nvPr/>
        </p:nvSpPr>
        <p:spPr>
          <a:xfrm>
            <a:off x="6729984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729984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181344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4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Juli/Aug.</a:t>
            </a:r>
            <a:endParaRPr lang="en-US" sz="1400" dirty="0"/>
          </a:p>
        </p:txBody>
      </p:sp>
      <p:sp>
        <p:nvSpPr>
          <p:cNvPr id="22" name="Platzhalter Runde 4"/>
          <p:cNvSpPr/>
          <p:nvPr/>
        </p:nvSpPr>
        <p:spPr>
          <a:xfrm>
            <a:off x="6181344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6318504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24" name="Runde 5"/>
          <p:cNvSpPr/>
          <p:nvPr/>
        </p:nvSpPr>
        <p:spPr>
          <a:xfrm>
            <a:off x="8577072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77072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028432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5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Sep./Okt.</a:t>
            </a:r>
            <a:endParaRPr lang="en-US" sz="1400" dirty="0"/>
          </a:p>
        </p:txBody>
      </p:sp>
      <p:sp>
        <p:nvSpPr>
          <p:cNvPr id="27" name="Platzhalter Runde 5"/>
          <p:cNvSpPr/>
          <p:nvPr/>
        </p:nvSpPr>
        <p:spPr>
          <a:xfrm>
            <a:off x="8028432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8165592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29" name="Runde 6"/>
          <p:cNvSpPr/>
          <p:nvPr/>
        </p:nvSpPr>
        <p:spPr>
          <a:xfrm>
            <a:off x="1042416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04241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9875520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Nov./Dez.</a:t>
            </a:r>
            <a:endParaRPr lang="en-US" sz="1400" dirty="0"/>
          </a:p>
        </p:txBody>
      </p:sp>
      <p:sp>
        <p:nvSpPr>
          <p:cNvPr id="32" name="Platzhalter Runde 6"/>
          <p:cNvSpPr/>
          <p:nvPr/>
        </p:nvSpPr>
        <p:spPr>
          <a:xfrm>
            <a:off x="9875520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10012680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Unsere Entscheidungen je Runde</a:t>
            </a:r>
            <a:endParaRPr lang="en-US" sz="3600" dirty="0"/>
          </a:p>
        </p:txBody>
      </p:sp>
      <p:graphicFrame>
        <p:nvGraphicFramePr>
          <p:cNvPr id="6" name="Tabelle Entscheidung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737360"/>
                <a:gridCol w="1554480"/>
                <a:gridCol w="1920240"/>
                <a:gridCol w="164592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Runde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Maschinen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Mitarbeiter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Paletten produziert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Preis / Palette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Begründung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Werte aus Entscheidungsprotokoll und Excel eintragen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Wirtschaftsdienst: was von außen auf uns wirkte</a:t>
            </a:r>
            <a:endParaRPr lang="en-US" sz="3600" dirty="0"/>
          </a:p>
        </p:txBody>
      </p:sp>
      <p:sp>
        <p:nvSpPr>
          <p:cNvPr id="4" name="Platzhalter"/>
          <p:cNvSpPr/>
          <p:nvPr/>
        </p:nvSpPr>
        <p:spPr>
          <a:xfrm>
            <a:off x="640080" y="1463040"/>
            <a:ext cx="530352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Nachricht(en) je Runde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Runde 2 bis 6: Meldung des Wirtschaftsdienstes in einem Satz</a:t>
            </a:r>
            <a:endParaRPr lang="en-US" sz="1600" dirty="0"/>
          </a:p>
        </p:txBody>
      </p:sp>
      <p:sp>
        <p:nvSpPr>
          <p:cNvPr id="6" name="Platzhalter"/>
          <p:cNvSpPr/>
          <p:nvPr/>
        </p:nvSpPr>
        <p:spPr>
          <a:xfrm>
            <a:off x="6217920" y="1463040"/>
            <a:ext cx="530352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Unsere Reaktion &amp; Wirkung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haben wir geändert, und wie hat sich der Unternehmenswert dadurch verändert?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Auswertung: Kennzahlen pro Runde</a:t>
            </a:r>
            <a:endParaRPr lang="en-US" sz="3600" dirty="0"/>
          </a:p>
        </p:txBody>
      </p:sp>
      <p:graphicFrame>
        <p:nvGraphicFramePr>
          <p:cNvPr id="8" name="Tabelle Kennzahl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Kennzahl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Umsatzerlöse (€)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Gesamtkosten (€)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Gewinn der Runde (€)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Kassenbestand Ende (€)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Abgesetzte Paletten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Auslastung (Absatz / Produktion)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Karte So haben wir gerechnet"/>
          <p:cNvSpPr/>
          <p:nvPr/>
        </p:nvSpPr>
        <p:spPr>
          <a:xfrm>
            <a:off x="8138160" y="1463040"/>
            <a:ext cx="3383280" cy="42062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6" name="Icon-Kreis FaChartLine"/>
          <p:cNvSpPr/>
          <p:nvPr/>
        </p:nvSpPr>
        <p:spPr>
          <a:xfrm>
            <a:off x="841248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FaChartLine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1702" y="191658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235440" y="17373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So haben wir gerechnet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412480" y="265176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Umsatz = Menge × Preis (Rest am Schnäppchenmarkt: 1.000 €/Palette)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Kosten = Maschinen, Personal, Miete, Produktion, Material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Schlussbestand = Anfangsbestand − Kosten + Umsatz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640080" y="576072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Aussagekraft der Kennzahlen: später ergänzen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Auswertung: Entwicklung über die Runden</a:t>
            </a:r>
            <a:endParaRPr lang="en-US" sz="3600" dirty="0"/>
          </a:p>
        </p:txBody>
      </p:sp>
      <p:sp>
        <p:nvSpPr>
          <p:cNvPr id="4" name="Platzhalter"/>
          <p:cNvSpPr/>
          <p:nvPr/>
        </p:nvSpPr>
        <p:spPr>
          <a:xfrm>
            <a:off x="640080" y="1463040"/>
            <a:ext cx="5303520" cy="38404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868680" y="146304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Diagramm: Umsatz, Kosten, Gewinn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Säulen je Runde (R1–R6)</a:t>
            </a:r>
            <a:endParaRPr lang="en-US" sz="1600" dirty="0"/>
          </a:p>
        </p:txBody>
      </p:sp>
      <p:sp>
        <p:nvSpPr>
          <p:cNvPr id="6" name="Platzhalter"/>
          <p:cNvSpPr/>
          <p:nvPr/>
        </p:nvSpPr>
        <p:spPr>
          <a:xfrm>
            <a:off x="6217920" y="1463040"/>
            <a:ext cx="5303520" cy="38404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6446520" y="146304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Diagramm: Kassenbestand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Linie je Runde, Start 100.000 €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86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Kernaussage: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2103120" y="54864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Ein Satz zur Entwicklung – später ergänzen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Endbestand und Unternehmensverkaufswert</a:t>
            </a:r>
            <a:endParaRPr lang="en-US" sz="3600" dirty="0"/>
          </a:p>
        </p:txBody>
      </p:sp>
      <p:sp>
        <p:nvSpPr>
          <p:cNvPr id="4" name="Kennzahl Schlussbestand nach Runde 6"/>
          <p:cNvSpPr/>
          <p:nvPr/>
        </p:nvSpPr>
        <p:spPr>
          <a:xfrm>
            <a:off x="640080" y="146304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6916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€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Schlussbestand nach Runde 6</a:t>
            </a:r>
            <a:endParaRPr lang="en-US" sz="1600" dirty="0"/>
          </a:p>
        </p:txBody>
      </p:sp>
      <p:sp>
        <p:nvSpPr>
          <p:cNvPr id="7" name="Kennzahl Restwert der Maschinen"/>
          <p:cNvSpPr/>
          <p:nvPr/>
        </p:nvSpPr>
        <p:spPr>
          <a:xfrm>
            <a:off x="4343400" y="146304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343400" y="16916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€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Restwert der Maschinen</a:t>
            </a:r>
            <a:endParaRPr lang="en-US" sz="1600" dirty="0"/>
          </a:p>
        </p:txBody>
      </p:sp>
      <p:sp>
        <p:nvSpPr>
          <p:cNvPr id="10" name="Kennzahl Unternehmensverkaufswert"/>
          <p:cNvSpPr/>
          <p:nvPr/>
        </p:nvSpPr>
        <p:spPr>
          <a:xfrm>
            <a:off x="8046720" y="146304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0" y="16916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€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Unternehmensverkaufswert</a:t>
            </a:r>
            <a:endParaRPr lang="en-US" sz="1600" dirty="0"/>
          </a:p>
        </p:txBody>
      </p:sp>
      <p:sp>
        <p:nvSpPr>
          <p:cNvPr id="13" name="Platzhalter"/>
          <p:cNvSpPr/>
          <p:nvPr/>
        </p:nvSpPr>
        <p:spPr>
          <a:xfrm>
            <a:off x="640080" y="4206240"/>
            <a:ext cx="108813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8680" y="42062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Einordnung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Platzierung im Vergleich zu den anderen Gruppen? Was hat am meisten zum Ergebnis beigetragen?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Reflexion: Würden wir wieder so entscheiden?</a:t>
            </a:r>
            <a:endParaRPr lang="en-US" sz="3600" dirty="0"/>
          </a:p>
        </p:txBody>
      </p:sp>
      <p:sp>
        <p:nvSpPr>
          <p:cNvPr id="4" name="Karte Das lief gut"/>
          <p:cNvSpPr/>
          <p:nvPr/>
        </p:nvSpPr>
        <p:spPr>
          <a:xfrm>
            <a:off x="64008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5" name="Icon-Kreis FaThumbsUp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 FaThumbsUp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622" y="1916582"/>
            <a:ext cx="281635" cy="28163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Das lief gut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Entscheidung 1: Begründung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Entscheidung 2: Begründung</a:t>
            </a:r>
            <a:endParaRPr lang="en-US" sz="1600" dirty="0"/>
          </a:p>
        </p:txBody>
      </p:sp>
      <p:sp>
        <p:nvSpPr>
          <p:cNvPr id="9" name="Karte Das lief schlechter"/>
          <p:cNvSpPr/>
          <p:nvPr/>
        </p:nvSpPr>
        <p:spPr>
          <a:xfrm>
            <a:off x="434340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Icon-Kreis FaThumbsDown"/>
          <p:cNvSpPr/>
          <p:nvPr/>
        </p:nvSpPr>
        <p:spPr>
          <a:xfrm>
            <a:off x="4617720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 FaThumbsDown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942" y="1916582"/>
            <a:ext cx="281635" cy="28163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4068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Das lief schlechter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Entscheidung 1: Begründung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Entscheidung 2: Begründung</a:t>
            </a:r>
            <a:endParaRPr lang="en-US" sz="1600" dirty="0"/>
          </a:p>
        </p:txBody>
      </p:sp>
      <p:sp>
        <p:nvSpPr>
          <p:cNvPr id="14" name="Karte Alternativen"/>
          <p:cNvSpPr/>
          <p:nvPr/>
        </p:nvSpPr>
        <p:spPr>
          <a:xfrm>
            <a:off x="804672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5" name="Icon-Kreis FaExchangeAlt"/>
          <p:cNvSpPr/>
          <p:nvPr/>
        </p:nvSpPr>
        <p:spPr>
          <a:xfrm>
            <a:off x="832104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 FaExchangeAlt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262" y="1916582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Alternativen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Statt X hätten wir Y tun können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Erwartete Wirkung auf den Unternehmenswert</a:t>
            </a:r>
            <a:endParaRPr lang="en-US" sz="1600" dirty="0"/>
          </a:p>
        </p:txBody>
      </p:sp>
      <p:sp>
        <p:nvSpPr>
          <p:cNvPr id="19" name="Platzhalter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20" name="Text 14"/>
          <p:cNvSpPr txBox="1"/>
          <p:nvPr/>
        </p:nvSpPr>
        <p:spPr>
          <a:xfrm>
            <a:off x="868680" y="52578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Gesamtfazit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Würden wir als Gruppe insgesamt wieder so vorgehen? Ein Satz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Bezug zur Gründung: was im Spiel fehlte</a:t>
            </a:r>
            <a:endParaRPr lang="en-US" sz="3600" dirty="0"/>
          </a:p>
        </p:txBody>
      </p:sp>
      <p:sp>
        <p:nvSpPr>
          <p:cNvPr id="4" name="Karte Nicht im Spiel"/>
          <p:cNvSpPr/>
          <p:nvPr/>
        </p:nvSpPr>
        <p:spPr>
          <a:xfrm>
            <a:off x="64008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5" name="Icon-Kreis FaBan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 FaBan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622" y="1916582"/>
            <a:ext cx="281635" cy="28163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Nicht im Spiel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Mehrweg-Glas und Pfand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Social-Media-Marketing / Onlineshop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Nur eine Sorte, Tamarinde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Zielgruppe, Vertriebsweg</a:t>
            </a:r>
            <a:endParaRPr lang="en-US" sz="1600" dirty="0"/>
          </a:p>
        </p:txBody>
      </p:sp>
      <p:sp>
        <p:nvSpPr>
          <p:cNvPr id="9" name="Karte Mögliche Auswirkung"/>
          <p:cNvSpPr/>
          <p:nvPr/>
        </p:nvSpPr>
        <p:spPr>
          <a:xfrm>
            <a:off x="434340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Icon-Kreis FaChartLine"/>
          <p:cNvSpPr/>
          <p:nvPr/>
        </p:nvSpPr>
        <p:spPr>
          <a:xfrm>
            <a:off x="461772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FaChartLine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942" y="1916582"/>
            <a:ext cx="281635" cy="28163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4068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Mögliche Auswirkung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Wie hätte sich das auf Kosten, Absatz und Preis ausgewirkt?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(später mit euren Zahlen untermauern)</a:t>
            </a:r>
            <a:endParaRPr lang="en-US" sz="1600" dirty="0"/>
          </a:p>
        </p:txBody>
      </p:sp>
      <p:sp>
        <p:nvSpPr>
          <p:cNvPr id="14" name="Karte Idee zur Spielerweiterung"/>
          <p:cNvSpPr/>
          <p:nvPr/>
        </p:nvSpPr>
        <p:spPr>
          <a:xfrm>
            <a:off x="804672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5" name="Icon-Kreis FaLightbulb"/>
          <p:cNvSpPr/>
          <p:nvPr/>
        </p:nvSpPr>
        <p:spPr>
          <a:xfrm>
            <a:off x="8321040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con FaLightbulb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262" y="1916582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Idee zur Spielerweiterung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Konkreter, einfacher Vorschlag, z. B. eine zusätzliche Entscheidung pro Runde (Marketingbudget), ohne das Rechnen aufzublähen</a:t>
            </a:r>
            <a:endParaRPr lang="en-US" sz="1600" dirty="0"/>
          </a:p>
        </p:txBody>
      </p:sp>
      <p:sp>
        <p:nvSpPr>
          <p:cNvPr id="19" name="Platzhalter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20" name="Text 14"/>
          <p:cNvSpPr txBox="1"/>
          <p:nvPr/>
        </p:nvSpPr>
        <p:spPr>
          <a:xfrm>
            <a:off x="868680" y="52578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Kernbotschaft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hätte die Gründungsidee im Spiel verändert? Ein Satz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ne"/>
          <p:cNvSpPr/>
          <p:nvPr/>
        </p:nvSpPr>
        <p:spPr>
          <a:xfrm>
            <a:off x="8686800" y="1737360"/>
            <a:ext cx="2743200" cy="2743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945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Wir freuen uns über eure Fragen.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Quellen: Planspiel Bertis Brause (Cornelsen), eigene Berechnungen aus Excel und Entscheidungsprotokoll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bharz">
  <a:themeElements>
    <a:clrScheme name="Elbharz">
      <a:dk1>
        <a:srgbClr val="1B2A2F"/>
      </a:dk1>
      <a:lt1>
        <a:srgbClr val="FFFFFF"/>
      </a:lt1>
      <a:dk2>
        <a:srgbClr val="0F5C6B"/>
      </a:dk2>
      <a:lt2>
        <a:srgbClr val="F3F1EA"/>
      </a:lt2>
      <a:accent1>
        <a:srgbClr val="0F5C6B"/>
      </a:accent1>
      <a:accent2>
        <a:srgbClr val="D9822B"/>
      </a:accent2>
      <a:accent3>
        <a:srgbClr val="8DB33A"/>
      </a:accent3>
      <a:accent4>
        <a:srgbClr val="5F8F99"/>
      </a:accent4>
      <a:accent5>
        <a:srgbClr val="B8B8B0"/>
      </a:accent5>
      <a:accent6>
        <a:srgbClr val="7A4B1E"/>
      </a:accent6>
      <a:hlink>
        <a:srgbClr val="0F5C6B"/>
      </a:hlink>
      <a:folHlink>
        <a:srgbClr val="5F8F99"/>
      </a:folHlink>
    </a:clrScheme>
    <a:fontScheme name="Elbharz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Elbharz Getränke GbR – Endpräsentation Planspiel Bertis Brause</dc:title>
  <dc:subject>PptxGenJS Presentation</dc:subject>
  <dc:creator>PptxGenJS</dc:creator>
  <cp:lastModifiedBy>PptxGenJS</cp:lastModifiedBy>
  <cp:revision>1</cp:revision>
  <dcterms:created xsi:type="dcterms:W3CDTF">2026-10-13T10:14:19Z</dcterms:created>
  <dcterms:modified xsi:type="dcterms:W3CDTF">2026-10-13T10:14:19Z</dcterms:modified>
</cp:coreProperties>
</file>